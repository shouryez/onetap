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7140F"/>
                </a:solidFill>
                <a:latin typeface="Calibri"/>
              </a:defRPr>
            </a:pPr>
            <a:r>
              <a:rPr sz="1000" b="0" i="0" u="none" strike="noStrike">
                <a:solidFill>
                  <a:srgbClr val="17140F"/>
                </a:solidFill>
                <a:latin typeface="Calibri"/>
              </a:rPr>
              <a:t>Exact catalog entry recovered (24 ground-truth actions)</a:t>
            </a:r>
          </a:p>
        </c:rich>
      </c:tx>
      <c:layout/>
      <c:overlay val="0"/>
    </c:title>
    <c:autoTitleDeleted val="0"/>
    <c:plotArea>
      <c:layout/>
      <c:barChart>
        <c:barDir val="bar"/>
        <c:grouping val="clustered"/>
        <c:varyColors val="0"/>
        <c:ser>
          <c:idx val="0"/>
          <c:order val="0"/>
          <c:tx>
            <c:strRef>
              <c:f>Sheet1!$B$1</c:f>
              <c:strCache>
                <c:ptCount val="1"/>
                <c:pt idx="0">
                  <c:v>Accuracy@1</c:v>
                </c:pt>
              </c:strCache>
            </c:strRef>
          </c:tx>
          <c:spPr>
            <a:solidFill>
              <a:srgbClr val="FF5A1F"/>
            </a:solidFill>
            <a:effectLst/>
          </c:spPr>
          <c:invertIfNegative val="0"/>
          <c:dLbls>
            <c:numFmt formatCode="0.0&quot;%&quot;" sourceLinked="0"/>
            <c:txPr>
              <a:bodyPr/>
              <a:lstStyle/>
              <a:p>
                <a:pPr>
                  <a:defRPr b="0" i="0" strike="noStrike" sz="900" u="none">
                    <a:solidFill>
                      <a:srgbClr val="17140F"/>
                    </a:solidFill>
                    <a:latin typeface="Arial"/>
                  </a:defRPr>
                </a:pPr>
              </a:p>
            </c:txPr>
            <c:showLegendKey val="0"/>
            <c:showVal val="1"/>
            <c:showCatName val="0"/>
            <c:showSerName val="0"/>
            <c:showPercent val="0"/>
            <c:showBubbleSize val="0"/>
            <c:showLeaderLines val="0"/>
          </c:dLbls>
          <c:dPt>
            <c:idx val="0"/>
            <c:invertIfNegative val="0"/>
            <c:bubble3D val="0"/>
            <c:spPr>
              <a:solidFill>
                <a:srgbClr val="FF5A1F"/>
              </a:solidFill>
              <a:effectLst/>
            </c:spPr>
          </c:dPt>
          <c:dPt>
            <c:idx val="1"/>
            <c:invertIfNegative val="0"/>
            <c:bubble3D val="0"/>
            <c:spPr>
              <a:solidFill>
                <a:srgbClr val="8A8375"/>
              </a:solidFill>
              <a:effectLst/>
            </c:spPr>
          </c:dPt>
          <c:dPt>
            <c:idx val="2"/>
            <c:invertIfNegative val="0"/>
            <c:bubble3D val="0"/>
            <c:spPr>
              <a:solidFill>
                <a:srgbClr val="8A8375"/>
              </a:solidFill>
              <a:effectLst/>
            </c:spPr>
          </c:dPt>
          <c:dPt>
            <c:idx val="3"/>
            <c:invertIfNegative val="0"/>
            <c:bubble3D val="0"/>
            <c:spPr>
              <a:solidFill>
                <a:srgbClr val="C9C1B2"/>
              </a:solidFill>
              <a:effectLst/>
            </c:spPr>
          </c:dPt>
          <c:cat>
            <c:multiLvlStrRef>
              <c:f>Sheet1!$A$2:$A$5</c:f>
              <c:multiLvlStrCache>
                <c:ptCount val="4"/>
                <c:lvl>
                  <c:pt idx="0">
                    <c:v>OneTap (ours)</c:v>
                  </c:pt>
                  <c:pt idx="1">
                    <c:v>Hybrid only</c:v>
                  </c:pt>
                  <c:pt idx="2">
                    <c:v>Rules only</c:v>
                  </c:pt>
                  <c:pt idx="3">
                    <c:v>Full catalog in LLM</c:v>
                  </c:pt>
                </c:lvl>
              </c:multiLvlStrCache>
            </c:multiLvlStrRef>
          </c:cat>
          <c:val>
            <c:numRef>
              <c:f>Sheet1!$B$2:$B$5</c:f>
              <c:numCache>
                <c:formatCode>General</c:formatCode>
                <c:ptCount val="4"/>
                <c:pt idx="0">
                  <c:v>95.8</c:v>
                </c:pt>
                <c:pt idx="1">
                  <c:v>91.7</c:v>
                </c:pt>
                <c:pt idx="2">
                  <c:v>91.7</c:v>
                </c:pt>
                <c:pt idx="3">
                  <c:v>62.5</c:v>
                </c:pt>
              </c:numCache>
            </c:numRef>
          </c:val>
        </c:ser>
        <c:dLbls>
          <c:numFmt formatCode="0.0&quot;%&quot;" sourceLinked="0"/>
          <c:txPr>
            <a:bodyPr/>
            <a:lstStyle/>
            <a:p>
              <a:pPr>
                <a:defRPr b="0" i="0" strike="noStrike" sz="900" u="none">
                  <a:solidFill>
                    <a:srgbClr val="17140F"/>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00" b="0" i="0" u="none" strike="noStrike">
                <a:solidFill>
                  <a:srgbClr val="4A453C"/>
                </a:solidFill>
                <a:latin typeface="Arial"/>
              </a:defRPr>
            </a:pPr>
            <a:endParaRPr lang="en-US"/>
          </a:p>
        </c:txPr>
        <c:crossAx val="2094734552"/>
        <c:crosses val="autoZero"/>
        <c:auto val="1"/>
        <c:lblAlgn val="ctr"/>
        <c:noMultiLvlLbl val="1"/>
      </c:catAx>
      <c:valAx>
        <c:axId val="2094734552"/>
        <c:scaling>
          <c:orientation val="minMax"/>
          <c:max val="112"/>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00" b="0" i="0" u="none" strike="noStrike">
                <a:solidFill>
                  <a:srgbClr val="17140F"/>
                </a:solidFill>
                <a:latin typeface="Calibri"/>
              </a:defRPr>
            </a:pPr>
            <a:r>
              <a:rPr sz="1000" b="0" i="0" u="none" strike="noStrike">
                <a:solidFill>
                  <a:srgbClr val="17140F"/>
                </a:solidFill>
                <a:latin typeface="Calibri"/>
              </a:rPr>
              <a:t>Cache threshold sweep τ (guard on), %</a:t>
            </a:r>
          </a:p>
        </c:rich>
      </c:tx>
      <c:layout/>
      <c:overlay val="0"/>
    </c:title>
    <c:autoTitleDeleted val="0"/>
    <c:plotArea>
      <c:layout/>
      <c:lineChart>
        <c:varyColors val="0"/>
        <c:ser>
          <c:idx val="0"/>
          <c:order val="0"/>
          <c:tx>
            <c:strRef>
              <c:f>Sheet1!$B$1</c:f>
              <c:strCache>
                <c:ptCount val="1"/>
                <c:pt idx="0">
                  <c:v>Hit rate on unseen rewordings</c:v>
                </c:pt>
              </c:strCache>
            </c:strRef>
          </c:tx>
          <c:spPr>
            <a:solidFill>
              <a:srgbClr val="1D7A52"/>
            </a:solidFill>
            <a:ln w="25400" cap="flat">
              <a:solidFill>
                <a:srgbClr val="1D7A5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1D7A52"/>
              </a:solidFill>
              <a:ln w="9525" cap="flat">
                <a:solidFill>
                  <a:srgbClr val="1D7A52"/>
                </a:solidFill>
                <a:prstDash val="solid"/>
                <a:round/>
              </a:ln>
              <a:effectLst/>
            </c:spPr>
          </c:marker>
          <c:cat>
            <c:multiLvlStrRef>
              <c:f>Sheet1!$A$2:$A$6</c:f>
              <c:multiLvlStrCache>
                <c:ptCount val="5"/>
                <c:lvl>
                  <c:pt idx="0">
                    <c:v>0.80</c:v>
                  </c:pt>
                  <c:pt idx="1">
                    <c:v>0.83</c:v>
                  </c:pt>
                  <c:pt idx="2">
                    <c:v>0.86</c:v>
                  </c:pt>
                  <c:pt idx="3">
                    <c:v>0.89</c:v>
                  </c:pt>
                  <c:pt idx="4">
                    <c:v>0.92</c:v>
                  </c:pt>
                </c:lvl>
              </c:multiLvlStrCache>
            </c:multiLvlStrRef>
          </c:cat>
          <c:val>
            <c:numRef>
              <c:f>Sheet1!$B$2:$B$6</c:f>
              <c:numCache>
                <c:formatCode>General</c:formatCode>
                <c:ptCount val="5"/>
                <c:pt idx="0">
                  <c:v>95.9</c:v>
                </c:pt>
                <c:pt idx="1">
                  <c:v>93.8</c:v>
                </c:pt>
                <c:pt idx="2">
                  <c:v>84.5</c:v>
                </c:pt>
                <c:pt idx="3">
                  <c:v>79.4</c:v>
                </c:pt>
                <c:pt idx="4">
                  <c:v>54.6</c:v>
                </c:pt>
              </c:numCache>
            </c:numRef>
          </c:val>
          <c:smooth val="0"/>
        </c:ser>
        <c:ser>
          <c:idx val="1"/>
          <c:order val="1"/>
          <c:tx>
            <c:strRef>
              <c:f>Sheet1!$C$1</c:f>
              <c:strCache>
                <c:ptCount val="1"/>
                <c:pt idx="0">
                  <c:v>False-hit rate on look-alikes</c:v>
                </c:pt>
              </c:strCache>
            </c:strRef>
          </c:tx>
          <c:spPr>
            <a:solidFill>
              <a:srgbClr val="FF5A1F"/>
            </a:solidFill>
            <a:ln w="25400" cap="flat">
              <a:solidFill>
                <a:srgbClr val="FF5A1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FF5A1F"/>
              </a:solidFill>
              <a:ln w="9525" cap="flat">
                <a:solidFill>
                  <a:srgbClr val="FF5A1F"/>
                </a:solidFill>
                <a:prstDash val="solid"/>
                <a:round/>
              </a:ln>
              <a:effectLst/>
            </c:spPr>
          </c:marker>
          <c:cat>
            <c:multiLvlStrRef>
              <c:f>Sheet1!$A$2:$A$6</c:f>
              <c:multiLvlStrCache>
                <c:ptCount val="5"/>
                <c:lvl>
                  <c:pt idx="0">
                    <c:v>0.80</c:v>
                  </c:pt>
                  <c:pt idx="1">
                    <c:v>0.83</c:v>
                  </c:pt>
                  <c:pt idx="2">
                    <c:v>0.86</c:v>
                  </c:pt>
                  <c:pt idx="3">
                    <c:v>0.89</c:v>
                  </c:pt>
                  <c:pt idx="4">
                    <c:v>0.92</c:v>
                  </c:pt>
                </c:lvl>
              </c:multiLvlStrCache>
            </c:multiLvlStrRef>
          </c:cat>
          <c:val>
            <c:numRef>
              <c:f>Sheet1!$C$2:$C$6</c:f>
              <c:numCache>
                <c:formatCode>General</c:formatCode>
                <c:ptCount val="5"/>
                <c:pt idx="0">
                  <c:v>32</c:v>
                </c:pt>
                <c:pt idx="1">
                  <c:v>24</c:v>
                </c:pt>
                <c:pt idx="2">
                  <c:v>12</c:v>
                </c:pt>
                <c:pt idx="3">
                  <c:v>4</c:v>
                </c:pt>
                <c:pt idx="4">
                  <c:v>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A453C"/>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6350" cap="flat">
              <a:solidFill>
                <a:srgbClr val="E6E0D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4A453C"/>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we're Team Aloo Paratha from MSRIT. Our Theme 02 project is OneTap. You describe a phone problem in your own words and get back a verified, ordered troubleshooting plan, where each Settings step is a one-tap deeplink. Known problems come back from a guarded semantic cache in about 10 milliseconds. New problems go through a grounded AI pipeline in about 3 seconds, for less than a tenth of a 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an agent reads a vague complaint, finds a knowledge-base article, rewrites the steps and dictates Settings paths. That takes about 15 minutes per scenario, across millions of calls. Four things make it hard: vague language, several problems in one message, fixes buried deep in Settings, and reference articles that sometimes don't even match the fault. We treated it as a compiler problem: complaint plus article in, validated deeplinked JSON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product is one REST call. In goes the customer's words, plus the SIIS article if there is one. Out comes the exact JSON contract from the problem statement: goal, title, ordered actions, steps and deeplinks, with latency, cache-hit and cost metadata. Four promises hold for every response, shown along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paths. The hot path normalises the text, embeds it on the CPU, compares it with every stored rewording, and passes the match through our Symptom-Signature Guard. That's about 10 ms with no AI call. On a miss, the cold path runs enrichment and extraction in parallel, then grounding, categorisation, deeplink resolution, and repair plus a schema gate. Only two stages call a language model; everything else is deterministic code. The result is written back, so the next similar complaint is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Embeddings think 'Wi-Fi keeps turning ON' and 'turning OFF' are 96% the same, but they need opposite fixes. So on top of cosine similarity we compare a small symptom signature: on/off polarity, the symptom set, the trigger context, and whether the plan came from the same article. On 97 unseen rewordings written by a different model, we hit 82.5%. On adversarial look-alikes, the guard cuts wrong answers from 44% to 10% at the same threshold, and the lookup itself takes 8.8 ms at P95.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we stop hallucinated steps. The article is split into numbered sentences, and the model must return, for every step, the sentence number it came from. Code then checks that the step's key words really appear there, otherwise the step is dropped. We also remove invented UI elements and outcome sentences, respect conditional instructions, and return an honest no_match when the article doesn't cover the complaint. Complaints with several problems get one goal per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Deeplinks can never be hallucinated in OneTap, because the model never writes one. First we try an exact match on the deepest screen named in the steps. Otherwise hybrid retrieval finds candidates, a depth-aware reranker prefers the leaf screen and the right on/off direction, and a small model picks a catalog ID or NONE. Code copies the URI and its validation link verbatim. On 24 ground-truth actions we recover the exact entry 95.8% of the time, with zero on/off mistakes. Putting the whole catalog in the prompt gets only 62.5%, at 43 times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warns that prompt-only constraints are unreliable, so every rule is enforced in code. The goal is built from a template, titles and descriptions are word-counted and repaired, URLs are scrubbed from every field, links must exist in the catalog, and the provided schema.py is a hard gate. Ordering is fixed: auto Settings actions first, manual checks next, critical actions like restart or reset always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innovations, each aimed at a pitfall the problem statement lists. The guard fixes semantic false hits. Evidence-anchored extraction fixes hallucinated steps. Exact-leaf plus closed-set choice fixes parent-menu matching and fabricated links. The catalog fallback answers complaints no article covers without inventing anything. The feedback loop makes the cache self-healing. And a hedged LLM layer keeps the service up when a provider is rate-limited.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Against the automated gates in the problem statement we are at 100% everywhere: schema-valid output, rule compliance, zero URL leaks, every deeplink exists in the catalog, every auto action carries a deeplink, and every response has 8 to 10 query variations. This is audited by a script on every build, not checked by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Speed: an exact repeat takes 1.1 ms, an unseen rewording 10.4 ms at P95, both far inside the 300 ms budget. A brand-new complaint takes 3.2 seconds at P95 against an 8-second budget. Cost is about eight hundredths of a cent per new complaint and zero on a hit. Accuracy was judged by a model from a different family than ours: 2.25 out of 3 for steps, and 1.43 out of 2 for deeplink relevance.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asks for an ablation, and we measured each design choice. For deeplinks, putting the full catalog in the prompt is the worst option: 62.5% accuracy at the highest cost. Our combination is the most accurate and never picks the wrong on/off twin. For the cache we swept the threshold: lower thresholds hit more but serve more wrong answers. We picked 0.87, and the guard is what keeps false hits at 10% instead of 44%.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UI is built to explain the backend. The strip at the top lights up the path each request took. Ten scenario cards each show one capability. On the right, a narration panel explains in plain English what happened. Here the guard rejected a 0.88-similar cached answer because the context was different.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real users, a plan is only useful if it gets them to 'fixed'. Guided mode walks through one action at a time. The one-tap button opens the Settings screen, and the validation deeplink confirms the toggle changed. Users can speak the complaint, paste any help article, and give thumbs up or down, which feeds the self-healing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deliberately light. FastAPI with a Pydantic gate, CPU-only ONNX embeddings, a NumPy BM25, and fast open models on Groq, with each stage on its own model. Any OpenAI-compatible provider works via two .env lines. The frontend is a single HTML file with no framework.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to 10 thousand plus scenarios is mostly offline work. Compile every article in batch, cache stage outputs separately, and keep a reverse index from each deeplink to the plans that use it, so a One UI update only recompiles affected plans. At a million complaints a day, with our measured hit rate, the AI bill is roughly 200 dollars a day, against 250 thousand agent-hours of manual triage.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upfront about the limits. Some provided articles don't match their complaints. Our look-alike test set was generated by an LLM, so the false-hit number is conservative. Signatures are lexicon-based. Cold latency depends on the provider tier. The catalog fallback is advisory, which is why it's opt-in and capped. Each limitation already has a concrete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100% contract compliance, around 10 ms for known problems, 3 seconds for new ones, 95.8% exact deeplinks, and a guard that cuts wrong cache answers from 44 to 10 percent. The code, metrics and demo video are linked in the submission. Thank you, and we're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image" Target="../media/image-13-2.jp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slideLayout" Target="../slideLayouts/slideLayout1.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140F"/>
        </a:solidFill>
      </p:bgPr>
    </p:bg>
    <p:spTree>
      <p:nvGrpSpPr>
        <p:cNvPr id="1" name=""/>
        <p:cNvGrpSpPr/>
        <p:nvPr/>
      </p:nvGrpSpPr>
      <p:grpSpPr>
        <a:xfrm>
          <a:off x="0" y="0"/>
          <a:ext cx="0" cy="0"/>
          <a:chOff x="0" y="0"/>
          <a:chExt cx="0" cy="0"/>
        </a:xfrm>
      </p:grpSpPr>
      <p:sp>
        <p:nvSpPr>
          <p:cNvPr id="2" name="Shape 0"/>
          <p:cNvSpPr/>
          <p:nvPr/>
        </p:nvSpPr>
        <p:spPr>
          <a:xfrm>
            <a:off x="457200" y="429768"/>
            <a:ext cx="91440" cy="91440"/>
          </a:xfrm>
          <a:prstGeom prst="ellipse">
            <a:avLst/>
          </a:prstGeom>
          <a:solidFill>
            <a:srgbClr val="FF5A1F"/>
          </a:solidFill>
          <a:ln/>
        </p:spPr>
      </p:sp>
      <p:sp>
        <p:nvSpPr>
          <p:cNvPr id="3" name="Text 1"/>
          <p:cNvSpPr txBox="1"/>
          <p:nvPr/>
        </p:nvSpPr>
        <p:spPr>
          <a:xfrm>
            <a:off x="640080" y="347472"/>
            <a:ext cx="5029200" cy="256032"/>
          </a:xfrm>
          <a:prstGeom prst="rect">
            <a:avLst/>
          </a:prstGeom>
          <a:noFill/>
          <a:ln/>
        </p:spPr>
        <p:txBody>
          <a:bodyPr wrap="square" lIns="0" tIns="0" rIns="0" bIns="0" rtlCol="0" anchor="t"/>
          <a:lstStyle/>
          <a:p>
            <a:pPr indent="0" marL="0">
              <a:buNone/>
            </a:pPr>
            <a:r>
              <a:rPr lang="en-US" sz="900" spc="200" kern="0" dirty="0">
                <a:solidFill>
                  <a:srgbClr val="A8A091"/>
                </a:solidFill>
                <a:latin typeface="Courier New" pitchFamily="34" charset="0"/>
                <a:ea typeface="Courier New" pitchFamily="34" charset="-122"/>
                <a:cs typeface="Courier New" pitchFamily="34" charset="-120"/>
              </a:rPr>
              <a:t>PRISM GENAI HACKATHON 2026  ·  THEME 02</a:t>
            </a:r>
            <a:endParaRPr lang="en-US" sz="900" dirty="0"/>
          </a:p>
        </p:txBody>
      </p:sp>
      <p:sp>
        <p:nvSpPr>
          <p:cNvPr id="4" name="Text 2"/>
          <p:cNvSpPr txBox="1"/>
          <p:nvPr/>
        </p:nvSpPr>
        <p:spPr>
          <a:xfrm>
            <a:off x="457200" y="960120"/>
            <a:ext cx="4937760" cy="1051560"/>
          </a:xfrm>
          <a:prstGeom prst="rect">
            <a:avLst/>
          </a:prstGeom>
          <a:noFill/>
          <a:ln/>
        </p:spPr>
        <p:txBody>
          <a:bodyPr wrap="square" lIns="0" tIns="0" rIns="0" bIns="0" rtlCol="0" anchor="b"/>
          <a:lstStyle/>
          <a:p>
            <a:pPr indent="0" marL="0">
              <a:buNone/>
            </a:pPr>
            <a:r>
              <a:rPr lang="en-US" sz="6600" b="1" dirty="0">
                <a:solidFill>
                  <a:srgbClr val="F4F1EA"/>
                </a:solidFill>
                <a:latin typeface="Cambria" pitchFamily="34" charset="0"/>
                <a:ea typeface="Cambria" pitchFamily="34" charset="-122"/>
                <a:cs typeface="Cambria" pitchFamily="34" charset="-120"/>
              </a:rPr>
              <a:t>One</a:t>
            </a:r>
            <a:pPr indent="0" marL="0">
              <a:buNone/>
            </a:pPr>
            <a:r>
              <a:rPr lang="en-US" sz="6600" i="1" dirty="0">
                <a:solidFill>
                  <a:srgbClr val="F4F1EA"/>
                </a:solidFill>
                <a:latin typeface="Cambria" pitchFamily="34" charset="0"/>
                <a:ea typeface="Cambria" pitchFamily="34" charset="-122"/>
                <a:cs typeface="Cambria" pitchFamily="34" charset="-120"/>
              </a:rPr>
              <a:t>Tap</a:t>
            </a:r>
            <a:endParaRPr lang="en-US" sz="6600" dirty="0"/>
          </a:p>
        </p:txBody>
      </p:sp>
      <p:sp>
        <p:nvSpPr>
          <p:cNvPr id="5" name="Text 3"/>
          <p:cNvSpPr txBox="1"/>
          <p:nvPr/>
        </p:nvSpPr>
        <p:spPr>
          <a:xfrm>
            <a:off x="457200" y="2057400"/>
            <a:ext cx="5120640" cy="411480"/>
          </a:xfrm>
          <a:prstGeom prst="rect">
            <a:avLst/>
          </a:prstGeom>
          <a:noFill/>
          <a:ln/>
        </p:spPr>
        <p:txBody>
          <a:bodyPr wrap="square" lIns="0" tIns="0" rIns="0" bIns="0" rtlCol="0" anchor="t"/>
          <a:lstStyle/>
          <a:p>
            <a:pPr indent="0" marL="0">
              <a:buNone/>
            </a:pPr>
            <a:r>
              <a:rPr lang="en-US" sz="2100" i="1" dirty="0">
                <a:solidFill>
                  <a:srgbClr val="F4F1EA"/>
                </a:solidFill>
                <a:latin typeface="Cambria" pitchFamily="34" charset="0"/>
                <a:ea typeface="Cambria" pitchFamily="34" charset="-122"/>
                <a:cs typeface="Cambria" pitchFamily="34" charset="-120"/>
              </a:rPr>
              <a:t>Smart Guided Troubleshooting Engine</a:t>
            </a:r>
            <a:endParaRPr lang="en-US" sz="2100" dirty="0"/>
          </a:p>
        </p:txBody>
      </p:sp>
      <p:sp>
        <p:nvSpPr>
          <p:cNvPr id="6" name="Text 4"/>
          <p:cNvSpPr txBox="1"/>
          <p:nvPr/>
        </p:nvSpPr>
        <p:spPr>
          <a:xfrm>
            <a:off x="457200" y="2542032"/>
            <a:ext cx="4754880" cy="548640"/>
          </a:xfrm>
          <a:prstGeom prst="rect">
            <a:avLst/>
          </a:prstGeom>
          <a:noFill/>
          <a:ln/>
        </p:spPr>
        <p:txBody>
          <a:bodyPr wrap="square" lIns="0" tIns="0" rIns="0" bIns="0" rtlCol="0" anchor="t"/>
          <a:lstStyle/>
          <a:p>
            <a:pPr indent="0" marL="0">
              <a:buNone/>
            </a:pPr>
            <a:r>
              <a:rPr lang="en-US" sz="1300" dirty="0">
                <a:solidFill>
                  <a:srgbClr val="C9C1B2"/>
                </a:solidFill>
                <a:latin typeface="Calibri" pitchFamily="34" charset="0"/>
                <a:ea typeface="Calibri" pitchFamily="34" charset="-122"/>
                <a:cs typeface="Calibri" pitchFamily="34" charset="-120"/>
              </a:rPr>
              <a:t>A vague complaint goes in; a verified, ordered fix plan comes out, and every Settings step is one tap away.</a:t>
            </a:r>
            <a:endParaRPr lang="en-US" sz="1300" dirty="0"/>
          </a:p>
        </p:txBody>
      </p:sp>
      <p:sp>
        <p:nvSpPr>
          <p:cNvPr id="7" name="Text 5"/>
          <p:cNvSpPr txBox="1"/>
          <p:nvPr/>
        </p:nvSpPr>
        <p:spPr>
          <a:xfrm>
            <a:off x="457200" y="3291840"/>
            <a:ext cx="1554480" cy="384048"/>
          </a:xfrm>
          <a:prstGeom prst="rect">
            <a:avLst/>
          </a:prstGeom>
          <a:noFill/>
          <a:ln/>
        </p:spPr>
        <p:txBody>
          <a:bodyPr wrap="square" lIns="0" tIns="0" rIns="0" bIns="0" rtlCol="0" anchor="t"/>
          <a:lstStyle/>
          <a:p>
            <a:pPr indent="0" marL="0">
              <a:buNone/>
            </a:pPr>
            <a:r>
              <a:rPr lang="en-US" sz="2000" b="1" dirty="0">
                <a:solidFill>
                  <a:srgbClr val="FF5A1F"/>
                </a:solidFill>
                <a:latin typeface="Courier New" pitchFamily="34" charset="0"/>
                <a:ea typeface="Courier New" pitchFamily="34" charset="-122"/>
                <a:cs typeface="Courier New" pitchFamily="34" charset="-120"/>
              </a:rPr>
              <a:t>~10 ms</a:t>
            </a:r>
            <a:endParaRPr lang="en-US" sz="2000" dirty="0"/>
          </a:p>
        </p:txBody>
      </p:sp>
      <p:sp>
        <p:nvSpPr>
          <p:cNvPr id="8" name="Text 6"/>
          <p:cNvSpPr txBox="1"/>
          <p:nvPr/>
        </p:nvSpPr>
        <p:spPr>
          <a:xfrm>
            <a:off x="457200" y="3675888"/>
            <a:ext cx="1508760" cy="365760"/>
          </a:xfrm>
          <a:prstGeom prst="rect">
            <a:avLst/>
          </a:prstGeom>
          <a:noFill/>
          <a:ln/>
        </p:spPr>
        <p:txBody>
          <a:bodyPr wrap="square" lIns="0" tIns="0" rIns="0" bIns="0" rtlCol="0" anchor="t"/>
          <a:lstStyle/>
          <a:p>
            <a:pPr indent="0" marL="0">
              <a:buNone/>
            </a:pPr>
            <a:r>
              <a:rPr lang="en-US" sz="950" dirty="0">
                <a:solidFill>
                  <a:srgbClr val="A8A091"/>
                </a:solidFill>
                <a:latin typeface="Calibri" pitchFamily="34" charset="0"/>
                <a:ea typeface="Calibri" pitchFamily="34" charset="-122"/>
                <a:cs typeface="Calibri" pitchFamily="34" charset="-120"/>
              </a:rPr>
              <a:t>answer from the guarded cache</a:t>
            </a:r>
            <a:endParaRPr lang="en-US" sz="950" dirty="0"/>
          </a:p>
        </p:txBody>
      </p:sp>
      <p:sp>
        <p:nvSpPr>
          <p:cNvPr id="9" name="Text 7"/>
          <p:cNvSpPr txBox="1"/>
          <p:nvPr/>
        </p:nvSpPr>
        <p:spPr>
          <a:xfrm>
            <a:off x="2103120" y="3291840"/>
            <a:ext cx="1554480" cy="384048"/>
          </a:xfrm>
          <a:prstGeom prst="rect">
            <a:avLst/>
          </a:prstGeom>
          <a:noFill/>
          <a:ln/>
        </p:spPr>
        <p:txBody>
          <a:bodyPr wrap="square" lIns="0" tIns="0" rIns="0" bIns="0" rtlCol="0" anchor="t"/>
          <a:lstStyle/>
          <a:p>
            <a:pPr indent="0" marL="0">
              <a:buNone/>
            </a:pPr>
            <a:r>
              <a:rPr lang="en-US" sz="2000" b="1" dirty="0">
                <a:solidFill>
                  <a:srgbClr val="FF5A1F"/>
                </a:solidFill>
                <a:latin typeface="Courier New" pitchFamily="34" charset="0"/>
                <a:ea typeface="Courier New" pitchFamily="34" charset="-122"/>
                <a:cs typeface="Courier New" pitchFamily="34" charset="-120"/>
              </a:rPr>
              <a:t>~3 s</a:t>
            </a:r>
            <a:endParaRPr lang="en-US" sz="2000" dirty="0"/>
          </a:p>
        </p:txBody>
      </p:sp>
      <p:sp>
        <p:nvSpPr>
          <p:cNvPr id="10" name="Text 8"/>
          <p:cNvSpPr txBox="1"/>
          <p:nvPr/>
        </p:nvSpPr>
        <p:spPr>
          <a:xfrm>
            <a:off x="2103120" y="3675888"/>
            <a:ext cx="1508760" cy="365760"/>
          </a:xfrm>
          <a:prstGeom prst="rect">
            <a:avLst/>
          </a:prstGeom>
          <a:noFill/>
          <a:ln/>
        </p:spPr>
        <p:txBody>
          <a:bodyPr wrap="square" lIns="0" tIns="0" rIns="0" bIns="0" rtlCol="0" anchor="t"/>
          <a:lstStyle/>
          <a:p>
            <a:pPr indent="0" marL="0">
              <a:buNone/>
            </a:pPr>
            <a:r>
              <a:rPr lang="en-US" sz="950" dirty="0">
                <a:solidFill>
                  <a:srgbClr val="A8A091"/>
                </a:solidFill>
                <a:latin typeface="Calibri" pitchFamily="34" charset="0"/>
                <a:ea typeface="Calibri" pitchFamily="34" charset="-122"/>
                <a:cs typeface="Calibri" pitchFamily="34" charset="-120"/>
              </a:rPr>
              <a:t>full grounded pipeline</a:t>
            </a:r>
            <a:endParaRPr lang="en-US" sz="950" dirty="0"/>
          </a:p>
        </p:txBody>
      </p:sp>
      <p:sp>
        <p:nvSpPr>
          <p:cNvPr id="11" name="Text 9"/>
          <p:cNvSpPr txBox="1"/>
          <p:nvPr/>
        </p:nvSpPr>
        <p:spPr>
          <a:xfrm>
            <a:off x="3749040" y="3291840"/>
            <a:ext cx="1554480" cy="384048"/>
          </a:xfrm>
          <a:prstGeom prst="rect">
            <a:avLst/>
          </a:prstGeom>
          <a:noFill/>
          <a:ln/>
        </p:spPr>
        <p:txBody>
          <a:bodyPr wrap="square" lIns="0" tIns="0" rIns="0" bIns="0" rtlCol="0" anchor="t"/>
          <a:lstStyle/>
          <a:p>
            <a:pPr indent="0" marL="0">
              <a:buNone/>
            </a:pPr>
            <a:r>
              <a:rPr lang="en-US" sz="2000" b="1" dirty="0">
                <a:solidFill>
                  <a:srgbClr val="FF5A1F"/>
                </a:solidFill>
                <a:latin typeface="Courier New" pitchFamily="34" charset="0"/>
                <a:ea typeface="Courier New" pitchFamily="34" charset="-122"/>
                <a:cs typeface="Courier New" pitchFamily="34" charset="-120"/>
              </a:rPr>
              <a:t>$0.0008</a:t>
            </a:r>
            <a:endParaRPr lang="en-US" sz="2000" dirty="0"/>
          </a:p>
        </p:txBody>
      </p:sp>
      <p:sp>
        <p:nvSpPr>
          <p:cNvPr id="12" name="Text 10"/>
          <p:cNvSpPr txBox="1"/>
          <p:nvPr/>
        </p:nvSpPr>
        <p:spPr>
          <a:xfrm>
            <a:off x="3749040" y="3675888"/>
            <a:ext cx="1508760" cy="365760"/>
          </a:xfrm>
          <a:prstGeom prst="rect">
            <a:avLst/>
          </a:prstGeom>
          <a:noFill/>
          <a:ln/>
        </p:spPr>
        <p:txBody>
          <a:bodyPr wrap="square" lIns="0" tIns="0" rIns="0" bIns="0" rtlCol="0" anchor="t"/>
          <a:lstStyle/>
          <a:p>
            <a:pPr indent="0" marL="0">
              <a:buNone/>
            </a:pPr>
            <a:r>
              <a:rPr lang="en-US" sz="950" dirty="0">
                <a:solidFill>
                  <a:srgbClr val="A8A091"/>
                </a:solidFill>
                <a:latin typeface="Calibri" pitchFamily="34" charset="0"/>
                <a:ea typeface="Calibri" pitchFamily="34" charset="-122"/>
                <a:cs typeface="Calibri" pitchFamily="34" charset="-120"/>
              </a:rPr>
              <a:t>per new complaint</a:t>
            </a:r>
            <a:endParaRPr lang="en-US" sz="950" dirty="0"/>
          </a:p>
        </p:txBody>
      </p:sp>
      <p:sp>
        <p:nvSpPr>
          <p:cNvPr id="13" name="Text 11"/>
          <p:cNvSpPr txBox="1"/>
          <p:nvPr/>
        </p:nvSpPr>
        <p:spPr>
          <a:xfrm>
            <a:off x="457200" y="4224528"/>
            <a:ext cx="5486400" cy="256032"/>
          </a:xfrm>
          <a:prstGeom prst="rect">
            <a:avLst/>
          </a:prstGeom>
          <a:noFill/>
          <a:ln/>
        </p:spPr>
        <p:txBody>
          <a:bodyPr wrap="square" lIns="0" tIns="0" rIns="0" bIns="0" rtlCol="0" anchor="t"/>
          <a:lstStyle/>
          <a:p>
            <a:pPr indent="0" marL="0">
              <a:buNone/>
            </a:pPr>
            <a:r>
              <a:rPr lang="en-US" sz="1150" b="1" dirty="0">
                <a:solidFill>
                  <a:srgbClr val="F4F1EA"/>
                </a:solidFill>
                <a:latin typeface="Calibri" pitchFamily="34" charset="0"/>
                <a:ea typeface="Calibri" pitchFamily="34" charset="-122"/>
                <a:cs typeface="Calibri" pitchFamily="34" charset="-120"/>
              </a:rPr>
              <a:t>Shourya Chouhan  ·  Shreya Singh Chouhan  ·  Yash Mittal  ·  Vrunda Hatwar</a:t>
            </a:r>
            <a:endParaRPr lang="en-US" sz="1150" dirty="0"/>
          </a:p>
        </p:txBody>
      </p:sp>
      <p:sp>
        <p:nvSpPr>
          <p:cNvPr id="14" name="Text 12"/>
          <p:cNvSpPr txBox="1"/>
          <p:nvPr/>
        </p:nvSpPr>
        <p:spPr>
          <a:xfrm>
            <a:off x="457200" y="4526280"/>
            <a:ext cx="5486400" cy="274320"/>
          </a:xfrm>
          <a:prstGeom prst="rect">
            <a:avLst/>
          </a:prstGeom>
          <a:noFill/>
          <a:ln/>
        </p:spPr>
        <p:txBody>
          <a:bodyPr wrap="square" lIns="0" tIns="0" rIns="0" bIns="0" rtlCol="0" anchor="t"/>
          <a:lstStyle/>
          <a:p>
            <a:pPr indent="0" marL="0">
              <a:buNone/>
            </a:pPr>
            <a:r>
              <a:rPr lang="en-US" sz="1000" dirty="0">
                <a:solidFill>
                  <a:srgbClr val="A8A091"/>
                </a:solidFill>
                <a:latin typeface="Calibri" pitchFamily="34" charset="0"/>
                <a:ea typeface="Calibri" pitchFamily="34" charset="-122"/>
                <a:cs typeface="Calibri" pitchFamily="34" charset="-120"/>
              </a:rPr>
              <a:t>Team Aloo Paratha  ·  M S Ramaiah Institute of Technology (MSRIT), Bengaluru  ·  Theme ID 02</a:t>
            </a:r>
            <a:endParaRPr lang="en-US" sz="1000" dirty="0"/>
          </a:p>
        </p:txBody>
      </p:sp>
      <p:sp>
        <p:nvSpPr>
          <p:cNvPr id="15" name="Shape 13"/>
          <p:cNvSpPr/>
          <p:nvPr/>
        </p:nvSpPr>
        <p:spPr>
          <a:xfrm>
            <a:off x="5989320" y="411480"/>
            <a:ext cx="2606040" cy="4343400"/>
          </a:xfrm>
          <a:prstGeom prst="roundRect">
            <a:avLst>
              <a:gd name="adj" fmla="val 12281"/>
            </a:avLst>
          </a:prstGeom>
          <a:solidFill>
            <a:srgbClr val="0B0A09"/>
          </a:solidFill>
          <a:ln w="12700">
            <a:solidFill>
              <a:srgbClr val="2A2622"/>
            </a:solidFill>
            <a:prstDash val="solid"/>
          </a:ln>
        </p:spPr>
      </p:sp>
      <p:sp>
        <p:nvSpPr>
          <p:cNvPr id="16" name="Shape 14"/>
          <p:cNvSpPr/>
          <p:nvPr/>
        </p:nvSpPr>
        <p:spPr>
          <a:xfrm>
            <a:off x="6099048" y="521208"/>
            <a:ext cx="2386584" cy="4123944"/>
          </a:xfrm>
          <a:prstGeom prst="roundRect">
            <a:avLst>
              <a:gd name="adj" fmla="val 10728"/>
            </a:avLst>
          </a:prstGeom>
          <a:solidFill>
            <a:srgbClr val="F7F5F0"/>
          </a:solidFill>
          <a:ln/>
        </p:spPr>
      </p:sp>
      <p:sp>
        <p:nvSpPr>
          <p:cNvPr id="17" name="Shape 15"/>
          <p:cNvSpPr/>
          <p:nvPr/>
        </p:nvSpPr>
        <p:spPr>
          <a:xfrm>
            <a:off x="6967728" y="603504"/>
            <a:ext cx="640080" cy="155448"/>
          </a:xfrm>
          <a:prstGeom prst="roundRect">
            <a:avLst>
              <a:gd name="adj" fmla="val 47059"/>
            </a:avLst>
          </a:prstGeom>
          <a:solidFill>
            <a:srgbClr val="000000"/>
          </a:solidFill>
          <a:ln/>
        </p:spPr>
      </p:sp>
      <p:sp>
        <p:nvSpPr>
          <p:cNvPr id="18" name="Text 16"/>
          <p:cNvSpPr txBox="1"/>
          <p:nvPr/>
        </p:nvSpPr>
        <p:spPr>
          <a:xfrm>
            <a:off x="6263640" y="868680"/>
            <a:ext cx="1280160" cy="274320"/>
          </a:xfrm>
          <a:prstGeom prst="rect">
            <a:avLst/>
          </a:prstGeom>
          <a:noFill/>
          <a:ln/>
        </p:spPr>
        <p:txBody>
          <a:bodyPr wrap="square" lIns="0" tIns="0" rIns="0" bIns="0" rtlCol="0" anchor="t"/>
          <a:lstStyle/>
          <a:p>
            <a:pPr indent="0" marL="0">
              <a:buNone/>
            </a:pPr>
            <a:r>
              <a:rPr lang="en-US" sz="1400" b="1" dirty="0">
                <a:solidFill>
                  <a:srgbClr val="17140F"/>
                </a:solidFill>
                <a:latin typeface="Cambria" pitchFamily="34" charset="0"/>
                <a:ea typeface="Cambria" pitchFamily="34" charset="-122"/>
                <a:cs typeface="Cambria" pitchFamily="34" charset="-120"/>
              </a:rPr>
              <a:t>One</a:t>
            </a:r>
            <a:pPr indent="0" marL="0">
              <a:buNone/>
            </a:pPr>
            <a:r>
              <a:rPr lang="en-US" sz="1400" i="1" dirty="0">
                <a:solidFill>
                  <a:srgbClr val="17140F"/>
                </a:solidFill>
                <a:latin typeface="Cambria" pitchFamily="34" charset="0"/>
                <a:ea typeface="Cambria" pitchFamily="34" charset="-122"/>
                <a:cs typeface="Cambria" pitchFamily="34" charset="-120"/>
              </a:rPr>
              <a:t>Tap</a:t>
            </a:r>
            <a:endParaRPr lang="en-US" sz="1400" dirty="0"/>
          </a:p>
        </p:txBody>
      </p:sp>
      <p:sp>
        <p:nvSpPr>
          <p:cNvPr id="19" name="Shape 17"/>
          <p:cNvSpPr/>
          <p:nvPr/>
        </p:nvSpPr>
        <p:spPr>
          <a:xfrm>
            <a:off x="6720840" y="1207008"/>
            <a:ext cx="1645920" cy="475488"/>
          </a:xfrm>
          <a:prstGeom prst="roundRect">
            <a:avLst>
              <a:gd name="adj" fmla="val 19231"/>
            </a:avLst>
          </a:prstGeom>
          <a:solidFill>
            <a:srgbClr val="17140F"/>
          </a:solidFill>
          <a:ln/>
        </p:spPr>
      </p:sp>
      <p:sp>
        <p:nvSpPr>
          <p:cNvPr id="20" name="Text 18"/>
          <p:cNvSpPr txBox="1"/>
          <p:nvPr/>
        </p:nvSpPr>
        <p:spPr>
          <a:xfrm>
            <a:off x="6793992" y="1234440"/>
            <a:ext cx="1517904" cy="420624"/>
          </a:xfrm>
          <a:prstGeom prst="rect">
            <a:avLst/>
          </a:prstGeom>
          <a:noFill/>
          <a:ln/>
        </p:spPr>
        <p:txBody>
          <a:bodyPr wrap="square" lIns="0" tIns="0" rIns="0" bIns="0" rtlCol="0" anchor="ctr"/>
          <a:lstStyle/>
          <a:p>
            <a:pPr indent="0" marL="0">
              <a:buNone/>
            </a:pPr>
            <a:r>
              <a:rPr lang="en-US" sz="750" dirty="0">
                <a:solidFill>
                  <a:srgbClr val="F4F1EA"/>
                </a:solidFill>
                <a:latin typeface="Calibri" pitchFamily="34" charset="0"/>
                <a:ea typeface="Calibri" pitchFamily="34" charset="-122"/>
                <a:cs typeface="Calibri" pitchFamily="34" charset="-120"/>
              </a:rPr>
              <a:t>screen keeps blinking then goes black when I unfold it</a:t>
            </a:r>
            <a:endParaRPr lang="en-US" sz="750" dirty="0"/>
          </a:p>
        </p:txBody>
      </p:sp>
      <p:sp>
        <p:nvSpPr>
          <p:cNvPr id="21" name="Text 19"/>
          <p:cNvSpPr txBox="1"/>
          <p:nvPr/>
        </p:nvSpPr>
        <p:spPr>
          <a:xfrm>
            <a:off x="6263640" y="1810512"/>
            <a:ext cx="2103120" cy="256032"/>
          </a:xfrm>
          <a:prstGeom prst="rect">
            <a:avLst/>
          </a:prstGeom>
          <a:noFill/>
          <a:ln/>
        </p:spPr>
        <p:txBody>
          <a:bodyPr wrap="square" lIns="0" tIns="0" rIns="0" bIns="0" rtlCol="0" anchor="t"/>
          <a:lstStyle/>
          <a:p>
            <a:pPr indent="0" marL="0">
              <a:buNone/>
            </a:pPr>
            <a:r>
              <a:rPr lang="en-US" sz="1300" b="1" dirty="0">
                <a:solidFill>
                  <a:srgbClr val="17140F"/>
                </a:solidFill>
                <a:latin typeface="Cambria" pitchFamily="34" charset="0"/>
                <a:ea typeface="Cambria" pitchFamily="34" charset="-122"/>
                <a:cs typeface="Cambria" pitchFamily="34" charset="-120"/>
              </a:rPr>
              <a:t>Screen flicker fix</a:t>
            </a:r>
            <a:endParaRPr lang="en-US" sz="1300" dirty="0"/>
          </a:p>
        </p:txBody>
      </p:sp>
      <p:sp>
        <p:nvSpPr>
          <p:cNvPr id="22" name="Shape 20"/>
          <p:cNvSpPr/>
          <p:nvPr/>
        </p:nvSpPr>
        <p:spPr>
          <a:xfrm>
            <a:off x="6236208" y="2103120"/>
            <a:ext cx="2112264" cy="960120"/>
          </a:xfrm>
          <a:prstGeom prst="roundRect">
            <a:avLst>
              <a:gd name="adj" fmla="val 7619"/>
            </a:avLst>
          </a:prstGeom>
          <a:solidFill>
            <a:srgbClr val="FFFFFF"/>
          </a:solidFill>
          <a:ln w="9525">
            <a:solidFill>
              <a:srgbClr val="D9D2C3"/>
            </a:solidFill>
            <a:prstDash val="solid"/>
          </a:ln>
        </p:spPr>
      </p:sp>
      <p:sp>
        <p:nvSpPr>
          <p:cNvPr id="23" name="Text 21"/>
          <p:cNvSpPr txBox="1"/>
          <p:nvPr/>
        </p:nvSpPr>
        <p:spPr>
          <a:xfrm>
            <a:off x="6355080" y="2157984"/>
            <a:ext cx="1463040" cy="201168"/>
          </a:xfrm>
          <a:prstGeom prst="rect">
            <a:avLst/>
          </a:prstGeom>
          <a:noFill/>
          <a:ln/>
        </p:spPr>
        <p:txBody>
          <a:bodyPr wrap="square" lIns="0" tIns="0" rIns="0" bIns="0" rtlCol="0" anchor="t"/>
          <a:lstStyle/>
          <a:p>
            <a:pPr indent="0" marL="0">
              <a:buNone/>
            </a:pPr>
            <a:r>
              <a:rPr lang="en-US" sz="850" b="1" dirty="0">
                <a:solidFill>
                  <a:srgbClr val="17140F"/>
                </a:solidFill>
                <a:latin typeface="Calibri" pitchFamily="34" charset="0"/>
                <a:ea typeface="Calibri" pitchFamily="34" charset="-122"/>
                <a:cs typeface="Calibri" pitchFamily="34" charset="-120"/>
              </a:rPr>
              <a:t>Adjust Navigation Bar</a:t>
            </a:r>
            <a:endParaRPr lang="en-US" sz="850" dirty="0"/>
          </a:p>
        </p:txBody>
      </p:sp>
      <p:sp>
        <p:nvSpPr>
          <p:cNvPr id="24" name="Shape 22"/>
          <p:cNvSpPr/>
          <p:nvPr/>
        </p:nvSpPr>
        <p:spPr>
          <a:xfrm>
            <a:off x="7790688" y="2167128"/>
            <a:ext cx="457200" cy="219456"/>
          </a:xfrm>
          <a:prstGeom prst="roundRect">
            <a:avLst>
              <a:gd name="adj" fmla="val 20833"/>
            </a:avLst>
          </a:prstGeom>
          <a:solidFill>
            <a:srgbClr val="DCEFE4"/>
          </a:solidFill>
          <a:ln/>
        </p:spPr>
      </p:sp>
      <p:sp>
        <p:nvSpPr>
          <p:cNvPr id="25" name="Text 23"/>
          <p:cNvSpPr txBox="1"/>
          <p:nvPr/>
        </p:nvSpPr>
        <p:spPr>
          <a:xfrm>
            <a:off x="7790688" y="2167128"/>
            <a:ext cx="457200" cy="219456"/>
          </a:xfrm>
          <a:prstGeom prst="rect">
            <a:avLst/>
          </a:prstGeom>
          <a:noFill/>
          <a:ln/>
        </p:spPr>
        <p:txBody>
          <a:bodyPr wrap="square" lIns="0" tIns="0" rIns="0" bIns="0" rtlCol="0" anchor="ctr"/>
          <a:lstStyle/>
          <a:p>
            <a:pPr algn="ctr" indent="0" marL="0">
              <a:buNone/>
            </a:pPr>
            <a:r>
              <a:rPr lang="en-US" sz="600" b="1" dirty="0">
                <a:solidFill>
                  <a:srgbClr val="1D7A52"/>
                </a:solidFill>
                <a:latin typeface="Courier New" pitchFamily="34" charset="0"/>
                <a:ea typeface="Courier New" pitchFamily="34" charset="-122"/>
                <a:cs typeface="Courier New" pitchFamily="34" charset="-120"/>
              </a:rPr>
              <a:t>AUTO</a:t>
            </a:r>
            <a:endParaRPr lang="en-US" sz="600" dirty="0"/>
          </a:p>
        </p:txBody>
      </p:sp>
      <p:sp>
        <p:nvSpPr>
          <p:cNvPr id="26" name="Text 24"/>
          <p:cNvSpPr txBox="1"/>
          <p:nvPr/>
        </p:nvSpPr>
        <p:spPr>
          <a:xfrm>
            <a:off x="6355080" y="2377440"/>
            <a:ext cx="1920240" cy="457200"/>
          </a:xfrm>
          <a:prstGeom prst="rect">
            <a:avLst/>
          </a:prstGeom>
          <a:noFill/>
          <a:ln/>
        </p:spPr>
        <p:txBody>
          <a:bodyPr wrap="square" lIns="0" tIns="0" rIns="0" bIns="0" rtlCol="0" anchor="t"/>
          <a:lstStyle/>
          <a:p>
            <a:pPr indent="0" marL="0">
              <a:buNone/>
            </a:pPr>
            <a:r>
              <a:rPr lang="en-US" sz="700" dirty="0">
                <a:solidFill>
                  <a:srgbClr val="4A453C"/>
                </a:solidFill>
                <a:latin typeface="Calibri" pitchFamily="34" charset="0"/>
                <a:ea typeface="Calibri" pitchFamily="34" charset="-122"/>
                <a:cs typeface="Calibri" pitchFamily="34" charset="-120"/>
              </a:rPr>
              <a:t>1  Navigate to and open Settings.</a:t>
            </a:r>
            <a:endParaRPr lang="en-US" sz="700" dirty="0"/>
          </a:p>
          <a:p>
            <a:pPr indent="0" marL="0">
              <a:buNone/>
            </a:pPr>
            <a:r>
              <a:rPr lang="en-US" sz="700" dirty="0">
                <a:solidFill>
                  <a:srgbClr val="4A453C"/>
                </a:solidFill>
                <a:latin typeface="Calibri" pitchFamily="34" charset="0"/>
                <a:ea typeface="Calibri" pitchFamily="34" charset="-122"/>
                <a:cs typeface="Calibri" pitchFamily="34" charset="-120"/>
              </a:rPr>
              <a:t>2  Tap Display.</a:t>
            </a:r>
            <a:endParaRPr lang="en-US" sz="700" dirty="0"/>
          </a:p>
          <a:p>
            <a:pPr indent="0" marL="0">
              <a:buNone/>
            </a:pPr>
            <a:r>
              <a:rPr lang="en-US" sz="700" dirty="0">
                <a:solidFill>
                  <a:srgbClr val="4A453C"/>
                </a:solidFill>
                <a:latin typeface="Calibri" pitchFamily="34" charset="0"/>
                <a:ea typeface="Calibri" pitchFamily="34" charset="-122"/>
                <a:cs typeface="Calibri" pitchFamily="34" charset="-120"/>
              </a:rPr>
              <a:t>3  Tap Navigation bar.</a:t>
            </a:r>
            <a:endParaRPr lang="en-US" sz="700" dirty="0"/>
          </a:p>
        </p:txBody>
      </p:sp>
      <p:sp>
        <p:nvSpPr>
          <p:cNvPr id="27" name="Shape 25"/>
          <p:cNvSpPr/>
          <p:nvPr/>
        </p:nvSpPr>
        <p:spPr>
          <a:xfrm>
            <a:off x="6327648" y="2816352"/>
            <a:ext cx="1920240" cy="201168"/>
          </a:xfrm>
          <a:prstGeom prst="roundRect">
            <a:avLst>
              <a:gd name="adj" fmla="val 22727"/>
            </a:avLst>
          </a:prstGeom>
          <a:solidFill>
            <a:srgbClr val="FF5A1F"/>
          </a:solidFill>
          <a:ln/>
        </p:spPr>
      </p:sp>
      <p:sp>
        <p:nvSpPr>
          <p:cNvPr id="28" name="Text 26"/>
          <p:cNvSpPr txBox="1"/>
          <p:nvPr/>
        </p:nvSpPr>
        <p:spPr>
          <a:xfrm>
            <a:off x="6382512" y="2816352"/>
            <a:ext cx="1828800" cy="201168"/>
          </a:xfrm>
          <a:prstGeom prst="rect">
            <a:avLst/>
          </a:prstGeom>
          <a:noFill/>
          <a:ln/>
        </p:spPr>
        <p:txBody>
          <a:bodyPr wrap="square" lIns="0" tIns="0" rIns="0" bIns="0" rtlCol="0" anchor="ctr"/>
          <a:lstStyle/>
          <a:p>
            <a:pPr indent="0" marL="0">
              <a:buNone/>
            </a:pPr>
            <a:r>
              <a:rPr lang="en-US" sz="700" b="1" dirty="0">
                <a:solidFill>
                  <a:srgbClr val="FFFFFF"/>
                </a:solidFill>
                <a:latin typeface="Calibri" pitchFamily="34" charset="0"/>
                <a:ea typeface="Calibri" pitchFamily="34" charset="-122"/>
                <a:cs typeface="Calibri" pitchFamily="34" charset="-120"/>
              </a:rPr>
              <a:t>⚡ View Navigation bar        one tap →</a:t>
            </a:r>
            <a:endParaRPr lang="en-US" sz="700" dirty="0"/>
          </a:p>
        </p:txBody>
      </p:sp>
      <p:sp>
        <p:nvSpPr>
          <p:cNvPr id="29" name="Shape 27"/>
          <p:cNvSpPr/>
          <p:nvPr/>
        </p:nvSpPr>
        <p:spPr>
          <a:xfrm>
            <a:off x="6236208" y="3154680"/>
            <a:ext cx="2112264" cy="566928"/>
          </a:xfrm>
          <a:prstGeom prst="roundRect">
            <a:avLst>
              <a:gd name="adj" fmla="val 12903"/>
            </a:avLst>
          </a:prstGeom>
          <a:solidFill>
            <a:srgbClr val="FFFFFF"/>
          </a:solidFill>
          <a:ln w="9525">
            <a:solidFill>
              <a:srgbClr val="D9D2C3"/>
            </a:solidFill>
            <a:prstDash val="solid"/>
          </a:ln>
        </p:spPr>
      </p:sp>
      <p:sp>
        <p:nvSpPr>
          <p:cNvPr id="30" name="Text 28"/>
          <p:cNvSpPr txBox="1"/>
          <p:nvPr/>
        </p:nvSpPr>
        <p:spPr>
          <a:xfrm>
            <a:off x="6355080" y="3200400"/>
            <a:ext cx="1371600" cy="201168"/>
          </a:xfrm>
          <a:prstGeom prst="rect">
            <a:avLst/>
          </a:prstGeom>
          <a:noFill/>
          <a:ln/>
        </p:spPr>
        <p:txBody>
          <a:bodyPr wrap="square" lIns="0" tIns="0" rIns="0" bIns="0" rtlCol="0" anchor="t"/>
          <a:lstStyle/>
          <a:p>
            <a:pPr indent="0" marL="0">
              <a:buNone/>
            </a:pPr>
            <a:r>
              <a:rPr lang="en-US" sz="850" b="1" dirty="0">
                <a:solidFill>
                  <a:srgbClr val="17140F"/>
                </a:solidFill>
                <a:latin typeface="Calibri" pitchFamily="34" charset="0"/>
                <a:ea typeface="Calibri" pitchFamily="34" charset="-122"/>
                <a:cs typeface="Calibri" pitchFamily="34" charset="-120"/>
              </a:rPr>
              <a:t>Force Restart</a:t>
            </a:r>
            <a:endParaRPr lang="en-US" sz="850" dirty="0"/>
          </a:p>
        </p:txBody>
      </p:sp>
      <p:sp>
        <p:nvSpPr>
          <p:cNvPr id="31" name="Shape 29"/>
          <p:cNvSpPr/>
          <p:nvPr/>
        </p:nvSpPr>
        <p:spPr>
          <a:xfrm>
            <a:off x="7653528" y="3209544"/>
            <a:ext cx="594360" cy="219456"/>
          </a:xfrm>
          <a:prstGeom prst="roundRect">
            <a:avLst>
              <a:gd name="adj" fmla="val 20833"/>
            </a:avLst>
          </a:prstGeom>
          <a:solidFill>
            <a:srgbClr val="F7E0DA"/>
          </a:solidFill>
          <a:ln/>
        </p:spPr>
      </p:sp>
      <p:sp>
        <p:nvSpPr>
          <p:cNvPr id="32" name="Text 30"/>
          <p:cNvSpPr txBox="1"/>
          <p:nvPr/>
        </p:nvSpPr>
        <p:spPr>
          <a:xfrm>
            <a:off x="7653528" y="3209544"/>
            <a:ext cx="594360" cy="219456"/>
          </a:xfrm>
          <a:prstGeom prst="rect">
            <a:avLst/>
          </a:prstGeom>
          <a:noFill/>
          <a:ln/>
        </p:spPr>
        <p:txBody>
          <a:bodyPr wrap="square" lIns="0" tIns="0" rIns="0" bIns="0" rtlCol="0" anchor="ctr"/>
          <a:lstStyle/>
          <a:p>
            <a:pPr algn="ctr" indent="0" marL="0">
              <a:buNone/>
            </a:pPr>
            <a:r>
              <a:rPr lang="en-US" sz="600" b="1" dirty="0">
                <a:solidFill>
                  <a:srgbClr val="B8321A"/>
                </a:solidFill>
                <a:latin typeface="Courier New" pitchFamily="34" charset="0"/>
                <a:ea typeface="Courier New" pitchFamily="34" charset="-122"/>
                <a:cs typeface="Courier New" pitchFamily="34" charset="-120"/>
              </a:rPr>
              <a:t>CRITICAL</a:t>
            </a:r>
            <a:endParaRPr lang="en-US" sz="600" dirty="0"/>
          </a:p>
        </p:txBody>
      </p:sp>
      <p:sp>
        <p:nvSpPr>
          <p:cNvPr id="33" name="Text 31"/>
          <p:cNvSpPr txBox="1"/>
          <p:nvPr/>
        </p:nvSpPr>
        <p:spPr>
          <a:xfrm>
            <a:off x="6355080" y="3429000"/>
            <a:ext cx="1645920" cy="182880"/>
          </a:xfrm>
          <a:prstGeom prst="rect">
            <a:avLst/>
          </a:prstGeom>
          <a:noFill/>
          <a:ln/>
        </p:spPr>
        <p:txBody>
          <a:bodyPr wrap="square" lIns="0" tIns="0" rIns="0" bIns="0" rtlCol="0" anchor="t"/>
          <a:lstStyle/>
          <a:p>
            <a:pPr indent="0" marL="0">
              <a:buNone/>
            </a:pPr>
            <a:r>
              <a:rPr lang="en-US" sz="700" i="1" dirty="0">
                <a:solidFill>
                  <a:srgbClr val="8A8375"/>
                </a:solidFill>
                <a:latin typeface="Calibri" pitchFamily="34" charset="0"/>
                <a:ea typeface="Calibri" pitchFamily="34" charset="-122"/>
                <a:cs typeface="Calibri" pitchFamily="34" charset="-120"/>
              </a:rPr>
              <a:t>always ordered last</a:t>
            </a:r>
            <a:endParaRPr lang="en-US" sz="700" dirty="0"/>
          </a:p>
        </p:txBody>
      </p:sp>
      <p:sp>
        <p:nvSpPr>
          <p:cNvPr id="34" name="Text 32"/>
          <p:cNvSpPr txBox="1"/>
          <p:nvPr/>
        </p:nvSpPr>
        <p:spPr>
          <a:xfrm>
            <a:off x="6309360" y="3886200"/>
            <a:ext cx="2011680" cy="228600"/>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Did this fix it?   👍   👎</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01 · THE PROBLEM IN OUR OWN WORDS</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Customers describe symptoms, not fixes</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02 / 18</a:t>
            </a:r>
            <a:endParaRPr lang="en-US" sz="750" dirty="0"/>
          </a:p>
        </p:txBody>
      </p:sp>
      <p:sp>
        <p:nvSpPr>
          <p:cNvPr id="6" name="Text 4"/>
          <p:cNvSpPr txBox="1"/>
          <p:nvPr/>
        </p:nvSpPr>
        <p:spPr>
          <a:xfrm>
            <a:off x="457200" y="1234440"/>
            <a:ext cx="3291840" cy="731520"/>
          </a:xfrm>
          <a:prstGeom prst="rect">
            <a:avLst/>
          </a:prstGeom>
          <a:noFill/>
          <a:ln/>
        </p:spPr>
        <p:txBody>
          <a:bodyPr wrap="square" lIns="0" tIns="0" rIns="0" bIns="0" rtlCol="0" anchor="t"/>
          <a:lstStyle/>
          <a:p>
            <a:pPr indent="0" marL="0">
              <a:buNone/>
            </a:pPr>
            <a:r>
              <a:rPr lang="en-US" sz="5000" b="1" dirty="0">
                <a:solidFill>
                  <a:srgbClr val="FF5A1F"/>
                </a:solidFill>
                <a:latin typeface="Courier New" pitchFamily="34" charset="0"/>
                <a:ea typeface="Courier New" pitchFamily="34" charset="-122"/>
                <a:cs typeface="Courier New" pitchFamily="34" charset="-120"/>
              </a:rPr>
              <a:t>15 min</a:t>
            </a:r>
            <a:endParaRPr lang="en-US" sz="5000" dirty="0"/>
          </a:p>
        </p:txBody>
      </p:sp>
      <p:sp>
        <p:nvSpPr>
          <p:cNvPr id="7" name="Text 5"/>
          <p:cNvSpPr txBox="1"/>
          <p:nvPr/>
        </p:nvSpPr>
        <p:spPr>
          <a:xfrm>
            <a:off x="457200" y="2011680"/>
            <a:ext cx="3291840" cy="685800"/>
          </a:xfrm>
          <a:prstGeom prst="rect">
            <a:avLst/>
          </a:prstGeom>
          <a:noFill/>
          <a:ln/>
        </p:spPr>
        <p:txBody>
          <a:bodyPr wrap="square" lIns="0" tIns="0" rIns="0" bIns="0" rtlCol="0" anchor="t"/>
          <a:lstStyle/>
          <a:p>
            <a:pPr indent="0" marL="0">
              <a:buNone/>
            </a:pPr>
            <a:r>
              <a:rPr lang="en-US" sz="1150" dirty="0">
                <a:solidFill>
                  <a:srgbClr val="4A453C"/>
                </a:solidFill>
                <a:latin typeface="Calibri" pitchFamily="34" charset="0"/>
                <a:ea typeface="Calibri" pitchFamily="34" charset="-122"/>
                <a:cs typeface="Calibri" pitchFamily="34" charset="-120"/>
              </a:rPr>
              <a:t>of manual agent work per complaint scenario, repeated across millions of support calls. Then the user still hunts through Settings.</a:t>
            </a:r>
            <a:endParaRPr lang="en-US" sz="1150" dirty="0"/>
          </a:p>
        </p:txBody>
      </p:sp>
      <p:sp>
        <p:nvSpPr>
          <p:cNvPr id="8" name="Shape 6"/>
          <p:cNvSpPr/>
          <p:nvPr/>
        </p:nvSpPr>
        <p:spPr>
          <a:xfrm>
            <a:off x="457200" y="2834640"/>
            <a:ext cx="3291840" cy="457200"/>
          </a:xfrm>
          <a:prstGeom prst="roundRect">
            <a:avLst>
              <a:gd name="adj" fmla="val 16000"/>
            </a:avLst>
          </a:prstGeom>
          <a:solidFill>
            <a:srgbClr val="FFFFFF"/>
          </a:solidFill>
          <a:ln w="9525">
            <a:solidFill>
              <a:srgbClr val="D9D2C3"/>
            </a:solidFill>
            <a:prstDash val="solid"/>
          </a:ln>
        </p:spPr>
      </p:sp>
      <p:sp>
        <p:nvSpPr>
          <p:cNvPr id="9" name="Text 7"/>
          <p:cNvSpPr txBox="1"/>
          <p:nvPr/>
        </p:nvSpPr>
        <p:spPr>
          <a:xfrm>
            <a:off x="594360" y="2834640"/>
            <a:ext cx="3108960" cy="457200"/>
          </a:xfrm>
          <a:prstGeom prst="rect">
            <a:avLst/>
          </a:prstGeom>
          <a:noFill/>
          <a:ln/>
        </p:spPr>
        <p:txBody>
          <a:bodyPr wrap="square" lIns="0" tIns="0" rIns="0" bIns="0" rtlCol="0" anchor="ctr"/>
          <a:lstStyle/>
          <a:p>
            <a:pPr indent="0" marL="0">
              <a:buNone/>
            </a:pPr>
            <a:r>
              <a:rPr lang="en-US" sz="1100" i="1" dirty="0">
                <a:solidFill>
                  <a:srgbClr val="17140F"/>
                </a:solidFill>
                <a:latin typeface="Cambria" pitchFamily="34" charset="0"/>
                <a:ea typeface="Cambria" pitchFamily="34" charset="-122"/>
                <a:cs typeface="Cambria" pitchFamily="34" charset="-120"/>
              </a:rPr>
              <a:t>“Screen flickers and the battery dies fast”</a:t>
            </a:r>
            <a:endParaRPr lang="en-US" sz="1100" dirty="0"/>
          </a:p>
        </p:txBody>
      </p:sp>
      <p:sp>
        <p:nvSpPr>
          <p:cNvPr id="10" name="Shape 8"/>
          <p:cNvSpPr/>
          <p:nvPr/>
        </p:nvSpPr>
        <p:spPr>
          <a:xfrm>
            <a:off x="457200" y="3383280"/>
            <a:ext cx="3291840" cy="457200"/>
          </a:xfrm>
          <a:prstGeom prst="roundRect">
            <a:avLst>
              <a:gd name="adj" fmla="val 16000"/>
            </a:avLst>
          </a:prstGeom>
          <a:solidFill>
            <a:srgbClr val="FFFFFF"/>
          </a:solidFill>
          <a:ln w="9525">
            <a:solidFill>
              <a:srgbClr val="D9D2C3"/>
            </a:solidFill>
            <a:prstDash val="solid"/>
          </a:ln>
        </p:spPr>
      </p:sp>
      <p:sp>
        <p:nvSpPr>
          <p:cNvPr id="11" name="Text 9"/>
          <p:cNvSpPr txBox="1"/>
          <p:nvPr/>
        </p:nvSpPr>
        <p:spPr>
          <a:xfrm>
            <a:off x="594360" y="3383280"/>
            <a:ext cx="3108960" cy="457200"/>
          </a:xfrm>
          <a:prstGeom prst="rect">
            <a:avLst/>
          </a:prstGeom>
          <a:noFill/>
          <a:ln/>
        </p:spPr>
        <p:txBody>
          <a:bodyPr wrap="square" lIns="0" tIns="0" rIns="0" bIns="0" rtlCol="0" anchor="ctr"/>
          <a:lstStyle/>
          <a:p>
            <a:pPr indent="0" marL="0">
              <a:buNone/>
            </a:pPr>
            <a:r>
              <a:rPr lang="en-US" sz="1100" i="1" dirty="0">
                <a:solidFill>
                  <a:srgbClr val="17140F"/>
                </a:solidFill>
                <a:latin typeface="Cambria" pitchFamily="34" charset="0"/>
                <a:ea typeface="Cambria" pitchFamily="34" charset="-122"/>
                <a:cs typeface="Cambria" pitchFamily="34" charset="-120"/>
              </a:rPr>
              <a:t>“My phone got slow after the update”</a:t>
            </a:r>
            <a:endParaRPr lang="en-US" sz="1100" dirty="0"/>
          </a:p>
        </p:txBody>
      </p:sp>
      <p:sp>
        <p:nvSpPr>
          <p:cNvPr id="12" name="Shape 10"/>
          <p:cNvSpPr/>
          <p:nvPr/>
        </p:nvSpPr>
        <p:spPr>
          <a:xfrm>
            <a:off x="457200" y="3931920"/>
            <a:ext cx="3291840" cy="457200"/>
          </a:xfrm>
          <a:prstGeom prst="roundRect">
            <a:avLst>
              <a:gd name="adj" fmla="val 16000"/>
            </a:avLst>
          </a:prstGeom>
          <a:solidFill>
            <a:srgbClr val="FFFFFF"/>
          </a:solidFill>
          <a:ln w="9525">
            <a:solidFill>
              <a:srgbClr val="D9D2C3"/>
            </a:solidFill>
            <a:prstDash val="solid"/>
          </a:ln>
        </p:spPr>
      </p:sp>
      <p:sp>
        <p:nvSpPr>
          <p:cNvPr id="13" name="Text 11"/>
          <p:cNvSpPr txBox="1"/>
          <p:nvPr/>
        </p:nvSpPr>
        <p:spPr>
          <a:xfrm>
            <a:off x="594360" y="3931920"/>
            <a:ext cx="3108960" cy="457200"/>
          </a:xfrm>
          <a:prstGeom prst="rect">
            <a:avLst/>
          </a:prstGeom>
          <a:noFill/>
          <a:ln/>
        </p:spPr>
        <p:txBody>
          <a:bodyPr wrap="square" lIns="0" tIns="0" rIns="0" bIns="0" rtlCol="0" anchor="ctr"/>
          <a:lstStyle/>
          <a:p>
            <a:pPr indent="0" marL="0">
              <a:buNone/>
            </a:pPr>
            <a:r>
              <a:rPr lang="en-US" sz="1100" i="1" dirty="0">
                <a:solidFill>
                  <a:srgbClr val="17140F"/>
                </a:solidFill>
                <a:latin typeface="Cambria" pitchFamily="34" charset="0"/>
                <a:ea typeface="Cambria" pitchFamily="34" charset="-122"/>
                <a:cs typeface="Cambria" pitchFamily="34" charset="-120"/>
              </a:rPr>
              <a:t>“Swipe gestures go the wrong way after installing an app”</a:t>
            </a:r>
            <a:endParaRPr lang="en-US" sz="1100" dirty="0"/>
          </a:p>
        </p:txBody>
      </p:sp>
      <p:sp>
        <p:nvSpPr>
          <p:cNvPr id="14" name="Text 12"/>
          <p:cNvSpPr txBox="1"/>
          <p:nvPr/>
        </p:nvSpPr>
        <p:spPr>
          <a:xfrm>
            <a:off x="4297680" y="1234440"/>
            <a:ext cx="4114800" cy="320040"/>
          </a:xfrm>
          <a:prstGeom prst="rect">
            <a:avLst/>
          </a:prstGeom>
          <a:noFill/>
          <a:ln/>
        </p:spPr>
        <p:txBody>
          <a:bodyPr wrap="square" lIns="0" tIns="0" rIns="0" bIns="0" rtlCol="0" anchor="t"/>
          <a:lstStyle/>
          <a:p>
            <a:pPr indent="0" marL="0">
              <a:buNone/>
            </a:pPr>
            <a:r>
              <a:rPr lang="en-US" sz="1600" b="1" dirty="0">
                <a:solidFill>
                  <a:srgbClr val="17140F"/>
                </a:solidFill>
                <a:latin typeface="Cambria" pitchFamily="34" charset="0"/>
                <a:ea typeface="Cambria" pitchFamily="34" charset="-122"/>
                <a:cs typeface="Cambria" pitchFamily="34" charset="-120"/>
              </a:rPr>
              <a:t>Why it's hard</a:t>
            </a:r>
            <a:endParaRPr lang="en-US" sz="1600" dirty="0"/>
          </a:p>
        </p:txBody>
      </p:sp>
      <p:sp>
        <p:nvSpPr>
          <p:cNvPr id="15" name="Shape 13"/>
          <p:cNvSpPr/>
          <p:nvPr/>
        </p:nvSpPr>
        <p:spPr>
          <a:xfrm>
            <a:off x="4297680" y="1682496"/>
            <a:ext cx="292608" cy="292608"/>
          </a:xfrm>
          <a:prstGeom prst="ellipse">
            <a:avLst/>
          </a:prstGeom>
          <a:solidFill>
            <a:srgbClr val="17140F"/>
          </a:solidFill>
          <a:ln/>
        </p:spPr>
      </p:sp>
      <p:sp>
        <p:nvSpPr>
          <p:cNvPr id="16" name="Text 14"/>
          <p:cNvSpPr txBox="1"/>
          <p:nvPr/>
        </p:nvSpPr>
        <p:spPr>
          <a:xfrm>
            <a:off x="4297680" y="168249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1</a:t>
            </a:r>
            <a:endParaRPr lang="en-US" sz="1000" dirty="0"/>
          </a:p>
        </p:txBody>
      </p:sp>
      <p:sp>
        <p:nvSpPr>
          <p:cNvPr id="17" name="Text 15"/>
          <p:cNvSpPr txBox="1"/>
          <p:nvPr/>
        </p:nvSpPr>
        <p:spPr>
          <a:xfrm>
            <a:off x="4709160" y="1664208"/>
            <a:ext cx="3931920" cy="228600"/>
          </a:xfrm>
          <a:prstGeom prst="rect">
            <a:avLst/>
          </a:prstGeom>
          <a:noFill/>
          <a:ln/>
        </p:spPr>
        <p:txBody>
          <a:bodyPr wrap="square" lIns="0" tIns="0" rIns="0" bIns="0" rtlCol="0" anchor="t"/>
          <a:lstStyle/>
          <a:p>
            <a:pPr indent="0" marL="0">
              <a:buNone/>
            </a:pPr>
            <a:r>
              <a:rPr lang="en-US" sz="1200" b="1" dirty="0">
                <a:solidFill>
                  <a:srgbClr val="17140F"/>
                </a:solidFill>
                <a:latin typeface="Calibri" pitchFamily="34" charset="0"/>
                <a:ea typeface="Calibri" pitchFamily="34" charset="-122"/>
                <a:cs typeface="Calibri" pitchFamily="34" charset="-120"/>
              </a:rPr>
              <a:t>Vague, colloquial language</a:t>
            </a:r>
            <a:endParaRPr lang="en-US" sz="1200" dirty="0"/>
          </a:p>
        </p:txBody>
      </p:sp>
      <p:sp>
        <p:nvSpPr>
          <p:cNvPr id="18" name="Text 16"/>
          <p:cNvSpPr txBox="1"/>
          <p:nvPr/>
        </p:nvSpPr>
        <p:spPr>
          <a:xfrm>
            <a:off x="4709160" y="1901952"/>
            <a:ext cx="3931920" cy="329184"/>
          </a:xfrm>
          <a:prstGeom prst="rect">
            <a:avLst/>
          </a:prstGeom>
          <a:noFill/>
          <a:ln/>
        </p:spPr>
        <p:txBody>
          <a:bodyPr wrap="square" lIns="0" tIns="0" rIns="0" bIns="0" rtlCol="0" anchor="t"/>
          <a:lstStyle/>
          <a:p>
            <a:pPr indent="0" marL="0">
              <a:buNone/>
            </a:pPr>
            <a:r>
              <a:rPr lang="en-US" sz="1000" dirty="0">
                <a:solidFill>
                  <a:srgbClr val="4A453C"/>
                </a:solidFill>
                <a:latin typeface="Calibri" pitchFamily="34" charset="0"/>
                <a:ea typeface="Calibri" pitchFamily="34" charset="-122"/>
                <a:cs typeface="Calibri" pitchFamily="34" charset="-120"/>
              </a:rPr>
              <a:t>“blinking”, “goes dark”, typos, Hinglish: none of it matches support-article wording.</a:t>
            </a:r>
            <a:endParaRPr lang="en-US" sz="1000" dirty="0"/>
          </a:p>
        </p:txBody>
      </p:sp>
      <p:sp>
        <p:nvSpPr>
          <p:cNvPr id="19" name="Shape 17"/>
          <p:cNvSpPr/>
          <p:nvPr/>
        </p:nvSpPr>
        <p:spPr>
          <a:xfrm>
            <a:off x="4297680" y="2286000"/>
            <a:ext cx="292608" cy="292608"/>
          </a:xfrm>
          <a:prstGeom prst="ellipse">
            <a:avLst/>
          </a:prstGeom>
          <a:solidFill>
            <a:srgbClr val="17140F"/>
          </a:solidFill>
          <a:ln/>
        </p:spPr>
      </p:sp>
      <p:sp>
        <p:nvSpPr>
          <p:cNvPr id="20" name="Text 18"/>
          <p:cNvSpPr txBox="1"/>
          <p:nvPr/>
        </p:nvSpPr>
        <p:spPr>
          <a:xfrm>
            <a:off x="4297680" y="228600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2</a:t>
            </a:r>
            <a:endParaRPr lang="en-US" sz="1000" dirty="0"/>
          </a:p>
        </p:txBody>
      </p:sp>
      <p:sp>
        <p:nvSpPr>
          <p:cNvPr id="21" name="Text 19"/>
          <p:cNvSpPr txBox="1"/>
          <p:nvPr/>
        </p:nvSpPr>
        <p:spPr>
          <a:xfrm>
            <a:off x="4709160" y="2267712"/>
            <a:ext cx="3931920" cy="228600"/>
          </a:xfrm>
          <a:prstGeom prst="rect">
            <a:avLst/>
          </a:prstGeom>
          <a:noFill/>
          <a:ln/>
        </p:spPr>
        <p:txBody>
          <a:bodyPr wrap="square" lIns="0" tIns="0" rIns="0" bIns="0" rtlCol="0" anchor="t"/>
          <a:lstStyle/>
          <a:p>
            <a:pPr indent="0" marL="0">
              <a:buNone/>
            </a:pPr>
            <a:r>
              <a:rPr lang="en-US" sz="1200" b="1" dirty="0">
                <a:solidFill>
                  <a:srgbClr val="17140F"/>
                </a:solidFill>
                <a:latin typeface="Calibri" pitchFamily="34" charset="0"/>
                <a:ea typeface="Calibri" pitchFamily="34" charset="-122"/>
                <a:cs typeface="Calibri" pitchFamily="34" charset="-120"/>
              </a:rPr>
              <a:t>Several problems in one message</a:t>
            </a:r>
            <a:endParaRPr lang="en-US" sz="1200" dirty="0"/>
          </a:p>
        </p:txBody>
      </p:sp>
      <p:sp>
        <p:nvSpPr>
          <p:cNvPr id="22" name="Text 20"/>
          <p:cNvSpPr txBox="1"/>
          <p:nvPr/>
        </p:nvSpPr>
        <p:spPr>
          <a:xfrm>
            <a:off x="4709160" y="2505456"/>
            <a:ext cx="3931920" cy="329184"/>
          </a:xfrm>
          <a:prstGeom prst="rect">
            <a:avLst/>
          </a:prstGeom>
          <a:noFill/>
          <a:ln/>
        </p:spPr>
        <p:txBody>
          <a:bodyPr wrap="square" lIns="0" tIns="0" rIns="0" bIns="0" rtlCol="0" anchor="t"/>
          <a:lstStyle/>
          <a:p>
            <a:pPr indent="0" marL="0">
              <a:buNone/>
            </a:pPr>
            <a:r>
              <a:rPr lang="en-US" sz="1000" dirty="0">
                <a:solidFill>
                  <a:srgbClr val="4A453C"/>
                </a:solidFill>
                <a:latin typeface="Calibri" pitchFamily="34" charset="0"/>
                <a:ea typeface="Calibri" pitchFamily="34" charset="-122"/>
                <a:cs typeface="Calibri" pitchFamily="34" charset="-120"/>
              </a:rPr>
              <a:t>Flicker + battery drain need different fixes, and a single answer gets both wrong.</a:t>
            </a:r>
            <a:endParaRPr lang="en-US" sz="1000" dirty="0"/>
          </a:p>
        </p:txBody>
      </p:sp>
      <p:sp>
        <p:nvSpPr>
          <p:cNvPr id="23" name="Shape 21"/>
          <p:cNvSpPr/>
          <p:nvPr/>
        </p:nvSpPr>
        <p:spPr>
          <a:xfrm>
            <a:off x="4297680" y="2889504"/>
            <a:ext cx="292608" cy="292608"/>
          </a:xfrm>
          <a:prstGeom prst="ellipse">
            <a:avLst/>
          </a:prstGeom>
          <a:solidFill>
            <a:srgbClr val="17140F"/>
          </a:solidFill>
          <a:ln/>
        </p:spPr>
      </p:sp>
      <p:sp>
        <p:nvSpPr>
          <p:cNvPr id="24" name="Text 22"/>
          <p:cNvSpPr txBox="1"/>
          <p:nvPr/>
        </p:nvSpPr>
        <p:spPr>
          <a:xfrm>
            <a:off x="4297680" y="288950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3</a:t>
            </a:r>
            <a:endParaRPr lang="en-US" sz="1000" dirty="0"/>
          </a:p>
        </p:txBody>
      </p:sp>
      <p:sp>
        <p:nvSpPr>
          <p:cNvPr id="25" name="Text 23"/>
          <p:cNvSpPr txBox="1"/>
          <p:nvPr/>
        </p:nvSpPr>
        <p:spPr>
          <a:xfrm>
            <a:off x="4709160" y="2871216"/>
            <a:ext cx="3931920" cy="228600"/>
          </a:xfrm>
          <a:prstGeom prst="rect">
            <a:avLst/>
          </a:prstGeom>
          <a:noFill/>
          <a:ln/>
        </p:spPr>
        <p:txBody>
          <a:bodyPr wrap="square" lIns="0" tIns="0" rIns="0" bIns="0" rtlCol="0" anchor="t"/>
          <a:lstStyle/>
          <a:p>
            <a:pPr indent="0" marL="0">
              <a:buNone/>
            </a:pPr>
            <a:r>
              <a:rPr lang="en-US" sz="1200" b="1" dirty="0">
                <a:solidFill>
                  <a:srgbClr val="17140F"/>
                </a:solidFill>
                <a:latin typeface="Calibri" pitchFamily="34" charset="0"/>
                <a:ea typeface="Calibri" pitchFamily="34" charset="-122"/>
                <a:cs typeface="Calibri" pitchFamily="34" charset="-120"/>
              </a:rPr>
              <a:t>Fixes hide deep in Settings</a:t>
            </a:r>
            <a:endParaRPr lang="en-US" sz="1200" dirty="0"/>
          </a:p>
        </p:txBody>
      </p:sp>
      <p:sp>
        <p:nvSpPr>
          <p:cNvPr id="26" name="Text 24"/>
          <p:cNvSpPr txBox="1"/>
          <p:nvPr/>
        </p:nvSpPr>
        <p:spPr>
          <a:xfrm>
            <a:off x="4709160" y="3108960"/>
            <a:ext cx="3931920" cy="329184"/>
          </a:xfrm>
          <a:prstGeom prst="rect">
            <a:avLst/>
          </a:prstGeom>
          <a:noFill/>
          <a:ln/>
        </p:spPr>
        <p:txBody>
          <a:bodyPr wrap="square" lIns="0" tIns="0" rIns="0" bIns="0" rtlCol="0" anchor="t"/>
          <a:lstStyle/>
          <a:p>
            <a:pPr indent="0" marL="0">
              <a:buNone/>
            </a:pPr>
            <a:r>
              <a:rPr lang="en-US" sz="1000" dirty="0">
                <a:solidFill>
                  <a:srgbClr val="4A453C"/>
                </a:solidFill>
                <a:latin typeface="Calibri" pitchFamily="34" charset="0"/>
                <a:ea typeface="Calibri" pitchFamily="34" charset="-122"/>
                <a:cs typeface="Calibri" pitchFamily="34" charset="-120"/>
              </a:rPr>
              <a:t>Settings › Display › Navigation bar: users give up before they reach the switch.</a:t>
            </a:r>
            <a:endParaRPr lang="en-US" sz="1000" dirty="0"/>
          </a:p>
        </p:txBody>
      </p:sp>
      <p:sp>
        <p:nvSpPr>
          <p:cNvPr id="27" name="Shape 25"/>
          <p:cNvSpPr/>
          <p:nvPr/>
        </p:nvSpPr>
        <p:spPr>
          <a:xfrm>
            <a:off x="4297680" y="3493008"/>
            <a:ext cx="292608" cy="292608"/>
          </a:xfrm>
          <a:prstGeom prst="ellipse">
            <a:avLst/>
          </a:prstGeom>
          <a:solidFill>
            <a:srgbClr val="17140F"/>
          </a:solidFill>
          <a:ln/>
        </p:spPr>
      </p:sp>
      <p:sp>
        <p:nvSpPr>
          <p:cNvPr id="28" name="Text 26"/>
          <p:cNvSpPr txBox="1"/>
          <p:nvPr/>
        </p:nvSpPr>
        <p:spPr>
          <a:xfrm>
            <a:off x="4297680" y="34930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4</a:t>
            </a:r>
            <a:endParaRPr lang="en-US" sz="1000" dirty="0"/>
          </a:p>
        </p:txBody>
      </p:sp>
      <p:sp>
        <p:nvSpPr>
          <p:cNvPr id="29" name="Text 27"/>
          <p:cNvSpPr txBox="1"/>
          <p:nvPr/>
        </p:nvSpPr>
        <p:spPr>
          <a:xfrm>
            <a:off x="4709160" y="3474720"/>
            <a:ext cx="3931920" cy="228600"/>
          </a:xfrm>
          <a:prstGeom prst="rect">
            <a:avLst/>
          </a:prstGeom>
          <a:noFill/>
          <a:ln/>
        </p:spPr>
        <p:txBody>
          <a:bodyPr wrap="square" lIns="0" tIns="0" rIns="0" bIns="0" rtlCol="0" anchor="t"/>
          <a:lstStyle/>
          <a:p>
            <a:pPr indent="0" marL="0">
              <a:buNone/>
            </a:pPr>
            <a:r>
              <a:rPr lang="en-US" sz="1200" b="1" dirty="0">
                <a:solidFill>
                  <a:srgbClr val="17140F"/>
                </a:solidFill>
                <a:latin typeface="Calibri" pitchFamily="34" charset="0"/>
                <a:ea typeface="Calibri" pitchFamily="34" charset="-122"/>
                <a:cs typeface="Calibri" pitchFamily="34" charset="-120"/>
              </a:rPr>
              <a:t>The reference may not fit</a:t>
            </a:r>
            <a:endParaRPr lang="en-US" sz="1200" dirty="0"/>
          </a:p>
        </p:txBody>
      </p:sp>
      <p:sp>
        <p:nvSpPr>
          <p:cNvPr id="30" name="Text 28"/>
          <p:cNvSpPr txBox="1"/>
          <p:nvPr/>
        </p:nvSpPr>
        <p:spPr>
          <a:xfrm>
            <a:off x="4709160" y="3712464"/>
            <a:ext cx="3931920" cy="329184"/>
          </a:xfrm>
          <a:prstGeom prst="rect">
            <a:avLst/>
          </a:prstGeom>
          <a:noFill/>
          <a:ln/>
        </p:spPr>
        <p:txBody>
          <a:bodyPr wrap="square" lIns="0" tIns="0" rIns="0" bIns="0" rtlCol="0" anchor="t"/>
          <a:lstStyle/>
          <a:p>
            <a:pPr indent="0" marL="0">
              <a:buNone/>
            </a:pPr>
            <a:r>
              <a:rPr lang="en-US" sz="1000" dirty="0">
                <a:solidFill>
                  <a:srgbClr val="4A453C"/>
                </a:solidFill>
                <a:latin typeface="Calibri" pitchFamily="34" charset="0"/>
                <a:ea typeface="Calibri" pitchFamily="34" charset="-122"/>
                <a:cs typeface="Calibri" pitchFamily="34" charset="-120"/>
              </a:rPr>
              <a:t>The paired article can be about a different fault, and guessing there is dangerous.</a:t>
            </a:r>
            <a:endParaRPr lang="en-US" sz="1000" dirty="0"/>
          </a:p>
        </p:txBody>
      </p:sp>
      <p:sp>
        <p:nvSpPr>
          <p:cNvPr id="31" name="Shape 29"/>
          <p:cNvSpPr/>
          <p:nvPr/>
        </p:nvSpPr>
        <p:spPr>
          <a:xfrm>
            <a:off x="4297680" y="4114800"/>
            <a:ext cx="4389120" cy="502920"/>
          </a:xfrm>
          <a:prstGeom prst="roundRect">
            <a:avLst>
              <a:gd name="adj" fmla="val 14545"/>
            </a:avLst>
          </a:prstGeom>
          <a:solidFill>
            <a:srgbClr val="FFE4D6"/>
          </a:solidFill>
          <a:ln/>
        </p:spPr>
      </p:sp>
      <p:sp>
        <p:nvSpPr>
          <p:cNvPr id="32" name="Text 30"/>
          <p:cNvSpPr txBox="1"/>
          <p:nvPr/>
        </p:nvSpPr>
        <p:spPr>
          <a:xfrm>
            <a:off x="4434840" y="4114800"/>
            <a:ext cx="4160520" cy="502920"/>
          </a:xfrm>
          <a:prstGeom prst="rect">
            <a:avLst/>
          </a:prstGeom>
          <a:noFill/>
          <a:ln/>
        </p:spPr>
        <p:txBody>
          <a:bodyPr wrap="square" lIns="0" tIns="0" rIns="0" bIns="0" rtlCol="0" anchor="ctr"/>
          <a:lstStyle/>
          <a:p>
            <a:pPr indent="0" marL="0">
              <a:buNone/>
            </a:pPr>
            <a:r>
              <a:rPr lang="en-US" sz="1050" b="1" dirty="0">
                <a:solidFill>
                  <a:srgbClr val="B93A0B"/>
                </a:solidFill>
                <a:latin typeface="Calibri" pitchFamily="34" charset="0"/>
                <a:ea typeface="Calibri" pitchFamily="34" charset="-122"/>
                <a:cs typeface="Calibri" pitchFamily="34" charset="-120"/>
              </a:rPr>
              <a:t>Our framing: </a:t>
            </a:r>
            <a:pPr indent="0" marL="0">
              <a:buNone/>
            </a:pPr>
            <a:r>
              <a:rPr lang="en-US" sz="1050" dirty="0">
                <a:solidFill>
                  <a:srgbClr val="B93A0B"/>
                </a:solidFill>
                <a:latin typeface="Calibri" pitchFamily="34" charset="0"/>
                <a:ea typeface="Calibri" pitchFamily="34" charset="-122"/>
                <a:cs typeface="Calibri" pitchFamily="34" charset="-120"/>
              </a:rPr>
              <a:t>a compiler. Complaint + knowledge article → validated, deeplinked JSON plan, and every rule is checked by code.</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02 · WHAT ONETAP DOES</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One call: vague complaint in, one-tap plan out</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03 / 18</a:t>
            </a:r>
            <a:endParaRPr lang="en-US" sz="750" dirty="0"/>
          </a:p>
        </p:txBody>
      </p:sp>
      <p:sp>
        <p:nvSpPr>
          <p:cNvPr id="6" name="Shape 4"/>
          <p:cNvSpPr/>
          <p:nvPr/>
        </p:nvSpPr>
        <p:spPr>
          <a:xfrm>
            <a:off x="457200" y="1280160"/>
            <a:ext cx="2377440" cy="2468880"/>
          </a:xfrm>
          <a:prstGeom prst="roundRect">
            <a:avLst>
              <a:gd name="adj" fmla="val 3077"/>
            </a:avLst>
          </a:prstGeom>
          <a:solidFill>
            <a:srgbClr val="FFFFFF"/>
          </a:solidFill>
          <a:ln w="9525">
            <a:solidFill>
              <a:srgbClr val="D9D2C3"/>
            </a:solidFill>
            <a:prstDash val="solid"/>
          </a:ln>
        </p:spPr>
      </p:sp>
      <p:sp>
        <p:nvSpPr>
          <p:cNvPr id="7" name="Shape 5"/>
          <p:cNvSpPr/>
          <p:nvPr/>
        </p:nvSpPr>
        <p:spPr>
          <a:xfrm>
            <a:off x="594360" y="1389888"/>
            <a:ext cx="502920" cy="219456"/>
          </a:xfrm>
          <a:prstGeom prst="roundRect">
            <a:avLst>
              <a:gd name="adj" fmla="val 20833"/>
            </a:avLst>
          </a:prstGeom>
          <a:solidFill>
            <a:srgbClr val="EBE6DA"/>
          </a:solidFill>
          <a:ln/>
        </p:spPr>
      </p:sp>
      <p:sp>
        <p:nvSpPr>
          <p:cNvPr id="8" name="Text 6"/>
          <p:cNvSpPr txBox="1"/>
          <p:nvPr/>
        </p:nvSpPr>
        <p:spPr>
          <a:xfrm>
            <a:off x="594360" y="1389888"/>
            <a:ext cx="502920" cy="219456"/>
          </a:xfrm>
          <a:prstGeom prst="rect">
            <a:avLst/>
          </a:prstGeom>
          <a:noFill/>
          <a:ln/>
        </p:spPr>
        <p:txBody>
          <a:bodyPr wrap="square" lIns="0" tIns="0" rIns="0" bIns="0" rtlCol="0" anchor="ctr"/>
          <a:lstStyle/>
          <a:p>
            <a:pPr algn="ctr" indent="0" marL="0">
              <a:buNone/>
            </a:pPr>
            <a:r>
              <a:rPr lang="en-US" sz="800" b="1" dirty="0">
                <a:solidFill>
                  <a:srgbClr val="4A453C"/>
                </a:solidFill>
                <a:latin typeface="Courier New" pitchFamily="34" charset="0"/>
                <a:ea typeface="Courier New" pitchFamily="34" charset="-122"/>
                <a:cs typeface="Courier New" pitchFamily="34" charset="-120"/>
              </a:rPr>
              <a:t>IN</a:t>
            </a:r>
            <a:endParaRPr lang="en-US" sz="800" dirty="0"/>
          </a:p>
        </p:txBody>
      </p:sp>
      <p:sp>
        <p:nvSpPr>
          <p:cNvPr id="9" name="Text 7"/>
          <p:cNvSpPr txBox="1"/>
          <p:nvPr/>
        </p:nvSpPr>
        <p:spPr>
          <a:xfrm>
            <a:off x="594360" y="1691640"/>
            <a:ext cx="2194560" cy="228600"/>
          </a:xfrm>
          <a:prstGeom prst="rect">
            <a:avLst/>
          </a:prstGeom>
          <a:noFill/>
          <a:ln/>
        </p:spPr>
        <p:txBody>
          <a:bodyPr wrap="square" lIns="0" tIns="0" rIns="0" bIns="0" rtlCol="0" anchor="t"/>
          <a:lstStyle/>
          <a:p>
            <a:pPr indent="0" marL="0">
              <a:buNone/>
            </a:pPr>
            <a:r>
              <a:rPr lang="en-US" sz="900" dirty="0">
                <a:solidFill>
                  <a:srgbClr val="8A8375"/>
                </a:solidFill>
                <a:latin typeface="Courier New" pitchFamily="34" charset="0"/>
                <a:ea typeface="Courier New" pitchFamily="34" charset="-122"/>
                <a:cs typeface="Courier New" pitchFamily="34" charset="-120"/>
              </a:rPr>
              <a:t>POST /v1/troubleshoot</a:t>
            </a:r>
            <a:endParaRPr lang="en-US" sz="900" dirty="0"/>
          </a:p>
        </p:txBody>
      </p:sp>
      <p:sp>
        <p:nvSpPr>
          <p:cNvPr id="10" name="Text 8"/>
          <p:cNvSpPr txBox="1"/>
          <p:nvPr/>
        </p:nvSpPr>
        <p:spPr>
          <a:xfrm>
            <a:off x="594360" y="1965960"/>
            <a:ext cx="2103120" cy="822960"/>
          </a:xfrm>
          <a:prstGeom prst="rect">
            <a:avLst/>
          </a:prstGeom>
          <a:noFill/>
          <a:ln/>
        </p:spPr>
        <p:txBody>
          <a:bodyPr wrap="square" lIns="0" tIns="0" rIns="0" bIns="0" rtlCol="0" anchor="t"/>
          <a:lstStyle/>
          <a:p>
            <a:pPr indent="0" marL="0">
              <a:buNone/>
            </a:pPr>
            <a:r>
              <a:rPr lang="en-US" sz="1300" i="1" dirty="0">
                <a:solidFill>
                  <a:srgbClr val="17140F"/>
                </a:solidFill>
                <a:latin typeface="Cambria" pitchFamily="34" charset="0"/>
                <a:ea typeface="Cambria" pitchFamily="34" charset="-122"/>
                <a:cs typeface="Cambria" pitchFamily="34" charset="-120"/>
              </a:rPr>
              <a:t>“my screen keeps blinking and goes black when I unfold it”</a:t>
            </a:r>
            <a:endParaRPr lang="en-US" sz="1300" dirty="0"/>
          </a:p>
        </p:txBody>
      </p:sp>
      <p:sp>
        <p:nvSpPr>
          <p:cNvPr id="11" name="Text 9"/>
          <p:cNvSpPr txBox="1"/>
          <p:nvPr/>
        </p:nvSpPr>
        <p:spPr>
          <a:xfrm>
            <a:off x="594360" y="2926080"/>
            <a:ext cx="2103120" cy="548640"/>
          </a:xfrm>
          <a:prstGeom prst="rect">
            <a:avLst/>
          </a:prstGeom>
          <a:noFill/>
          <a:ln/>
        </p:spPr>
        <p:txBody>
          <a:bodyPr wrap="square" lIns="0" tIns="0" rIns="0" bIns="0" rtlCol="0" anchor="t"/>
          <a:lstStyle/>
          <a:p>
            <a:pPr indent="0" marL="0">
              <a:buNone/>
            </a:pPr>
            <a:r>
              <a:rPr lang="en-US" sz="1000" dirty="0">
                <a:solidFill>
                  <a:srgbClr val="4A453C"/>
                </a:solidFill>
                <a:latin typeface="Calibri" pitchFamily="34" charset="0"/>
                <a:ea typeface="Calibri" pitchFamily="34" charset="-122"/>
                <a:cs typeface="Calibri" pitchFamily="34" charset="-120"/>
              </a:rPr>
              <a:t>+ optional SIIS article (or any pasted help text)</a:t>
            </a:r>
            <a:endParaRPr lang="en-US" sz="1000" dirty="0"/>
          </a:p>
        </p:txBody>
      </p:sp>
      <p:sp>
        <p:nvSpPr>
          <p:cNvPr id="12" name="Shape 10"/>
          <p:cNvSpPr/>
          <p:nvPr/>
        </p:nvSpPr>
        <p:spPr>
          <a:xfrm>
            <a:off x="2880360" y="2514600"/>
            <a:ext cx="365760" cy="914"/>
          </a:xfrm>
          <a:prstGeom prst="line">
            <a:avLst/>
          </a:prstGeom>
          <a:noFill/>
          <a:ln w="15875">
            <a:solidFill>
              <a:srgbClr val="17140F"/>
            </a:solidFill>
            <a:prstDash val="solid"/>
            <a:tailEnd type="triangle"/>
          </a:ln>
        </p:spPr>
      </p:sp>
      <p:sp>
        <p:nvSpPr>
          <p:cNvPr id="13" name="Shape 11"/>
          <p:cNvSpPr/>
          <p:nvPr/>
        </p:nvSpPr>
        <p:spPr>
          <a:xfrm>
            <a:off x="3291840" y="1280160"/>
            <a:ext cx="2194560" cy="2468880"/>
          </a:xfrm>
          <a:prstGeom prst="roundRect">
            <a:avLst>
              <a:gd name="adj" fmla="val 4167"/>
            </a:avLst>
          </a:prstGeom>
          <a:solidFill>
            <a:srgbClr val="17140F"/>
          </a:solidFill>
          <a:ln/>
        </p:spPr>
      </p:sp>
      <p:sp>
        <p:nvSpPr>
          <p:cNvPr id="14" name="Text 12"/>
          <p:cNvSpPr txBox="1"/>
          <p:nvPr/>
        </p:nvSpPr>
        <p:spPr>
          <a:xfrm>
            <a:off x="3429000" y="1417320"/>
            <a:ext cx="1828800" cy="365760"/>
          </a:xfrm>
          <a:prstGeom prst="rect">
            <a:avLst/>
          </a:prstGeom>
          <a:noFill/>
          <a:ln/>
        </p:spPr>
        <p:txBody>
          <a:bodyPr wrap="square" lIns="0" tIns="0" rIns="0" bIns="0" rtlCol="0" anchor="t"/>
          <a:lstStyle/>
          <a:p>
            <a:pPr indent="0" marL="0">
              <a:buNone/>
            </a:pPr>
            <a:r>
              <a:rPr lang="en-US" sz="2000" b="1" dirty="0">
                <a:solidFill>
                  <a:srgbClr val="F4F1EA"/>
                </a:solidFill>
                <a:latin typeface="Cambria" pitchFamily="34" charset="0"/>
                <a:ea typeface="Cambria" pitchFamily="34" charset="-122"/>
                <a:cs typeface="Cambria" pitchFamily="34" charset="-120"/>
              </a:rPr>
              <a:t>One</a:t>
            </a:r>
            <a:pPr indent="0" marL="0">
              <a:buNone/>
            </a:pPr>
            <a:r>
              <a:rPr lang="en-US" sz="2000" i="1" dirty="0">
                <a:solidFill>
                  <a:srgbClr val="F4F1EA"/>
                </a:solidFill>
                <a:latin typeface="Cambria" pitchFamily="34" charset="0"/>
                <a:ea typeface="Cambria" pitchFamily="34" charset="-122"/>
                <a:cs typeface="Cambria" pitchFamily="34" charset="-120"/>
              </a:rPr>
              <a:t>Tap</a:t>
            </a:r>
            <a:endParaRPr lang="en-US" sz="2000" dirty="0"/>
          </a:p>
        </p:txBody>
      </p:sp>
      <p:sp>
        <p:nvSpPr>
          <p:cNvPr id="15" name="Shape 13"/>
          <p:cNvSpPr/>
          <p:nvPr/>
        </p:nvSpPr>
        <p:spPr>
          <a:xfrm>
            <a:off x="3456432" y="1920240"/>
            <a:ext cx="1874520" cy="219456"/>
          </a:xfrm>
          <a:prstGeom prst="roundRect">
            <a:avLst>
              <a:gd name="adj" fmla="val 20833"/>
            </a:avLst>
          </a:prstGeom>
          <a:solidFill>
            <a:srgbClr val="DCEFE4"/>
          </a:solidFill>
          <a:ln/>
        </p:spPr>
      </p:sp>
      <p:sp>
        <p:nvSpPr>
          <p:cNvPr id="16" name="Text 14"/>
          <p:cNvSpPr txBox="1"/>
          <p:nvPr/>
        </p:nvSpPr>
        <p:spPr>
          <a:xfrm>
            <a:off x="3456432" y="1920240"/>
            <a:ext cx="1874520" cy="219456"/>
          </a:xfrm>
          <a:prstGeom prst="rect">
            <a:avLst/>
          </a:prstGeom>
          <a:noFill/>
          <a:ln/>
        </p:spPr>
        <p:txBody>
          <a:bodyPr wrap="square" lIns="0" tIns="0" rIns="0" bIns="0" rtlCol="0" anchor="ctr"/>
          <a:lstStyle/>
          <a:p>
            <a:pPr algn="ctr" indent="0" marL="0">
              <a:buNone/>
            </a:pPr>
            <a:r>
              <a:rPr lang="en-US" sz="800" b="1" dirty="0">
                <a:solidFill>
                  <a:srgbClr val="1D7A52"/>
                </a:solidFill>
                <a:latin typeface="Courier New" pitchFamily="34" charset="0"/>
                <a:ea typeface="Courier New" pitchFamily="34" charset="-122"/>
                <a:cs typeface="Courier New" pitchFamily="34" charset="-120"/>
              </a:rPr>
              <a:t>Guarded semantic cache</a:t>
            </a:r>
            <a:endParaRPr lang="en-US" sz="800" dirty="0"/>
          </a:p>
        </p:txBody>
      </p:sp>
      <p:sp>
        <p:nvSpPr>
          <p:cNvPr id="17" name="Shape 15"/>
          <p:cNvSpPr/>
          <p:nvPr/>
        </p:nvSpPr>
        <p:spPr>
          <a:xfrm>
            <a:off x="3456432" y="2322576"/>
            <a:ext cx="1874520" cy="219456"/>
          </a:xfrm>
          <a:prstGeom prst="roundRect">
            <a:avLst>
              <a:gd name="adj" fmla="val 20833"/>
            </a:avLst>
          </a:prstGeom>
          <a:solidFill>
            <a:srgbClr val="FFE4D6"/>
          </a:solidFill>
          <a:ln/>
        </p:spPr>
      </p:sp>
      <p:sp>
        <p:nvSpPr>
          <p:cNvPr id="18" name="Text 16"/>
          <p:cNvSpPr txBox="1"/>
          <p:nvPr/>
        </p:nvSpPr>
        <p:spPr>
          <a:xfrm>
            <a:off x="3456432" y="2322576"/>
            <a:ext cx="1874520" cy="219456"/>
          </a:xfrm>
          <a:prstGeom prst="rect">
            <a:avLst/>
          </a:prstGeom>
          <a:noFill/>
          <a:ln/>
        </p:spPr>
        <p:txBody>
          <a:bodyPr wrap="square" lIns="0" tIns="0" rIns="0" bIns="0" rtlCol="0" anchor="ctr"/>
          <a:lstStyle/>
          <a:p>
            <a:pPr algn="ctr" indent="0" marL="0">
              <a:buNone/>
            </a:pPr>
            <a:r>
              <a:rPr lang="en-US" sz="800" b="1" dirty="0">
                <a:solidFill>
                  <a:srgbClr val="B93A0B"/>
                </a:solidFill>
                <a:latin typeface="Courier New" pitchFamily="34" charset="0"/>
                <a:ea typeface="Courier New" pitchFamily="34" charset="-122"/>
                <a:cs typeface="Courier New" pitchFamily="34" charset="-120"/>
              </a:rPr>
              <a:t>Grounded AI extraction</a:t>
            </a:r>
            <a:endParaRPr lang="en-US" sz="800" dirty="0"/>
          </a:p>
        </p:txBody>
      </p:sp>
      <p:sp>
        <p:nvSpPr>
          <p:cNvPr id="19" name="Shape 17"/>
          <p:cNvSpPr/>
          <p:nvPr/>
        </p:nvSpPr>
        <p:spPr>
          <a:xfrm>
            <a:off x="3456432" y="2724912"/>
            <a:ext cx="1874520" cy="219456"/>
          </a:xfrm>
          <a:prstGeom prst="roundRect">
            <a:avLst>
              <a:gd name="adj" fmla="val 20833"/>
            </a:avLst>
          </a:prstGeom>
          <a:solidFill>
            <a:srgbClr val="E2E6FB"/>
          </a:solidFill>
          <a:ln/>
        </p:spPr>
      </p:sp>
      <p:sp>
        <p:nvSpPr>
          <p:cNvPr id="20" name="Text 18"/>
          <p:cNvSpPr txBox="1"/>
          <p:nvPr/>
        </p:nvSpPr>
        <p:spPr>
          <a:xfrm>
            <a:off x="3456432" y="2724912"/>
            <a:ext cx="1874520" cy="219456"/>
          </a:xfrm>
          <a:prstGeom prst="rect">
            <a:avLst/>
          </a:prstGeom>
          <a:noFill/>
          <a:ln/>
        </p:spPr>
        <p:txBody>
          <a:bodyPr wrap="square" lIns="0" tIns="0" rIns="0" bIns="0" rtlCol="0" anchor="ctr"/>
          <a:lstStyle/>
          <a:p>
            <a:pPr algn="ctr" indent="0" marL="0">
              <a:buNone/>
            </a:pPr>
            <a:r>
              <a:rPr lang="en-US" sz="800" b="1" dirty="0">
                <a:solidFill>
                  <a:srgbClr val="2F47D6"/>
                </a:solidFill>
                <a:latin typeface="Courier New" pitchFamily="34" charset="0"/>
                <a:ea typeface="Courier New" pitchFamily="34" charset="-122"/>
                <a:cs typeface="Courier New" pitchFamily="34" charset="-120"/>
              </a:rPr>
              <a:t>Closed-set deeplinks</a:t>
            </a:r>
            <a:endParaRPr lang="en-US" sz="800" dirty="0"/>
          </a:p>
        </p:txBody>
      </p:sp>
      <p:sp>
        <p:nvSpPr>
          <p:cNvPr id="21" name="Shape 19"/>
          <p:cNvSpPr/>
          <p:nvPr/>
        </p:nvSpPr>
        <p:spPr>
          <a:xfrm>
            <a:off x="3456432" y="3127248"/>
            <a:ext cx="1874520" cy="219456"/>
          </a:xfrm>
          <a:prstGeom prst="roundRect">
            <a:avLst>
              <a:gd name="adj" fmla="val 20833"/>
            </a:avLst>
          </a:prstGeom>
          <a:solidFill>
            <a:srgbClr val="EBE6DA"/>
          </a:solidFill>
          <a:ln/>
        </p:spPr>
      </p:sp>
      <p:sp>
        <p:nvSpPr>
          <p:cNvPr id="22" name="Text 20"/>
          <p:cNvSpPr txBox="1"/>
          <p:nvPr/>
        </p:nvSpPr>
        <p:spPr>
          <a:xfrm>
            <a:off x="3456432" y="3127248"/>
            <a:ext cx="1874520" cy="219456"/>
          </a:xfrm>
          <a:prstGeom prst="rect">
            <a:avLst/>
          </a:prstGeom>
          <a:noFill/>
          <a:ln/>
        </p:spPr>
        <p:txBody>
          <a:bodyPr wrap="square" lIns="0" tIns="0" rIns="0" bIns="0" rtlCol="0" anchor="ctr"/>
          <a:lstStyle/>
          <a:p>
            <a:pPr algn="ctr" indent="0" marL="0">
              <a:buNone/>
            </a:pPr>
            <a:r>
              <a:rPr lang="en-US" sz="800" b="1" dirty="0">
                <a:solidFill>
                  <a:srgbClr val="17140F"/>
                </a:solidFill>
                <a:latin typeface="Courier New" pitchFamily="34" charset="0"/>
                <a:ea typeface="Courier New" pitchFamily="34" charset="-122"/>
                <a:cs typeface="Courier New" pitchFamily="34" charset="-120"/>
              </a:rPr>
              <a:t>Rules enforced in code</a:t>
            </a:r>
            <a:endParaRPr lang="en-US" sz="800" dirty="0"/>
          </a:p>
        </p:txBody>
      </p:sp>
      <p:sp>
        <p:nvSpPr>
          <p:cNvPr id="23" name="Shape 21"/>
          <p:cNvSpPr/>
          <p:nvPr/>
        </p:nvSpPr>
        <p:spPr>
          <a:xfrm>
            <a:off x="5532120" y="2514600"/>
            <a:ext cx="365760" cy="914"/>
          </a:xfrm>
          <a:prstGeom prst="line">
            <a:avLst/>
          </a:prstGeom>
          <a:noFill/>
          <a:ln w="15875">
            <a:solidFill>
              <a:srgbClr val="17140F"/>
            </a:solidFill>
            <a:prstDash val="solid"/>
            <a:tailEnd type="triangle"/>
          </a:ln>
        </p:spPr>
      </p:sp>
      <p:sp>
        <p:nvSpPr>
          <p:cNvPr id="24" name="Shape 22"/>
          <p:cNvSpPr/>
          <p:nvPr/>
        </p:nvSpPr>
        <p:spPr>
          <a:xfrm>
            <a:off x="5943600" y="1280160"/>
            <a:ext cx="2743200" cy="2468880"/>
          </a:xfrm>
          <a:prstGeom prst="roundRect">
            <a:avLst>
              <a:gd name="adj" fmla="val 2963"/>
            </a:avLst>
          </a:prstGeom>
          <a:solidFill>
            <a:srgbClr val="FFFFFF"/>
          </a:solidFill>
          <a:ln w="9525">
            <a:solidFill>
              <a:srgbClr val="D9D2C3"/>
            </a:solidFill>
            <a:prstDash val="solid"/>
          </a:ln>
        </p:spPr>
      </p:sp>
      <p:sp>
        <p:nvSpPr>
          <p:cNvPr id="25" name="Shape 23"/>
          <p:cNvSpPr/>
          <p:nvPr/>
        </p:nvSpPr>
        <p:spPr>
          <a:xfrm>
            <a:off x="6080760" y="1389888"/>
            <a:ext cx="548640" cy="219456"/>
          </a:xfrm>
          <a:prstGeom prst="roundRect">
            <a:avLst>
              <a:gd name="adj" fmla="val 20833"/>
            </a:avLst>
          </a:prstGeom>
          <a:solidFill>
            <a:srgbClr val="EBE6DA"/>
          </a:solidFill>
          <a:ln/>
        </p:spPr>
      </p:sp>
      <p:sp>
        <p:nvSpPr>
          <p:cNvPr id="26" name="Text 24"/>
          <p:cNvSpPr txBox="1"/>
          <p:nvPr/>
        </p:nvSpPr>
        <p:spPr>
          <a:xfrm>
            <a:off x="6080760" y="1389888"/>
            <a:ext cx="548640" cy="219456"/>
          </a:xfrm>
          <a:prstGeom prst="rect">
            <a:avLst/>
          </a:prstGeom>
          <a:noFill/>
          <a:ln/>
        </p:spPr>
        <p:txBody>
          <a:bodyPr wrap="square" lIns="0" tIns="0" rIns="0" bIns="0" rtlCol="0" anchor="ctr"/>
          <a:lstStyle/>
          <a:p>
            <a:pPr algn="ctr" indent="0" marL="0">
              <a:buNone/>
            </a:pPr>
            <a:r>
              <a:rPr lang="en-US" sz="800" b="1" dirty="0">
                <a:solidFill>
                  <a:srgbClr val="4A453C"/>
                </a:solidFill>
                <a:latin typeface="Courier New" pitchFamily="34" charset="0"/>
                <a:ea typeface="Courier New" pitchFamily="34" charset="-122"/>
                <a:cs typeface="Courier New" pitchFamily="34" charset="-120"/>
              </a:rPr>
              <a:t>OUT</a:t>
            </a:r>
            <a:endParaRPr lang="en-US" sz="800" dirty="0"/>
          </a:p>
        </p:txBody>
      </p:sp>
      <p:sp>
        <p:nvSpPr>
          <p:cNvPr id="27" name="Text 25"/>
          <p:cNvSpPr txBox="1"/>
          <p:nvPr/>
        </p:nvSpPr>
        <p:spPr>
          <a:xfrm>
            <a:off x="6080760" y="1691640"/>
            <a:ext cx="2560320" cy="2011680"/>
          </a:xfrm>
          <a:prstGeom prst="rect">
            <a:avLst/>
          </a:prstGeom>
          <a:noFill/>
          <a:ln/>
        </p:spPr>
        <p:txBody>
          <a:bodyPr wrap="square" lIns="0" tIns="0" rIns="0" bIns="0" rtlCol="0" anchor="t"/>
          <a:lstStyle/>
          <a:p>
            <a:pPr indent="0" marL="0">
              <a:buNone/>
            </a:pPr>
            <a:r>
              <a:rPr lang="en-US" sz="750" dirty="0">
                <a:solidFill>
                  <a:srgbClr val="4A453C"/>
                </a:solidFill>
                <a:latin typeface="Courier New" pitchFamily="34" charset="0"/>
                <a:ea typeface="Courier New" pitchFamily="34" charset="-122"/>
                <a:cs typeface="Courier New" pitchFamily="34" charset="-120"/>
              </a:rPr>
              <a:t>{ "goal": "Follow these steps to</a:t>
            </a:r>
            <a:endParaRPr lang="en-US" sz="750" dirty="0"/>
          </a:p>
          <a:p>
            <a:pPr indent="0" marL="0">
              <a:buNone/>
            </a:pPr>
            <a:r>
              <a:rPr lang="en-US" sz="750" dirty="0">
                <a:solidFill>
                  <a:srgbClr val="4A453C"/>
                </a:solidFill>
                <a:latin typeface="Courier New" pitchFamily="34" charset="0"/>
                <a:ea typeface="Courier New" pitchFamily="34" charset="-122"/>
                <a:cs typeface="Courier New" pitchFamily="34" charset="-120"/>
              </a:rPr>
              <a:t>   perform this Screen Flicker</a:t>
            </a:r>
            <a:endParaRPr lang="en-US" sz="750" dirty="0"/>
          </a:p>
          <a:p>
            <a:pPr indent="0" marL="0">
              <a:buNone/>
            </a:pPr>
            <a:r>
              <a:rPr lang="en-US" sz="750" dirty="0">
                <a:solidFill>
                  <a:srgbClr val="4A453C"/>
                </a:solidFill>
                <a:latin typeface="Courier New" pitchFamily="34" charset="0"/>
                <a:ea typeface="Courier New" pitchFamily="34" charset="-122"/>
                <a:cs typeface="Courier New" pitchFamily="34" charset="-120"/>
              </a:rPr>
              <a:t>   Troubleshooting",</a:t>
            </a:r>
            <a:endParaRPr lang="en-US" sz="750" dirty="0"/>
          </a:p>
          <a:p>
            <a:pPr indent="0" marL="0">
              <a:buNone/>
            </a:pPr>
            <a:r>
              <a:rPr lang="en-US" sz="750" dirty="0">
                <a:solidFill>
                  <a:srgbClr val="4A453C"/>
                </a:solidFill>
                <a:latin typeface="Courier New" pitchFamily="34" charset="0"/>
                <a:ea typeface="Courier New" pitchFamily="34" charset="-122"/>
                <a:cs typeface="Courier New" pitchFamily="34" charset="-120"/>
              </a:rPr>
              <a:t>  "title": "Screen flicker fix",</a:t>
            </a:r>
            <a:endParaRPr lang="en-US" sz="750" dirty="0"/>
          </a:p>
          <a:p>
            <a:pPr indent="0" marL="0">
              <a:buNone/>
            </a:pPr>
            <a:r>
              <a:rPr lang="en-US" sz="750" dirty="0">
                <a:solidFill>
                  <a:srgbClr val="4A453C"/>
                </a:solidFill>
                <a:latin typeface="Courier New" pitchFamily="34" charset="0"/>
                <a:ea typeface="Courier New" pitchFamily="34" charset="-122"/>
                <a:cs typeface="Courier New" pitchFamily="34" charset="-120"/>
              </a:rPr>
              <a:t>  "actions": [ { "category": "auto",</a:t>
            </a:r>
            <a:endParaRPr lang="en-US" sz="750" dirty="0"/>
          </a:p>
          <a:p>
            <a:pPr indent="0" marL="0">
              <a:buNone/>
            </a:pPr>
            <a:r>
              <a:rPr lang="en-US" sz="750" dirty="0">
                <a:solidFill>
                  <a:srgbClr val="4A453C"/>
                </a:solidFill>
                <a:latin typeface="Courier New" pitchFamily="34" charset="0"/>
                <a:ea typeface="Courier New" pitchFamily="34" charset="-122"/>
                <a:cs typeface="Courier New" pitchFamily="34" charset="-120"/>
              </a:rPr>
              <a:t>    "stepGroups": [ { "steps": [...],</a:t>
            </a:r>
            <a:endParaRPr lang="en-US" sz="750" dirty="0"/>
          </a:p>
          <a:p>
            <a:pPr indent="0" marL="0">
              <a:buNone/>
            </a:pPr>
            <a:r>
              <a:rPr lang="en-US" sz="750" dirty="0">
                <a:solidFill>
                  <a:srgbClr val="4A453C"/>
                </a:solidFill>
                <a:latin typeface="Courier New" pitchFamily="34" charset="0"/>
                <a:ea typeface="Courier New" pitchFamily="34" charset="-122"/>
                <a:cs typeface="Courier New" pitchFamily="34" charset="-120"/>
              </a:rPr>
              <a:t>      "actionableDeeplink":</a:t>
            </a:r>
            <a:endParaRPr lang="en-US" sz="750" dirty="0"/>
          </a:p>
          <a:p>
            <a:pPr indent="0" marL="0">
              <a:buNone/>
            </a:pPr>
            <a:r>
              <a:rPr lang="en-US" sz="750" dirty="0">
                <a:solidFill>
                  <a:srgbClr val="4A453C"/>
                </a:solidFill>
                <a:latin typeface="Courier New" pitchFamily="34" charset="0"/>
                <a:ea typeface="Courier New" pitchFamily="34" charset="-122"/>
                <a:cs typeface="Courier New" pitchFamily="34" charset="-120"/>
              </a:rPr>
              <a:t>        "voiceassist://masked/act/…" } ] } ],</a:t>
            </a:r>
            <a:endParaRPr lang="en-US" sz="750" dirty="0"/>
          </a:p>
          <a:p>
            <a:pPr indent="0" marL="0">
              <a:buNone/>
            </a:pPr>
            <a:r>
              <a:rPr lang="en-US" sz="750" dirty="0">
                <a:solidFill>
                  <a:srgbClr val="4A453C"/>
                </a:solidFill>
                <a:latin typeface="Courier New" pitchFamily="34" charset="0"/>
                <a:ea typeface="Courier New" pitchFamily="34" charset="-122"/>
                <a:cs typeface="Courier New" pitchFamily="34" charset="-120"/>
              </a:rPr>
              <a:t>  "meta": { "latency_ms": 9,</a:t>
            </a:r>
            <a:endParaRPr lang="en-US" sz="750" dirty="0"/>
          </a:p>
          <a:p>
            <a:pPr indent="0" marL="0">
              <a:buNone/>
            </a:pPr>
            <a:r>
              <a:rPr lang="en-US" sz="750" dirty="0">
                <a:solidFill>
                  <a:srgbClr val="4A453C"/>
                </a:solidFill>
                <a:latin typeface="Courier New" pitchFamily="34" charset="0"/>
                <a:ea typeface="Courier New" pitchFamily="34" charset="-122"/>
                <a:cs typeface="Courier New" pitchFamily="34" charset="-120"/>
              </a:rPr>
              <a:t>            "cache_hit": true, "cost_usd": 0 } }</a:t>
            </a:r>
            <a:endParaRPr lang="en-US" sz="750" dirty="0"/>
          </a:p>
        </p:txBody>
      </p:sp>
      <p:sp>
        <p:nvSpPr>
          <p:cNvPr id="28" name="Shape 26"/>
          <p:cNvSpPr/>
          <p:nvPr/>
        </p:nvSpPr>
        <p:spPr>
          <a:xfrm>
            <a:off x="457200" y="3977640"/>
            <a:ext cx="1965960" cy="566928"/>
          </a:xfrm>
          <a:prstGeom prst="roundRect">
            <a:avLst>
              <a:gd name="adj" fmla="val 12903"/>
            </a:avLst>
          </a:prstGeom>
          <a:solidFill>
            <a:srgbClr val="FFFFFF"/>
          </a:solidFill>
          <a:ln w="9525">
            <a:solidFill>
              <a:srgbClr val="D9D2C3"/>
            </a:solidFill>
            <a:prstDash val="solid"/>
          </a:ln>
        </p:spPr>
      </p:sp>
      <p:pic>
        <p:nvPicPr>
          <p:cNvPr id="29" name="Image 0" descr="preencoded.png">    </p:cNvPr>
          <p:cNvPicPr>
            <a:picLocks noChangeAspect="1"/>
          </p:cNvPicPr>
          <p:nvPr/>
        </p:nvPicPr>
        <p:blipFill>
          <a:blip r:embed="rId1"/>
          <a:stretch>
            <a:fillRect/>
          </a:stretch>
        </p:blipFill>
        <p:spPr>
          <a:xfrm>
            <a:off x="566928" y="4142232"/>
            <a:ext cx="182880" cy="182880"/>
          </a:xfrm>
          <a:prstGeom prst="rect">
            <a:avLst/>
          </a:prstGeom>
        </p:spPr>
      </p:pic>
      <p:sp>
        <p:nvSpPr>
          <p:cNvPr id="30" name="Text 27"/>
          <p:cNvSpPr txBox="1"/>
          <p:nvPr/>
        </p:nvSpPr>
        <p:spPr>
          <a:xfrm>
            <a:off x="822960" y="3977640"/>
            <a:ext cx="1554480" cy="566928"/>
          </a:xfrm>
          <a:prstGeom prst="rect">
            <a:avLst/>
          </a:prstGeom>
          <a:noFill/>
          <a:ln/>
        </p:spPr>
        <p:txBody>
          <a:bodyPr wrap="square" lIns="0" tIns="0" rIns="0" bIns="0" rtlCol="0" anchor="ctr"/>
          <a:lstStyle/>
          <a:p>
            <a:pPr indent="0" marL="0">
              <a:buNone/>
            </a:pPr>
            <a:r>
              <a:rPr lang="en-US" sz="950" b="1" dirty="0">
                <a:solidFill>
                  <a:srgbClr val="17140F"/>
                </a:solidFill>
                <a:latin typeface="Calibri" pitchFamily="34" charset="0"/>
                <a:ea typeface="Calibri" pitchFamily="34" charset="-122"/>
                <a:cs typeface="Calibri" pitchFamily="34" charset="-120"/>
              </a:rPr>
              <a:t>Every step cited from the article</a:t>
            </a:r>
            <a:endParaRPr lang="en-US" sz="950" dirty="0"/>
          </a:p>
        </p:txBody>
      </p:sp>
      <p:sp>
        <p:nvSpPr>
          <p:cNvPr id="31" name="Shape 28"/>
          <p:cNvSpPr/>
          <p:nvPr/>
        </p:nvSpPr>
        <p:spPr>
          <a:xfrm>
            <a:off x="2560320" y="3977640"/>
            <a:ext cx="1965960" cy="566928"/>
          </a:xfrm>
          <a:prstGeom prst="roundRect">
            <a:avLst>
              <a:gd name="adj" fmla="val 12903"/>
            </a:avLst>
          </a:prstGeom>
          <a:solidFill>
            <a:srgbClr val="FFFFFF"/>
          </a:solidFill>
          <a:ln w="9525">
            <a:solidFill>
              <a:srgbClr val="D9D2C3"/>
            </a:solidFill>
            <a:prstDash val="solid"/>
          </a:ln>
        </p:spPr>
      </p:sp>
      <p:pic>
        <p:nvPicPr>
          <p:cNvPr id="32" name="Image 1" descr="preencoded.png">    </p:cNvPr>
          <p:cNvPicPr>
            <a:picLocks noChangeAspect="1"/>
          </p:cNvPicPr>
          <p:nvPr/>
        </p:nvPicPr>
        <p:blipFill>
          <a:blip r:embed="rId2"/>
          <a:stretch>
            <a:fillRect/>
          </a:stretch>
        </p:blipFill>
        <p:spPr>
          <a:xfrm>
            <a:off x="2670048" y="4142232"/>
            <a:ext cx="182880" cy="182880"/>
          </a:xfrm>
          <a:prstGeom prst="rect">
            <a:avLst/>
          </a:prstGeom>
        </p:spPr>
      </p:pic>
      <p:sp>
        <p:nvSpPr>
          <p:cNvPr id="33" name="Text 29"/>
          <p:cNvSpPr txBox="1"/>
          <p:nvPr/>
        </p:nvSpPr>
        <p:spPr>
          <a:xfrm>
            <a:off x="2926080" y="3977640"/>
            <a:ext cx="1554480" cy="566928"/>
          </a:xfrm>
          <a:prstGeom prst="rect">
            <a:avLst/>
          </a:prstGeom>
          <a:noFill/>
          <a:ln/>
        </p:spPr>
        <p:txBody>
          <a:bodyPr wrap="square" lIns="0" tIns="0" rIns="0" bIns="0" rtlCol="0" anchor="ctr"/>
          <a:lstStyle/>
          <a:p>
            <a:pPr indent="0" marL="0">
              <a:buNone/>
            </a:pPr>
            <a:r>
              <a:rPr lang="en-US" sz="950" b="1" dirty="0">
                <a:solidFill>
                  <a:srgbClr val="17140F"/>
                </a:solidFill>
                <a:latin typeface="Calibri" pitchFamily="34" charset="0"/>
                <a:ea typeface="Calibri" pitchFamily="34" charset="-122"/>
                <a:cs typeface="Calibri" pitchFamily="34" charset="-120"/>
              </a:rPr>
              <a:t>Links copied from the catalog, never generated</a:t>
            </a:r>
            <a:endParaRPr lang="en-US" sz="950" dirty="0"/>
          </a:p>
        </p:txBody>
      </p:sp>
      <p:sp>
        <p:nvSpPr>
          <p:cNvPr id="34" name="Shape 30"/>
          <p:cNvSpPr/>
          <p:nvPr/>
        </p:nvSpPr>
        <p:spPr>
          <a:xfrm>
            <a:off x="4663440" y="3977640"/>
            <a:ext cx="1965960" cy="566928"/>
          </a:xfrm>
          <a:prstGeom prst="roundRect">
            <a:avLst>
              <a:gd name="adj" fmla="val 12903"/>
            </a:avLst>
          </a:prstGeom>
          <a:solidFill>
            <a:srgbClr val="FFFFFF"/>
          </a:solidFill>
          <a:ln w="9525">
            <a:solidFill>
              <a:srgbClr val="D9D2C3"/>
            </a:solidFill>
            <a:prstDash val="solid"/>
          </a:ln>
        </p:spPr>
      </p:sp>
      <p:pic>
        <p:nvPicPr>
          <p:cNvPr id="35" name="Image 2" descr="preencoded.png">    </p:cNvPr>
          <p:cNvPicPr>
            <a:picLocks noChangeAspect="1"/>
          </p:cNvPicPr>
          <p:nvPr/>
        </p:nvPicPr>
        <p:blipFill>
          <a:blip r:embed="rId3"/>
          <a:stretch>
            <a:fillRect/>
          </a:stretch>
        </p:blipFill>
        <p:spPr>
          <a:xfrm>
            <a:off x="4773168" y="4142232"/>
            <a:ext cx="182880" cy="182880"/>
          </a:xfrm>
          <a:prstGeom prst="rect">
            <a:avLst/>
          </a:prstGeom>
        </p:spPr>
      </p:pic>
      <p:sp>
        <p:nvSpPr>
          <p:cNvPr id="36" name="Text 31"/>
          <p:cNvSpPr txBox="1"/>
          <p:nvPr/>
        </p:nvSpPr>
        <p:spPr>
          <a:xfrm>
            <a:off x="5029200" y="3977640"/>
            <a:ext cx="1554480" cy="566928"/>
          </a:xfrm>
          <a:prstGeom prst="rect">
            <a:avLst/>
          </a:prstGeom>
          <a:noFill/>
          <a:ln/>
        </p:spPr>
        <p:txBody>
          <a:bodyPr wrap="square" lIns="0" tIns="0" rIns="0" bIns="0" rtlCol="0" anchor="ctr"/>
          <a:lstStyle/>
          <a:p>
            <a:pPr indent="0" marL="0">
              <a:buNone/>
            </a:pPr>
            <a:r>
              <a:rPr lang="en-US" sz="950" b="1" dirty="0">
                <a:solidFill>
                  <a:srgbClr val="17140F"/>
                </a:solidFill>
                <a:latin typeface="Calibri" pitchFamily="34" charset="0"/>
                <a:ea typeface="Calibri" pitchFamily="34" charset="-122"/>
                <a:cs typeface="Calibri" pitchFamily="34" charset="-120"/>
              </a:rPr>
              <a:t>Safe fixes first, destructive last</a:t>
            </a:r>
            <a:endParaRPr lang="en-US" sz="950" dirty="0"/>
          </a:p>
        </p:txBody>
      </p:sp>
      <p:sp>
        <p:nvSpPr>
          <p:cNvPr id="37" name="Shape 32"/>
          <p:cNvSpPr/>
          <p:nvPr/>
        </p:nvSpPr>
        <p:spPr>
          <a:xfrm>
            <a:off x="6766560" y="3977640"/>
            <a:ext cx="1965960" cy="566928"/>
          </a:xfrm>
          <a:prstGeom prst="roundRect">
            <a:avLst>
              <a:gd name="adj" fmla="val 12903"/>
            </a:avLst>
          </a:prstGeom>
          <a:solidFill>
            <a:srgbClr val="FFFFFF"/>
          </a:solidFill>
          <a:ln w="9525">
            <a:solidFill>
              <a:srgbClr val="D9D2C3"/>
            </a:solidFill>
            <a:prstDash val="solid"/>
          </a:ln>
        </p:spPr>
      </p:sp>
      <p:pic>
        <p:nvPicPr>
          <p:cNvPr id="38" name="Image 3" descr="preencoded.png">    </p:cNvPr>
          <p:cNvPicPr>
            <a:picLocks noChangeAspect="1"/>
          </p:cNvPicPr>
          <p:nvPr/>
        </p:nvPicPr>
        <p:blipFill>
          <a:blip r:embed="rId4"/>
          <a:stretch>
            <a:fillRect/>
          </a:stretch>
        </p:blipFill>
        <p:spPr>
          <a:xfrm>
            <a:off x="6876288" y="4142232"/>
            <a:ext cx="182880" cy="182880"/>
          </a:xfrm>
          <a:prstGeom prst="rect">
            <a:avLst/>
          </a:prstGeom>
        </p:spPr>
      </p:pic>
      <p:sp>
        <p:nvSpPr>
          <p:cNvPr id="39" name="Text 33"/>
          <p:cNvSpPr txBox="1"/>
          <p:nvPr/>
        </p:nvSpPr>
        <p:spPr>
          <a:xfrm>
            <a:off x="7132320" y="3977640"/>
            <a:ext cx="1554480" cy="566928"/>
          </a:xfrm>
          <a:prstGeom prst="rect">
            <a:avLst/>
          </a:prstGeom>
          <a:noFill/>
          <a:ln/>
        </p:spPr>
        <p:txBody>
          <a:bodyPr wrap="square" lIns="0" tIns="0" rIns="0" bIns="0" rtlCol="0" anchor="ctr"/>
          <a:lstStyle/>
          <a:p>
            <a:pPr indent="0" marL="0">
              <a:buNone/>
            </a:pPr>
            <a:r>
              <a:rPr lang="en-US" sz="950" b="1" dirty="0">
                <a:solidFill>
                  <a:srgbClr val="17140F"/>
                </a:solidFill>
                <a:latin typeface="Calibri" pitchFamily="34" charset="0"/>
                <a:ea typeface="Calibri" pitchFamily="34" charset="-122"/>
                <a:cs typeface="Calibri" pitchFamily="34" charset="-120"/>
              </a:rPr>
              <a:t>No source → honest no_match</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03 · ARCHITECTURE</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Two paths: remember fast, reason carefully</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04 / 18</a:t>
            </a:r>
            <a:endParaRPr lang="en-US" sz="750" dirty="0"/>
          </a:p>
        </p:txBody>
      </p:sp>
      <p:sp>
        <p:nvSpPr>
          <p:cNvPr id="6" name="Shape 4"/>
          <p:cNvSpPr/>
          <p:nvPr/>
        </p:nvSpPr>
        <p:spPr>
          <a:xfrm>
            <a:off x="457200" y="1179576"/>
            <a:ext cx="2377440" cy="219456"/>
          </a:xfrm>
          <a:prstGeom prst="roundRect">
            <a:avLst>
              <a:gd name="adj" fmla="val 20833"/>
            </a:avLst>
          </a:prstGeom>
          <a:solidFill>
            <a:srgbClr val="DCEFE4"/>
          </a:solidFill>
          <a:ln/>
        </p:spPr>
      </p:sp>
      <p:sp>
        <p:nvSpPr>
          <p:cNvPr id="7" name="Text 5"/>
          <p:cNvSpPr txBox="1"/>
          <p:nvPr/>
        </p:nvSpPr>
        <p:spPr>
          <a:xfrm>
            <a:off x="457200" y="1179576"/>
            <a:ext cx="2377440" cy="219456"/>
          </a:xfrm>
          <a:prstGeom prst="rect">
            <a:avLst/>
          </a:prstGeom>
          <a:noFill/>
          <a:ln/>
        </p:spPr>
        <p:txBody>
          <a:bodyPr wrap="square" lIns="0" tIns="0" rIns="0" bIns="0" rtlCol="0" anchor="ctr"/>
          <a:lstStyle/>
          <a:p>
            <a:pPr algn="ctr" indent="0" marL="0">
              <a:buNone/>
            </a:pPr>
            <a:r>
              <a:rPr lang="en-US" sz="800" b="1" dirty="0">
                <a:solidFill>
                  <a:srgbClr val="1D7A52"/>
                </a:solidFill>
                <a:latin typeface="Courier New" pitchFamily="34" charset="0"/>
                <a:ea typeface="Courier New" pitchFamily="34" charset="-122"/>
                <a:cs typeface="Courier New" pitchFamily="34" charset="-120"/>
              </a:rPr>
              <a:t>HOT PATH  ·  ~10 ms  ·  $0</a:t>
            </a:r>
            <a:endParaRPr lang="en-US" sz="800" dirty="0"/>
          </a:p>
        </p:txBody>
      </p:sp>
      <p:sp>
        <p:nvSpPr>
          <p:cNvPr id="8" name="Shape 6"/>
          <p:cNvSpPr/>
          <p:nvPr/>
        </p:nvSpPr>
        <p:spPr>
          <a:xfrm>
            <a:off x="457200" y="1508760"/>
            <a:ext cx="1463040" cy="731520"/>
          </a:xfrm>
          <a:prstGeom prst="roundRect">
            <a:avLst>
              <a:gd name="adj" fmla="val 10000"/>
            </a:avLst>
          </a:prstGeom>
          <a:solidFill>
            <a:srgbClr val="FFFFFF"/>
          </a:solidFill>
          <a:ln w="12700">
            <a:solidFill>
              <a:srgbClr val="17140F"/>
            </a:solidFill>
            <a:prstDash val="solid"/>
          </a:ln>
        </p:spPr>
      </p:sp>
      <p:sp>
        <p:nvSpPr>
          <p:cNvPr id="9" name="Text 7"/>
          <p:cNvSpPr txBox="1"/>
          <p:nvPr/>
        </p:nvSpPr>
        <p:spPr>
          <a:xfrm>
            <a:off x="530352" y="1563624"/>
            <a:ext cx="1316736" cy="274320"/>
          </a:xfrm>
          <a:prstGeom prst="rect">
            <a:avLst/>
          </a:prstGeom>
          <a:noFill/>
          <a:ln/>
        </p:spPr>
        <p:txBody>
          <a:bodyPr wrap="square" lIns="0" tIns="0" rIns="0" bIns="0" rtlCol="0" anchor="t"/>
          <a:lstStyle/>
          <a:p>
            <a:pPr indent="0" marL="0">
              <a:buNone/>
            </a:pPr>
            <a:r>
              <a:rPr lang="en-US" sz="950" b="1" dirty="0">
                <a:solidFill>
                  <a:srgbClr val="17140F"/>
                </a:solidFill>
                <a:latin typeface="Calibri" pitchFamily="34" charset="0"/>
                <a:ea typeface="Calibri" pitchFamily="34" charset="-122"/>
                <a:cs typeface="Calibri" pitchFamily="34" charset="-120"/>
              </a:rPr>
              <a:t>Normalise</a:t>
            </a:r>
            <a:endParaRPr lang="en-US" sz="950" dirty="0"/>
          </a:p>
        </p:txBody>
      </p:sp>
      <p:sp>
        <p:nvSpPr>
          <p:cNvPr id="10" name="Text 8"/>
          <p:cNvSpPr txBox="1"/>
          <p:nvPr/>
        </p:nvSpPr>
        <p:spPr>
          <a:xfrm>
            <a:off x="530352" y="1819656"/>
            <a:ext cx="1316736" cy="384048"/>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typos, Hinglish, enumerations</a:t>
            </a:r>
            <a:endParaRPr lang="en-US" sz="800" dirty="0"/>
          </a:p>
        </p:txBody>
      </p:sp>
      <p:sp>
        <p:nvSpPr>
          <p:cNvPr id="11" name="Shape 9"/>
          <p:cNvSpPr/>
          <p:nvPr/>
        </p:nvSpPr>
        <p:spPr>
          <a:xfrm>
            <a:off x="1938528" y="1874520"/>
            <a:ext cx="182880" cy="914"/>
          </a:xfrm>
          <a:prstGeom prst="line">
            <a:avLst/>
          </a:prstGeom>
          <a:noFill/>
          <a:ln w="15875">
            <a:solidFill>
              <a:srgbClr val="4A453C"/>
            </a:solidFill>
            <a:prstDash val="solid"/>
            <a:tailEnd type="triangle"/>
          </a:ln>
        </p:spPr>
      </p:sp>
      <p:sp>
        <p:nvSpPr>
          <p:cNvPr id="12" name="Shape 10"/>
          <p:cNvSpPr/>
          <p:nvPr/>
        </p:nvSpPr>
        <p:spPr>
          <a:xfrm>
            <a:off x="2139696" y="1508760"/>
            <a:ext cx="1463040" cy="731520"/>
          </a:xfrm>
          <a:prstGeom prst="roundRect">
            <a:avLst>
              <a:gd name="adj" fmla="val 10000"/>
            </a:avLst>
          </a:prstGeom>
          <a:solidFill>
            <a:srgbClr val="FFFFFF"/>
          </a:solidFill>
          <a:ln w="12700">
            <a:solidFill>
              <a:srgbClr val="17140F"/>
            </a:solidFill>
            <a:prstDash val="solid"/>
          </a:ln>
        </p:spPr>
      </p:sp>
      <p:sp>
        <p:nvSpPr>
          <p:cNvPr id="13" name="Text 11"/>
          <p:cNvSpPr txBox="1"/>
          <p:nvPr/>
        </p:nvSpPr>
        <p:spPr>
          <a:xfrm>
            <a:off x="2212848" y="1563624"/>
            <a:ext cx="1316736" cy="274320"/>
          </a:xfrm>
          <a:prstGeom prst="rect">
            <a:avLst/>
          </a:prstGeom>
          <a:noFill/>
          <a:ln/>
        </p:spPr>
        <p:txBody>
          <a:bodyPr wrap="square" lIns="0" tIns="0" rIns="0" bIns="0" rtlCol="0" anchor="t"/>
          <a:lstStyle/>
          <a:p>
            <a:pPr indent="0" marL="0">
              <a:buNone/>
            </a:pPr>
            <a:r>
              <a:rPr lang="en-US" sz="950" b="1" dirty="0">
                <a:solidFill>
                  <a:srgbClr val="17140F"/>
                </a:solidFill>
                <a:latin typeface="Calibri" pitchFamily="34" charset="0"/>
                <a:ea typeface="Calibri" pitchFamily="34" charset="-122"/>
                <a:cs typeface="Calibri" pitchFamily="34" charset="-120"/>
              </a:rPr>
              <a:t>Embed</a:t>
            </a:r>
            <a:endParaRPr lang="en-US" sz="950" dirty="0"/>
          </a:p>
        </p:txBody>
      </p:sp>
      <p:sp>
        <p:nvSpPr>
          <p:cNvPr id="14" name="Text 12"/>
          <p:cNvSpPr txBox="1"/>
          <p:nvPr/>
        </p:nvSpPr>
        <p:spPr>
          <a:xfrm>
            <a:off x="2212848" y="1819656"/>
            <a:ext cx="1316736" cy="384048"/>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bge-small, ONNX, CPU (~7 ms)</a:t>
            </a:r>
            <a:endParaRPr lang="en-US" sz="800" dirty="0"/>
          </a:p>
        </p:txBody>
      </p:sp>
      <p:sp>
        <p:nvSpPr>
          <p:cNvPr id="15" name="Shape 13"/>
          <p:cNvSpPr/>
          <p:nvPr/>
        </p:nvSpPr>
        <p:spPr>
          <a:xfrm>
            <a:off x="3621024" y="1874520"/>
            <a:ext cx="182880" cy="914"/>
          </a:xfrm>
          <a:prstGeom prst="line">
            <a:avLst/>
          </a:prstGeom>
          <a:noFill/>
          <a:ln w="15875">
            <a:solidFill>
              <a:srgbClr val="4A453C"/>
            </a:solidFill>
            <a:prstDash val="solid"/>
            <a:tailEnd type="triangle"/>
          </a:ln>
        </p:spPr>
      </p:sp>
      <p:sp>
        <p:nvSpPr>
          <p:cNvPr id="16" name="Shape 14"/>
          <p:cNvSpPr/>
          <p:nvPr/>
        </p:nvSpPr>
        <p:spPr>
          <a:xfrm>
            <a:off x="3822192" y="1508760"/>
            <a:ext cx="1463040" cy="731520"/>
          </a:xfrm>
          <a:prstGeom prst="roundRect">
            <a:avLst>
              <a:gd name="adj" fmla="val 10000"/>
            </a:avLst>
          </a:prstGeom>
          <a:solidFill>
            <a:srgbClr val="FFFFFF"/>
          </a:solidFill>
          <a:ln w="12700">
            <a:solidFill>
              <a:srgbClr val="17140F"/>
            </a:solidFill>
            <a:prstDash val="solid"/>
          </a:ln>
        </p:spPr>
      </p:sp>
      <p:sp>
        <p:nvSpPr>
          <p:cNvPr id="17" name="Text 15"/>
          <p:cNvSpPr txBox="1"/>
          <p:nvPr/>
        </p:nvSpPr>
        <p:spPr>
          <a:xfrm>
            <a:off x="3895344" y="1563624"/>
            <a:ext cx="1316736" cy="274320"/>
          </a:xfrm>
          <a:prstGeom prst="rect">
            <a:avLst/>
          </a:prstGeom>
          <a:noFill/>
          <a:ln/>
        </p:spPr>
        <p:txBody>
          <a:bodyPr wrap="square" lIns="0" tIns="0" rIns="0" bIns="0" rtlCol="0" anchor="t"/>
          <a:lstStyle/>
          <a:p>
            <a:pPr indent="0" marL="0">
              <a:buNone/>
            </a:pPr>
            <a:r>
              <a:rPr lang="en-US" sz="950" b="1" dirty="0">
                <a:solidFill>
                  <a:srgbClr val="17140F"/>
                </a:solidFill>
                <a:latin typeface="Calibri" pitchFamily="34" charset="0"/>
                <a:ea typeface="Calibri" pitchFamily="34" charset="-122"/>
                <a:cs typeface="Calibri" pitchFamily="34" charset="-120"/>
              </a:rPr>
              <a:t>Match</a:t>
            </a:r>
            <a:endParaRPr lang="en-US" sz="950" dirty="0"/>
          </a:p>
        </p:txBody>
      </p:sp>
      <p:sp>
        <p:nvSpPr>
          <p:cNvPr id="18" name="Text 16"/>
          <p:cNvSpPr txBox="1"/>
          <p:nvPr/>
        </p:nvSpPr>
        <p:spPr>
          <a:xfrm>
            <a:off x="3895344" y="1819656"/>
            <a:ext cx="1316736" cy="384048"/>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cosine over paraphrase cloud, τ = 0.87</a:t>
            </a:r>
            <a:endParaRPr lang="en-US" sz="800" dirty="0"/>
          </a:p>
        </p:txBody>
      </p:sp>
      <p:sp>
        <p:nvSpPr>
          <p:cNvPr id="19" name="Shape 17"/>
          <p:cNvSpPr/>
          <p:nvPr/>
        </p:nvSpPr>
        <p:spPr>
          <a:xfrm>
            <a:off x="5303520" y="1874520"/>
            <a:ext cx="182880" cy="914"/>
          </a:xfrm>
          <a:prstGeom prst="line">
            <a:avLst/>
          </a:prstGeom>
          <a:noFill/>
          <a:ln w="15875">
            <a:solidFill>
              <a:srgbClr val="4A453C"/>
            </a:solidFill>
            <a:prstDash val="solid"/>
            <a:tailEnd type="triangle"/>
          </a:ln>
        </p:spPr>
      </p:sp>
      <p:sp>
        <p:nvSpPr>
          <p:cNvPr id="20" name="Shape 18"/>
          <p:cNvSpPr/>
          <p:nvPr/>
        </p:nvSpPr>
        <p:spPr>
          <a:xfrm>
            <a:off x="5504688" y="1508760"/>
            <a:ext cx="1463040" cy="731520"/>
          </a:xfrm>
          <a:prstGeom prst="roundRect">
            <a:avLst>
              <a:gd name="adj" fmla="val 10000"/>
            </a:avLst>
          </a:prstGeom>
          <a:solidFill>
            <a:srgbClr val="FFFFFF"/>
          </a:solidFill>
          <a:ln w="12700">
            <a:solidFill>
              <a:srgbClr val="17140F"/>
            </a:solidFill>
            <a:prstDash val="solid"/>
          </a:ln>
        </p:spPr>
      </p:sp>
      <p:sp>
        <p:nvSpPr>
          <p:cNvPr id="21" name="Text 19"/>
          <p:cNvSpPr txBox="1"/>
          <p:nvPr/>
        </p:nvSpPr>
        <p:spPr>
          <a:xfrm>
            <a:off x="5577840" y="1563624"/>
            <a:ext cx="1316736" cy="274320"/>
          </a:xfrm>
          <a:prstGeom prst="rect">
            <a:avLst/>
          </a:prstGeom>
          <a:noFill/>
          <a:ln/>
        </p:spPr>
        <p:txBody>
          <a:bodyPr wrap="square" lIns="0" tIns="0" rIns="0" bIns="0" rtlCol="0" anchor="t"/>
          <a:lstStyle/>
          <a:p>
            <a:pPr indent="0" marL="0">
              <a:buNone/>
            </a:pPr>
            <a:r>
              <a:rPr lang="en-US" sz="950" b="1" dirty="0">
                <a:solidFill>
                  <a:srgbClr val="17140F"/>
                </a:solidFill>
                <a:latin typeface="Calibri" pitchFamily="34" charset="0"/>
                <a:ea typeface="Calibri" pitchFamily="34" charset="-122"/>
                <a:cs typeface="Calibri" pitchFamily="34" charset="-120"/>
              </a:rPr>
              <a:t>Guard</a:t>
            </a:r>
            <a:endParaRPr lang="en-US" sz="950" dirty="0"/>
          </a:p>
        </p:txBody>
      </p:sp>
      <p:sp>
        <p:nvSpPr>
          <p:cNvPr id="22" name="Text 20"/>
          <p:cNvSpPr txBox="1"/>
          <p:nvPr/>
        </p:nvSpPr>
        <p:spPr>
          <a:xfrm>
            <a:off x="5577840" y="1819656"/>
            <a:ext cx="1316736" cy="384048"/>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polarity · symptoms · context · source</a:t>
            </a:r>
            <a:endParaRPr lang="en-US" sz="800" dirty="0"/>
          </a:p>
        </p:txBody>
      </p:sp>
      <p:sp>
        <p:nvSpPr>
          <p:cNvPr id="23" name="Shape 21"/>
          <p:cNvSpPr/>
          <p:nvPr/>
        </p:nvSpPr>
        <p:spPr>
          <a:xfrm>
            <a:off x="6986016" y="1874520"/>
            <a:ext cx="182880" cy="914"/>
          </a:xfrm>
          <a:prstGeom prst="line">
            <a:avLst/>
          </a:prstGeom>
          <a:noFill/>
          <a:ln w="15875">
            <a:solidFill>
              <a:srgbClr val="4A453C"/>
            </a:solidFill>
            <a:prstDash val="solid"/>
            <a:tailEnd type="triangle"/>
          </a:ln>
        </p:spPr>
      </p:sp>
      <p:sp>
        <p:nvSpPr>
          <p:cNvPr id="24" name="Shape 22"/>
          <p:cNvSpPr/>
          <p:nvPr/>
        </p:nvSpPr>
        <p:spPr>
          <a:xfrm>
            <a:off x="7187184" y="1508760"/>
            <a:ext cx="1463040" cy="731520"/>
          </a:xfrm>
          <a:prstGeom prst="roundRect">
            <a:avLst>
              <a:gd name="adj" fmla="val 10000"/>
            </a:avLst>
          </a:prstGeom>
          <a:solidFill>
            <a:srgbClr val="FFFFFF"/>
          </a:solidFill>
          <a:ln w="12700">
            <a:solidFill>
              <a:srgbClr val="17140F"/>
            </a:solidFill>
            <a:prstDash val="solid"/>
          </a:ln>
        </p:spPr>
      </p:sp>
      <p:sp>
        <p:nvSpPr>
          <p:cNvPr id="25" name="Text 23"/>
          <p:cNvSpPr txBox="1"/>
          <p:nvPr/>
        </p:nvSpPr>
        <p:spPr>
          <a:xfrm>
            <a:off x="7260336" y="1563624"/>
            <a:ext cx="1316736" cy="274320"/>
          </a:xfrm>
          <a:prstGeom prst="rect">
            <a:avLst/>
          </a:prstGeom>
          <a:noFill/>
          <a:ln/>
        </p:spPr>
        <p:txBody>
          <a:bodyPr wrap="square" lIns="0" tIns="0" rIns="0" bIns="0" rtlCol="0" anchor="t"/>
          <a:lstStyle/>
          <a:p>
            <a:pPr indent="0" marL="0">
              <a:buNone/>
            </a:pPr>
            <a:r>
              <a:rPr lang="en-US" sz="950" b="1" dirty="0">
                <a:solidFill>
                  <a:srgbClr val="17140F"/>
                </a:solidFill>
                <a:latin typeface="Calibri" pitchFamily="34" charset="0"/>
                <a:ea typeface="Calibri" pitchFamily="34" charset="-122"/>
                <a:cs typeface="Calibri" pitchFamily="34" charset="-120"/>
              </a:rPr>
              <a:t>Serve plan</a:t>
            </a:r>
            <a:endParaRPr lang="en-US" sz="950" dirty="0"/>
          </a:p>
        </p:txBody>
      </p:sp>
      <p:sp>
        <p:nvSpPr>
          <p:cNvPr id="26" name="Text 24"/>
          <p:cNvSpPr txBox="1"/>
          <p:nvPr/>
        </p:nvSpPr>
        <p:spPr>
          <a:xfrm>
            <a:off x="7260336" y="1819656"/>
            <a:ext cx="1316736" cy="384048"/>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validated at compile time</a:t>
            </a:r>
            <a:endParaRPr lang="en-US" sz="800" dirty="0"/>
          </a:p>
        </p:txBody>
      </p:sp>
      <p:sp>
        <p:nvSpPr>
          <p:cNvPr id="27" name="Shape 25"/>
          <p:cNvSpPr/>
          <p:nvPr/>
        </p:nvSpPr>
        <p:spPr>
          <a:xfrm>
            <a:off x="457200" y="2596896"/>
            <a:ext cx="2377440" cy="219456"/>
          </a:xfrm>
          <a:prstGeom prst="roundRect">
            <a:avLst>
              <a:gd name="adj" fmla="val 20833"/>
            </a:avLst>
          </a:prstGeom>
          <a:solidFill>
            <a:srgbClr val="FFE4D6"/>
          </a:solidFill>
          <a:ln/>
        </p:spPr>
      </p:sp>
      <p:sp>
        <p:nvSpPr>
          <p:cNvPr id="28" name="Text 26"/>
          <p:cNvSpPr txBox="1"/>
          <p:nvPr/>
        </p:nvSpPr>
        <p:spPr>
          <a:xfrm>
            <a:off x="457200" y="2596896"/>
            <a:ext cx="2377440" cy="219456"/>
          </a:xfrm>
          <a:prstGeom prst="rect">
            <a:avLst/>
          </a:prstGeom>
          <a:noFill/>
          <a:ln/>
        </p:spPr>
        <p:txBody>
          <a:bodyPr wrap="square" lIns="0" tIns="0" rIns="0" bIns="0" rtlCol="0" anchor="ctr"/>
          <a:lstStyle/>
          <a:p>
            <a:pPr algn="ctr" indent="0" marL="0">
              <a:buNone/>
            </a:pPr>
            <a:r>
              <a:rPr lang="en-US" sz="800" b="1" dirty="0">
                <a:solidFill>
                  <a:srgbClr val="B93A0B"/>
                </a:solidFill>
                <a:latin typeface="Courier New" pitchFamily="34" charset="0"/>
                <a:ea typeface="Courier New" pitchFamily="34" charset="-122"/>
                <a:cs typeface="Courier New" pitchFamily="34" charset="-120"/>
              </a:rPr>
              <a:t>COLD PATH  ·  ~3 s  ·  ~$0.001</a:t>
            </a:r>
            <a:endParaRPr lang="en-US" sz="800" dirty="0"/>
          </a:p>
        </p:txBody>
      </p:sp>
      <p:sp>
        <p:nvSpPr>
          <p:cNvPr id="29" name="Shape 27"/>
          <p:cNvSpPr/>
          <p:nvPr/>
        </p:nvSpPr>
        <p:spPr>
          <a:xfrm>
            <a:off x="457200" y="2926080"/>
            <a:ext cx="1463040" cy="731520"/>
          </a:xfrm>
          <a:prstGeom prst="roundRect">
            <a:avLst>
              <a:gd name="adj" fmla="val 10000"/>
            </a:avLst>
          </a:prstGeom>
          <a:solidFill>
            <a:srgbClr val="FFE4D6"/>
          </a:solidFill>
          <a:ln w="12700">
            <a:solidFill>
              <a:srgbClr val="FF5A1F"/>
            </a:solidFill>
            <a:prstDash val="solid"/>
          </a:ln>
        </p:spPr>
      </p:sp>
      <p:sp>
        <p:nvSpPr>
          <p:cNvPr id="30" name="Text 28"/>
          <p:cNvSpPr txBox="1"/>
          <p:nvPr/>
        </p:nvSpPr>
        <p:spPr>
          <a:xfrm>
            <a:off x="530352" y="2980944"/>
            <a:ext cx="1316736" cy="274320"/>
          </a:xfrm>
          <a:prstGeom prst="rect">
            <a:avLst/>
          </a:prstGeom>
          <a:noFill/>
          <a:ln/>
        </p:spPr>
        <p:txBody>
          <a:bodyPr wrap="square" lIns="0" tIns="0" rIns="0" bIns="0" rtlCol="0" anchor="t"/>
          <a:lstStyle/>
          <a:p>
            <a:pPr indent="0" marL="0">
              <a:buNone/>
            </a:pPr>
            <a:r>
              <a:rPr lang="en-US" sz="950" b="1" dirty="0">
                <a:solidFill>
                  <a:srgbClr val="B93A0B"/>
                </a:solidFill>
                <a:latin typeface="Calibri" pitchFamily="34" charset="0"/>
                <a:ea typeface="Calibri" pitchFamily="34" charset="-122"/>
                <a:cs typeface="Calibri" pitchFamily="34" charset="-120"/>
              </a:rPr>
              <a:t>Enrich ∥ Extract</a:t>
            </a:r>
            <a:endParaRPr lang="en-US" sz="950" dirty="0"/>
          </a:p>
        </p:txBody>
      </p:sp>
      <p:sp>
        <p:nvSpPr>
          <p:cNvPr id="31" name="Text 29"/>
          <p:cNvSpPr txBox="1"/>
          <p:nvPr/>
        </p:nvSpPr>
        <p:spPr>
          <a:xfrm>
            <a:off x="530352" y="3236976"/>
            <a:ext cx="1316736" cy="384048"/>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LLM: 8-10 rewordings; cited steps</a:t>
            </a:r>
            <a:endParaRPr lang="en-US" sz="800" dirty="0"/>
          </a:p>
        </p:txBody>
      </p:sp>
      <p:sp>
        <p:nvSpPr>
          <p:cNvPr id="32" name="Shape 30"/>
          <p:cNvSpPr/>
          <p:nvPr/>
        </p:nvSpPr>
        <p:spPr>
          <a:xfrm>
            <a:off x="1938528" y="3291840"/>
            <a:ext cx="182880" cy="914"/>
          </a:xfrm>
          <a:prstGeom prst="line">
            <a:avLst/>
          </a:prstGeom>
          <a:noFill/>
          <a:ln w="15875">
            <a:solidFill>
              <a:srgbClr val="4A453C"/>
            </a:solidFill>
            <a:prstDash val="solid"/>
            <a:tailEnd type="triangle"/>
          </a:ln>
        </p:spPr>
      </p:sp>
      <p:sp>
        <p:nvSpPr>
          <p:cNvPr id="33" name="Shape 31"/>
          <p:cNvSpPr/>
          <p:nvPr/>
        </p:nvSpPr>
        <p:spPr>
          <a:xfrm>
            <a:off x="2139696" y="2926080"/>
            <a:ext cx="1463040" cy="731520"/>
          </a:xfrm>
          <a:prstGeom prst="roundRect">
            <a:avLst>
              <a:gd name="adj" fmla="val 10000"/>
            </a:avLst>
          </a:prstGeom>
          <a:solidFill>
            <a:srgbClr val="FFFFFF"/>
          </a:solidFill>
          <a:ln w="12700">
            <a:solidFill>
              <a:srgbClr val="17140F"/>
            </a:solidFill>
            <a:prstDash val="solid"/>
          </a:ln>
        </p:spPr>
      </p:sp>
      <p:sp>
        <p:nvSpPr>
          <p:cNvPr id="34" name="Text 32"/>
          <p:cNvSpPr txBox="1"/>
          <p:nvPr/>
        </p:nvSpPr>
        <p:spPr>
          <a:xfrm>
            <a:off x="2212848" y="2980944"/>
            <a:ext cx="1316736" cy="274320"/>
          </a:xfrm>
          <a:prstGeom prst="rect">
            <a:avLst/>
          </a:prstGeom>
          <a:noFill/>
          <a:ln/>
        </p:spPr>
        <p:txBody>
          <a:bodyPr wrap="square" lIns="0" tIns="0" rIns="0" bIns="0" rtlCol="0" anchor="t"/>
          <a:lstStyle/>
          <a:p>
            <a:pPr indent="0" marL="0">
              <a:buNone/>
            </a:pPr>
            <a:r>
              <a:rPr lang="en-US" sz="950" b="1" dirty="0">
                <a:solidFill>
                  <a:srgbClr val="17140F"/>
                </a:solidFill>
                <a:latin typeface="Calibri" pitchFamily="34" charset="0"/>
                <a:ea typeface="Calibri" pitchFamily="34" charset="-122"/>
                <a:cs typeface="Calibri" pitchFamily="34" charset="-120"/>
              </a:rPr>
              <a:t>Ground</a:t>
            </a:r>
            <a:endParaRPr lang="en-US" sz="950" dirty="0"/>
          </a:p>
        </p:txBody>
      </p:sp>
      <p:sp>
        <p:nvSpPr>
          <p:cNvPr id="35" name="Text 33"/>
          <p:cNvSpPr txBox="1"/>
          <p:nvPr/>
        </p:nvSpPr>
        <p:spPr>
          <a:xfrm>
            <a:off x="2212848" y="3236976"/>
            <a:ext cx="1316736" cy="384048"/>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drop unsupported, invented, outcome steps</a:t>
            </a:r>
            <a:endParaRPr lang="en-US" sz="800" dirty="0"/>
          </a:p>
        </p:txBody>
      </p:sp>
      <p:sp>
        <p:nvSpPr>
          <p:cNvPr id="36" name="Shape 34"/>
          <p:cNvSpPr/>
          <p:nvPr/>
        </p:nvSpPr>
        <p:spPr>
          <a:xfrm>
            <a:off x="3621024" y="3291840"/>
            <a:ext cx="182880" cy="914"/>
          </a:xfrm>
          <a:prstGeom prst="line">
            <a:avLst/>
          </a:prstGeom>
          <a:noFill/>
          <a:ln w="15875">
            <a:solidFill>
              <a:srgbClr val="4A453C"/>
            </a:solidFill>
            <a:prstDash val="solid"/>
            <a:tailEnd type="triangle"/>
          </a:ln>
        </p:spPr>
      </p:sp>
      <p:sp>
        <p:nvSpPr>
          <p:cNvPr id="37" name="Shape 35"/>
          <p:cNvSpPr/>
          <p:nvPr/>
        </p:nvSpPr>
        <p:spPr>
          <a:xfrm>
            <a:off x="3822192" y="2926080"/>
            <a:ext cx="1463040" cy="731520"/>
          </a:xfrm>
          <a:prstGeom prst="roundRect">
            <a:avLst>
              <a:gd name="adj" fmla="val 10000"/>
            </a:avLst>
          </a:prstGeom>
          <a:solidFill>
            <a:srgbClr val="FFFFFF"/>
          </a:solidFill>
          <a:ln w="12700">
            <a:solidFill>
              <a:srgbClr val="17140F"/>
            </a:solidFill>
            <a:prstDash val="solid"/>
          </a:ln>
        </p:spPr>
      </p:sp>
      <p:sp>
        <p:nvSpPr>
          <p:cNvPr id="38" name="Text 36"/>
          <p:cNvSpPr txBox="1"/>
          <p:nvPr/>
        </p:nvSpPr>
        <p:spPr>
          <a:xfrm>
            <a:off x="3895344" y="2980944"/>
            <a:ext cx="1316736" cy="274320"/>
          </a:xfrm>
          <a:prstGeom prst="rect">
            <a:avLst/>
          </a:prstGeom>
          <a:noFill/>
          <a:ln/>
        </p:spPr>
        <p:txBody>
          <a:bodyPr wrap="square" lIns="0" tIns="0" rIns="0" bIns="0" rtlCol="0" anchor="t"/>
          <a:lstStyle/>
          <a:p>
            <a:pPr indent="0" marL="0">
              <a:buNone/>
            </a:pPr>
            <a:r>
              <a:rPr lang="en-US" sz="950" b="1" dirty="0">
                <a:solidFill>
                  <a:srgbClr val="17140F"/>
                </a:solidFill>
                <a:latin typeface="Calibri" pitchFamily="34" charset="0"/>
                <a:ea typeface="Calibri" pitchFamily="34" charset="-122"/>
                <a:cs typeface="Calibri" pitchFamily="34" charset="-120"/>
              </a:rPr>
              <a:t>Categorise</a:t>
            </a:r>
            <a:endParaRPr lang="en-US" sz="950" dirty="0"/>
          </a:p>
        </p:txBody>
      </p:sp>
      <p:sp>
        <p:nvSpPr>
          <p:cNvPr id="39" name="Text 37"/>
          <p:cNvSpPr txBox="1"/>
          <p:nvPr/>
        </p:nvSpPr>
        <p:spPr>
          <a:xfrm>
            <a:off x="3895344" y="3236976"/>
            <a:ext cx="1316736" cy="384048"/>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auto / manual / critical, disruption order</a:t>
            </a:r>
            <a:endParaRPr lang="en-US" sz="800" dirty="0"/>
          </a:p>
        </p:txBody>
      </p:sp>
      <p:sp>
        <p:nvSpPr>
          <p:cNvPr id="40" name="Shape 38"/>
          <p:cNvSpPr/>
          <p:nvPr/>
        </p:nvSpPr>
        <p:spPr>
          <a:xfrm>
            <a:off x="5303520" y="3291840"/>
            <a:ext cx="182880" cy="914"/>
          </a:xfrm>
          <a:prstGeom prst="line">
            <a:avLst/>
          </a:prstGeom>
          <a:noFill/>
          <a:ln w="15875">
            <a:solidFill>
              <a:srgbClr val="4A453C"/>
            </a:solidFill>
            <a:prstDash val="solid"/>
            <a:tailEnd type="triangle"/>
          </a:ln>
        </p:spPr>
      </p:sp>
      <p:sp>
        <p:nvSpPr>
          <p:cNvPr id="41" name="Shape 39"/>
          <p:cNvSpPr/>
          <p:nvPr/>
        </p:nvSpPr>
        <p:spPr>
          <a:xfrm>
            <a:off x="5504688" y="2926080"/>
            <a:ext cx="1463040" cy="731520"/>
          </a:xfrm>
          <a:prstGeom prst="roundRect">
            <a:avLst>
              <a:gd name="adj" fmla="val 10000"/>
            </a:avLst>
          </a:prstGeom>
          <a:solidFill>
            <a:srgbClr val="FFE4D6"/>
          </a:solidFill>
          <a:ln w="12700">
            <a:solidFill>
              <a:srgbClr val="FF5A1F"/>
            </a:solidFill>
            <a:prstDash val="solid"/>
          </a:ln>
        </p:spPr>
      </p:sp>
      <p:sp>
        <p:nvSpPr>
          <p:cNvPr id="42" name="Text 40"/>
          <p:cNvSpPr txBox="1"/>
          <p:nvPr/>
        </p:nvSpPr>
        <p:spPr>
          <a:xfrm>
            <a:off x="5577840" y="2980944"/>
            <a:ext cx="1316736" cy="274320"/>
          </a:xfrm>
          <a:prstGeom prst="rect">
            <a:avLst/>
          </a:prstGeom>
          <a:noFill/>
          <a:ln/>
        </p:spPr>
        <p:txBody>
          <a:bodyPr wrap="square" lIns="0" tIns="0" rIns="0" bIns="0" rtlCol="0" anchor="t"/>
          <a:lstStyle/>
          <a:p>
            <a:pPr indent="0" marL="0">
              <a:buNone/>
            </a:pPr>
            <a:r>
              <a:rPr lang="en-US" sz="950" b="1" dirty="0">
                <a:solidFill>
                  <a:srgbClr val="B93A0B"/>
                </a:solidFill>
                <a:latin typeface="Calibri" pitchFamily="34" charset="0"/>
                <a:ea typeface="Calibri" pitchFamily="34" charset="-122"/>
                <a:cs typeface="Calibri" pitchFamily="34" charset="-120"/>
              </a:rPr>
              <a:t>Deeplinks</a:t>
            </a:r>
            <a:endParaRPr lang="en-US" sz="950" dirty="0"/>
          </a:p>
        </p:txBody>
      </p:sp>
      <p:sp>
        <p:nvSpPr>
          <p:cNvPr id="43" name="Text 41"/>
          <p:cNvSpPr txBox="1"/>
          <p:nvPr/>
        </p:nvSpPr>
        <p:spPr>
          <a:xfrm>
            <a:off x="5577840" y="3236976"/>
            <a:ext cx="1316736" cy="384048"/>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exact leaf → hybrid → closed-set LLM</a:t>
            </a:r>
            <a:endParaRPr lang="en-US" sz="800" dirty="0"/>
          </a:p>
        </p:txBody>
      </p:sp>
      <p:sp>
        <p:nvSpPr>
          <p:cNvPr id="44" name="Shape 42"/>
          <p:cNvSpPr/>
          <p:nvPr/>
        </p:nvSpPr>
        <p:spPr>
          <a:xfrm>
            <a:off x="6986016" y="3291840"/>
            <a:ext cx="182880" cy="914"/>
          </a:xfrm>
          <a:prstGeom prst="line">
            <a:avLst/>
          </a:prstGeom>
          <a:noFill/>
          <a:ln w="15875">
            <a:solidFill>
              <a:srgbClr val="4A453C"/>
            </a:solidFill>
            <a:prstDash val="solid"/>
            <a:tailEnd type="triangle"/>
          </a:ln>
        </p:spPr>
      </p:sp>
      <p:sp>
        <p:nvSpPr>
          <p:cNvPr id="45" name="Shape 43"/>
          <p:cNvSpPr/>
          <p:nvPr/>
        </p:nvSpPr>
        <p:spPr>
          <a:xfrm>
            <a:off x="7187184" y="2926080"/>
            <a:ext cx="1463040" cy="731520"/>
          </a:xfrm>
          <a:prstGeom prst="roundRect">
            <a:avLst>
              <a:gd name="adj" fmla="val 10000"/>
            </a:avLst>
          </a:prstGeom>
          <a:solidFill>
            <a:srgbClr val="FFFFFF"/>
          </a:solidFill>
          <a:ln w="12700">
            <a:solidFill>
              <a:srgbClr val="17140F"/>
            </a:solidFill>
            <a:prstDash val="solid"/>
          </a:ln>
        </p:spPr>
      </p:sp>
      <p:sp>
        <p:nvSpPr>
          <p:cNvPr id="46" name="Text 44"/>
          <p:cNvSpPr txBox="1"/>
          <p:nvPr/>
        </p:nvSpPr>
        <p:spPr>
          <a:xfrm>
            <a:off x="7260336" y="2980944"/>
            <a:ext cx="1316736" cy="274320"/>
          </a:xfrm>
          <a:prstGeom prst="rect">
            <a:avLst/>
          </a:prstGeom>
          <a:noFill/>
          <a:ln/>
        </p:spPr>
        <p:txBody>
          <a:bodyPr wrap="square" lIns="0" tIns="0" rIns="0" bIns="0" rtlCol="0" anchor="t"/>
          <a:lstStyle/>
          <a:p>
            <a:pPr indent="0" marL="0">
              <a:buNone/>
            </a:pPr>
            <a:r>
              <a:rPr lang="en-US" sz="950" b="1" dirty="0">
                <a:solidFill>
                  <a:srgbClr val="17140F"/>
                </a:solidFill>
                <a:latin typeface="Calibri" pitchFamily="34" charset="0"/>
                <a:ea typeface="Calibri" pitchFamily="34" charset="-122"/>
                <a:cs typeface="Calibri" pitchFamily="34" charset="-120"/>
              </a:rPr>
              <a:t>Repair + gate</a:t>
            </a:r>
            <a:endParaRPr lang="en-US" sz="950" dirty="0"/>
          </a:p>
        </p:txBody>
      </p:sp>
      <p:sp>
        <p:nvSpPr>
          <p:cNvPr id="47" name="Text 45"/>
          <p:cNvSpPr txBox="1"/>
          <p:nvPr/>
        </p:nvSpPr>
        <p:spPr>
          <a:xfrm>
            <a:off x="7260336" y="3236976"/>
            <a:ext cx="1316736" cy="384048"/>
          </a:xfrm>
          <a:prstGeom prst="rect">
            <a:avLst/>
          </a:prstGeom>
          <a:noFill/>
          <a:ln/>
        </p:spPr>
        <p:txBody>
          <a:bodyPr wrap="square" lIns="0" tIns="0" rIns="0" bIns="0" rtlCol="0" anchor="t"/>
          <a:lstStyle/>
          <a:p>
            <a:pPr indent="0" marL="0">
              <a:buNone/>
            </a:pPr>
            <a:r>
              <a:rPr lang="en-US" sz="800" dirty="0">
                <a:solidFill>
                  <a:srgbClr val="4A453C"/>
                </a:solidFill>
                <a:latin typeface="Calibri" pitchFamily="34" charset="0"/>
                <a:ea typeface="Calibri" pitchFamily="34" charset="-122"/>
                <a:cs typeface="Calibri" pitchFamily="34" charset="-120"/>
              </a:rPr>
              <a:t>word rules, Pydantic schema, score</a:t>
            </a:r>
            <a:endParaRPr lang="en-US" sz="800" dirty="0"/>
          </a:p>
        </p:txBody>
      </p:sp>
      <p:sp>
        <p:nvSpPr>
          <p:cNvPr id="48" name="Shape 46"/>
          <p:cNvSpPr/>
          <p:nvPr/>
        </p:nvSpPr>
        <p:spPr>
          <a:xfrm>
            <a:off x="3200400" y="2286000"/>
            <a:ext cx="914" cy="594360"/>
          </a:xfrm>
          <a:prstGeom prst="line">
            <a:avLst/>
          </a:prstGeom>
          <a:noFill/>
          <a:ln w="15875">
            <a:solidFill>
              <a:srgbClr val="4A453C"/>
            </a:solidFill>
            <a:prstDash val="dash"/>
            <a:tailEnd type="triangle"/>
          </a:ln>
        </p:spPr>
      </p:sp>
      <p:sp>
        <p:nvSpPr>
          <p:cNvPr id="49" name="Text 47"/>
          <p:cNvSpPr txBox="1"/>
          <p:nvPr/>
        </p:nvSpPr>
        <p:spPr>
          <a:xfrm>
            <a:off x="3273552" y="2450592"/>
            <a:ext cx="548640" cy="228600"/>
          </a:xfrm>
          <a:prstGeom prst="rect">
            <a:avLst/>
          </a:prstGeom>
          <a:noFill/>
          <a:ln/>
        </p:spPr>
        <p:txBody>
          <a:bodyPr wrap="square" lIns="0" tIns="0" rIns="0" bIns="0" rtlCol="0" anchor="t"/>
          <a:lstStyle/>
          <a:p>
            <a:pPr indent="0" marL="0">
              <a:buNone/>
            </a:pPr>
            <a:r>
              <a:rPr lang="en-US" sz="800" dirty="0">
                <a:solidFill>
                  <a:srgbClr val="8A8375"/>
                </a:solidFill>
                <a:latin typeface="Courier New" pitchFamily="34" charset="0"/>
                <a:ea typeface="Courier New" pitchFamily="34" charset="-122"/>
                <a:cs typeface="Courier New" pitchFamily="34" charset="-120"/>
              </a:rPr>
              <a:t>miss</a:t>
            </a:r>
            <a:endParaRPr lang="en-US" sz="800" dirty="0"/>
          </a:p>
        </p:txBody>
      </p:sp>
      <p:sp>
        <p:nvSpPr>
          <p:cNvPr id="50" name="Shape 48"/>
          <p:cNvSpPr/>
          <p:nvPr/>
        </p:nvSpPr>
        <p:spPr>
          <a:xfrm flipV="1">
            <a:off x="7498080" y="2286000"/>
            <a:ext cx="914" cy="594360"/>
          </a:xfrm>
          <a:prstGeom prst="line">
            <a:avLst/>
          </a:prstGeom>
          <a:noFill/>
          <a:ln w="15875">
            <a:solidFill>
              <a:srgbClr val="1D7A52"/>
            </a:solidFill>
            <a:prstDash val="dash"/>
            <a:tailEnd type="triangle"/>
          </a:ln>
        </p:spPr>
      </p:sp>
      <p:sp>
        <p:nvSpPr>
          <p:cNvPr id="51" name="Text 49"/>
          <p:cNvSpPr txBox="1"/>
          <p:nvPr/>
        </p:nvSpPr>
        <p:spPr>
          <a:xfrm>
            <a:off x="7562088" y="2450592"/>
            <a:ext cx="914400" cy="228600"/>
          </a:xfrm>
          <a:prstGeom prst="rect">
            <a:avLst/>
          </a:prstGeom>
          <a:noFill/>
          <a:ln/>
        </p:spPr>
        <p:txBody>
          <a:bodyPr wrap="square" lIns="0" tIns="0" rIns="0" bIns="0" rtlCol="0" anchor="t"/>
          <a:lstStyle/>
          <a:p>
            <a:pPr indent="0" marL="0">
              <a:buNone/>
            </a:pPr>
            <a:r>
              <a:rPr lang="en-US" sz="800" dirty="0">
                <a:solidFill>
                  <a:srgbClr val="1D7A52"/>
                </a:solidFill>
                <a:latin typeface="Courier New" pitchFamily="34" charset="0"/>
                <a:ea typeface="Courier New" pitchFamily="34" charset="-122"/>
                <a:cs typeface="Courier New" pitchFamily="34" charset="-120"/>
              </a:rPr>
              <a:t>write-back</a:t>
            </a:r>
            <a:endParaRPr lang="en-US" sz="800" dirty="0"/>
          </a:p>
        </p:txBody>
      </p:sp>
      <p:sp>
        <p:nvSpPr>
          <p:cNvPr id="52" name="Shape 50"/>
          <p:cNvSpPr/>
          <p:nvPr/>
        </p:nvSpPr>
        <p:spPr>
          <a:xfrm>
            <a:off x="457200" y="3931920"/>
            <a:ext cx="146304" cy="146304"/>
          </a:xfrm>
          <a:prstGeom prst="rect">
            <a:avLst/>
          </a:prstGeom>
          <a:solidFill>
            <a:srgbClr val="FFE4D6"/>
          </a:solidFill>
          <a:ln w="12700">
            <a:solidFill>
              <a:srgbClr val="FF5A1F"/>
            </a:solidFill>
            <a:prstDash val="solid"/>
          </a:ln>
        </p:spPr>
      </p:sp>
      <p:sp>
        <p:nvSpPr>
          <p:cNvPr id="53" name="Text 51"/>
          <p:cNvSpPr txBox="1"/>
          <p:nvPr/>
        </p:nvSpPr>
        <p:spPr>
          <a:xfrm>
            <a:off x="658368" y="3895344"/>
            <a:ext cx="1737360" cy="219456"/>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calls a language model</a:t>
            </a:r>
            <a:endParaRPr lang="en-US" sz="900" dirty="0"/>
          </a:p>
        </p:txBody>
      </p:sp>
      <p:sp>
        <p:nvSpPr>
          <p:cNvPr id="54" name="Shape 52"/>
          <p:cNvSpPr/>
          <p:nvPr/>
        </p:nvSpPr>
        <p:spPr>
          <a:xfrm>
            <a:off x="2377440" y="3931920"/>
            <a:ext cx="146304" cy="146304"/>
          </a:xfrm>
          <a:prstGeom prst="rect">
            <a:avLst/>
          </a:prstGeom>
          <a:solidFill>
            <a:srgbClr val="FFFFFF"/>
          </a:solidFill>
          <a:ln w="12700">
            <a:solidFill>
              <a:srgbClr val="17140F"/>
            </a:solidFill>
            <a:prstDash val="solid"/>
          </a:ln>
        </p:spPr>
      </p:sp>
      <p:sp>
        <p:nvSpPr>
          <p:cNvPr id="55" name="Text 53"/>
          <p:cNvSpPr txBox="1"/>
          <p:nvPr/>
        </p:nvSpPr>
        <p:spPr>
          <a:xfrm>
            <a:off x="2578608" y="3895344"/>
            <a:ext cx="1828800" cy="219456"/>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local, deterministic code</a:t>
            </a:r>
            <a:endParaRPr lang="en-US" sz="900" dirty="0"/>
          </a:p>
        </p:txBody>
      </p:sp>
      <p:sp>
        <p:nvSpPr>
          <p:cNvPr id="56" name="Text 54"/>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950" dirty="0">
                <a:solidFill>
                  <a:srgbClr val="4A453C"/>
                </a:solidFill>
                <a:latin typeface="Calibri" pitchFamily="34" charset="0"/>
                <a:ea typeface="Calibri" pitchFamily="34" charset="-122"/>
                <a:cs typeface="Calibri" pitchFamily="34" charset="-120"/>
              </a:rPr>
              <a:t>No article? Knowledge-base retrieval → opt-in catalog-grounded plan → otherwise honest no_siis_context.</a:t>
            </a:r>
            <a:endParaRPr lang="en-US" sz="950" dirty="0"/>
          </a:p>
          <a:p>
            <a:pPr indent="0" marL="0">
              <a:buNone/>
            </a:pPr>
            <a:r>
              <a:rPr lang="en-US" sz="950" dirty="0">
                <a:solidFill>
                  <a:srgbClr val="4A453C"/>
                </a:solidFill>
                <a:latin typeface="Calibri" pitchFamily="34" charset="0"/>
                <a:ea typeface="Calibri" pitchFamily="34" charset="-122"/>
                <a:cs typeface="Calibri" pitchFamily="34" charset="-120"/>
              </a:rPr>
              <a:t>Endpoints: POST /v1/troubleshoot · POST /v1/feedback · GET /health · GET /v1/metrics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04 · REMEMBER · SEMANTIC CACHE + SYMPTOM-SIGNATURE GUARD</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Similar words aren't the same problem</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05 / 18</a:t>
            </a:r>
            <a:endParaRPr lang="en-US" sz="750" dirty="0"/>
          </a:p>
        </p:txBody>
      </p:sp>
      <p:sp>
        <p:nvSpPr>
          <p:cNvPr id="6" name="Text 4"/>
          <p:cNvSpPr txBox="1"/>
          <p:nvPr/>
        </p:nvSpPr>
        <p:spPr>
          <a:xfrm>
            <a:off x="457200" y="1188720"/>
            <a:ext cx="4937760" cy="548640"/>
          </a:xfrm>
          <a:prstGeom prst="rect">
            <a:avLst/>
          </a:prstGeom>
          <a:noFill/>
          <a:ln/>
        </p:spPr>
        <p:txBody>
          <a:bodyPr wrap="square" lIns="0" tIns="0" rIns="0" bIns="0" rtlCol="0" anchor="t"/>
          <a:lstStyle/>
          <a:p>
            <a:pPr indent="0" marL="0">
              <a:buNone/>
            </a:pPr>
            <a:r>
              <a:rPr lang="en-US" sz="1100" dirty="0">
                <a:solidFill>
                  <a:srgbClr val="4A453C"/>
                </a:solidFill>
                <a:latin typeface="Calibri" pitchFamily="34" charset="0"/>
                <a:ea typeface="Calibri" pitchFamily="34" charset="-122"/>
                <a:cs typeface="Calibri" pitchFamily="34" charset="-120"/>
              </a:rPr>
              <a:t>Every compiled plan is stored with ~10 rewordings as vectors. A new complaint is served from the cache only if it is close enough AND the guard agrees it is the same problem.</a:t>
            </a:r>
            <a:endParaRPr lang="en-US" sz="1100" dirty="0"/>
          </a:p>
        </p:txBody>
      </p:sp>
      <p:sp>
        <p:nvSpPr>
          <p:cNvPr id="7" name="Shape 5"/>
          <p:cNvSpPr/>
          <p:nvPr/>
        </p:nvSpPr>
        <p:spPr>
          <a:xfrm>
            <a:off x="457200" y="1828800"/>
            <a:ext cx="2148840" cy="566928"/>
          </a:xfrm>
          <a:prstGeom prst="roundRect">
            <a:avLst>
              <a:gd name="adj" fmla="val 12903"/>
            </a:avLst>
          </a:prstGeom>
          <a:solidFill>
            <a:srgbClr val="FFFFFF"/>
          </a:solidFill>
          <a:ln w="9525">
            <a:solidFill>
              <a:srgbClr val="D9D2C3"/>
            </a:solidFill>
            <a:prstDash val="solid"/>
          </a:ln>
        </p:spPr>
      </p:sp>
      <p:sp>
        <p:nvSpPr>
          <p:cNvPr id="8" name="Text 6"/>
          <p:cNvSpPr txBox="1"/>
          <p:nvPr/>
        </p:nvSpPr>
        <p:spPr>
          <a:xfrm>
            <a:off x="566928" y="1828800"/>
            <a:ext cx="1965960" cy="566928"/>
          </a:xfrm>
          <a:prstGeom prst="rect">
            <a:avLst/>
          </a:prstGeom>
          <a:noFill/>
          <a:ln/>
        </p:spPr>
        <p:txBody>
          <a:bodyPr wrap="square" lIns="0" tIns="0" rIns="0" bIns="0" rtlCol="0" anchor="ctr"/>
          <a:lstStyle/>
          <a:p>
            <a:pPr indent="0" marL="0">
              <a:buNone/>
            </a:pPr>
            <a:r>
              <a:rPr lang="en-US" sz="1000" i="1" dirty="0">
                <a:solidFill>
                  <a:srgbClr val="17140F"/>
                </a:solidFill>
                <a:latin typeface="Cambria" pitchFamily="34" charset="0"/>
                <a:ea typeface="Cambria" pitchFamily="34" charset="-122"/>
                <a:cs typeface="Cambria" pitchFamily="34" charset="-120"/>
              </a:rPr>
              <a:t>“Wi-Fi keeps turning ON by itself”</a:t>
            </a:r>
            <a:endParaRPr lang="en-US" sz="1000" dirty="0"/>
          </a:p>
        </p:txBody>
      </p:sp>
      <p:sp>
        <p:nvSpPr>
          <p:cNvPr id="9" name="Shape 7"/>
          <p:cNvSpPr/>
          <p:nvPr/>
        </p:nvSpPr>
        <p:spPr>
          <a:xfrm>
            <a:off x="3246120" y="1828800"/>
            <a:ext cx="2148840" cy="566928"/>
          </a:xfrm>
          <a:prstGeom prst="roundRect">
            <a:avLst>
              <a:gd name="adj" fmla="val 12903"/>
            </a:avLst>
          </a:prstGeom>
          <a:solidFill>
            <a:srgbClr val="FFFFFF"/>
          </a:solidFill>
          <a:ln w="9525">
            <a:solidFill>
              <a:srgbClr val="D9D2C3"/>
            </a:solidFill>
            <a:prstDash val="solid"/>
          </a:ln>
        </p:spPr>
      </p:sp>
      <p:sp>
        <p:nvSpPr>
          <p:cNvPr id="10" name="Text 8"/>
          <p:cNvSpPr txBox="1"/>
          <p:nvPr/>
        </p:nvSpPr>
        <p:spPr>
          <a:xfrm>
            <a:off x="3355848" y="1828800"/>
            <a:ext cx="1965960" cy="566928"/>
          </a:xfrm>
          <a:prstGeom prst="rect">
            <a:avLst/>
          </a:prstGeom>
          <a:noFill/>
          <a:ln/>
        </p:spPr>
        <p:txBody>
          <a:bodyPr wrap="square" lIns="0" tIns="0" rIns="0" bIns="0" rtlCol="0" anchor="ctr"/>
          <a:lstStyle/>
          <a:p>
            <a:pPr indent="0" marL="0">
              <a:buNone/>
            </a:pPr>
            <a:r>
              <a:rPr lang="en-US" sz="1000" i="1" dirty="0">
                <a:solidFill>
                  <a:srgbClr val="17140F"/>
                </a:solidFill>
                <a:latin typeface="Cambria" pitchFamily="34" charset="0"/>
                <a:ea typeface="Cambria" pitchFamily="34" charset="-122"/>
                <a:cs typeface="Cambria" pitchFamily="34" charset="-120"/>
              </a:rPr>
              <a:t>“Wi-Fi keeps turning OFF by itself”</a:t>
            </a:r>
            <a:endParaRPr lang="en-US" sz="1000" dirty="0"/>
          </a:p>
        </p:txBody>
      </p:sp>
      <p:sp>
        <p:nvSpPr>
          <p:cNvPr id="11" name="Text 9"/>
          <p:cNvSpPr txBox="1"/>
          <p:nvPr/>
        </p:nvSpPr>
        <p:spPr>
          <a:xfrm>
            <a:off x="2615184" y="1874520"/>
            <a:ext cx="621792" cy="228600"/>
          </a:xfrm>
          <a:prstGeom prst="rect">
            <a:avLst/>
          </a:prstGeom>
          <a:noFill/>
          <a:ln/>
        </p:spPr>
        <p:txBody>
          <a:bodyPr wrap="square" lIns="0" tIns="0" rIns="0" bIns="0" rtlCol="0" anchor="t"/>
          <a:lstStyle/>
          <a:p>
            <a:pPr algn="ctr" indent="0" marL="0">
              <a:buNone/>
            </a:pPr>
            <a:r>
              <a:rPr lang="en-US" sz="900" b="1" dirty="0">
                <a:solidFill>
                  <a:srgbClr val="17140F"/>
                </a:solidFill>
                <a:latin typeface="Courier New" pitchFamily="34" charset="0"/>
                <a:ea typeface="Courier New" pitchFamily="34" charset="-122"/>
                <a:cs typeface="Courier New" pitchFamily="34" charset="-120"/>
              </a:rPr>
              <a:t>0.96</a:t>
            </a:r>
            <a:endParaRPr lang="en-US" sz="900" dirty="0"/>
          </a:p>
        </p:txBody>
      </p:sp>
      <p:sp>
        <p:nvSpPr>
          <p:cNvPr id="12" name="Text 10"/>
          <p:cNvSpPr txBox="1"/>
          <p:nvPr/>
        </p:nvSpPr>
        <p:spPr>
          <a:xfrm>
            <a:off x="2615184" y="2103120"/>
            <a:ext cx="621792" cy="182880"/>
          </a:xfrm>
          <a:prstGeom prst="rect">
            <a:avLst/>
          </a:prstGeom>
          <a:noFill/>
          <a:ln/>
        </p:spPr>
        <p:txBody>
          <a:bodyPr wrap="square" lIns="0" tIns="0" rIns="0" bIns="0" rtlCol="0" anchor="t"/>
          <a:lstStyle/>
          <a:p>
            <a:pPr algn="ctr" indent="0" marL="0">
              <a:buNone/>
            </a:pPr>
            <a:r>
              <a:rPr lang="en-US" sz="700" dirty="0">
                <a:solidFill>
                  <a:srgbClr val="8A8375"/>
                </a:solidFill>
                <a:latin typeface="Courier New" pitchFamily="34" charset="0"/>
                <a:ea typeface="Courier New" pitchFamily="34" charset="-122"/>
                <a:cs typeface="Courier New" pitchFamily="34" charset="-120"/>
              </a:rPr>
              <a:t>cosine</a:t>
            </a:r>
            <a:endParaRPr lang="en-US" sz="700" dirty="0"/>
          </a:p>
        </p:txBody>
      </p:sp>
      <p:pic>
        <p:nvPicPr>
          <p:cNvPr id="13" name="Image 0" descr="preencoded.png">    </p:cNvPr>
          <p:cNvPicPr>
            <a:picLocks noChangeAspect="1"/>
          </p:cNvPicPr>
          <p:nvPr/>
        </p:nvPicPr>
        <p:blipFill>
          <a:blip r:embed="rId1"/>
          <a:stretch>
            <a:fillRect/>
          </a:stretch>
        </p:blipFill>
        <p:spPr>
          <a:xfrm>
            <a:off x="457200" y="2468880"/>
            <a:ext cx="146304" cy="146304"/>
          </a:xfrm>
          <a:prstGeom prst="rect">
            <a:avLst/>
          </a:prstGeom>
        </p:spPr>
      </p:pic>
      <p:sp>
        <p:nvSpPr>
          <p:cNvPr id="14" name="Text 11"/>
          <p:cNvSpPr txBox="1"/>
          <p:nvPr/>
        </p:nvSpPr>
        <p:spPr>
          <a:xfrm>
            <a:off x="658368" y="2432304"/>
            <a:ext cx="4754880" cy="219456"/>
          </a:xfrm>
          <a:prstGeom prst="rect">
            <a:avLst/>
          </a:prstGeom>
          <a:noFill/>
          <a:ln/>
        </p:spPr>
        <p:txBody>
          <a:bodyPr wrap="square" lIns="0" tIns="0" rIns="0" bIns="0" rtlCol="0" anchor="t"/>
          <a:lstStyle/>
          <a:p>
            <a:pPr indent="0" marL="0">
              <a:buNone/>
            </a:pPr>
            <a:r>
              <a:rPr lang="en-US" sz="950" b="1" dirty="0">
                <a:solidFill>
                  <a:srgbClr val="B8321A"/>
                </a:solidFill>
                <a:latin typeface="Calibri" pitchFamily="34" charset="0"/>
                <a:ea typeface="Calibri" pitchFamily="34" charset="-122"/>
                <a:cs typeface="Calibri" pitchFamily="34" charset="-120"/>
              </a:rPr>
              <a:t>guard: polarity mismatch → not served (opposite fixes)</a:t>
            </a:r>
            <a:endParaRPr lang="en-US" sz="950" dirty="0"/>
          </a:p>
        </p:txBody>
      </p:sp>
      <p:sp>
        <p:nvSpPr>
          <p:cNvPr id="15" name="Shape 12"/>
          <p:cNvSpPr/>
          <p:nvPr/>
        </p:nvSpPr>
        <p:spPr>
          <a:xfrm>
            <a:off x="457200" y="2788920"/>
            <a:ext cx="2148840" cy="566928"/>
          </a:xfrm>
          <a:prstGeom prst="roundRect">
            <a:avLst>
              <a:gd name="adj" fmla="val 12903"/>
            </a:avLst>
          </a:prstGeom>
          <a:solidFill>
            <a:srgbClr val="FFFFFF"/>
          </a:solidFill>
          <a:ln w="9525">
            <a:solidFill>
              <a:srgbClr val="D9D2C3"/>
            </a:solidFill>
            <a:prstDash val="solid"/>
          </a:ln>
        </p:spPr>
      </p:sp>
      <p:sp>
        <p:nvSpPr>
          <p:cNvPr id="16" name="Text 13"/>
          <p:cNvSpPr txBox="1"/>
          <p:nvPr/>
        </p:nvSpPr>
        <p:spPr>
          <a:xfrm>
            <a:off x="566928" y="2788920"/>
            <a:ext cx="1965960" cy="566928"/>
          </a:xfrm>
          <a:prstGeom prst="rect">
            <a:avLst/>
          </a:prstGeom>
          <a:noFill/>
          <a:ln/>
        </p:spPr>
        <p:txBody>
          <a:bodyPr wrap="square" lIns="0" tIns="0" rIns="0" bIns="0" rtlCol="0" anchor="ctr"/>
          <a:lstStyle/>
          <a:p>
            <a:pPr indent="0" marL="0">
              <a:buNone/>
            </a:pPr>
            <a:r>
              <a:rPr lang="en-US" sz="1000" i="1" dirty="0">
                <a:solidFill>
                  <a:srgbClr val="17140F"/>
                </a:solidFill>
                <a:latin typeface="Cambria" pitchFamily="34" charset="0"/>
                <a:ea typeface="Cambria" pitchFamily="34" charset="-122"/>
                <a:cs typeface="Cambria" pitchFamily="34" charset="-120"/>
              </a:rPr>
              <a:t>“flashes and goes blank when I scroll a web page”</a:t>
            </a:r>
            <a:endParaRPr lang="en-US" sz="1000" dirty="0"/>
          </a:p>
        </p:txBody>
      </p:sp>
      <p:sp>
        <p:nvSpPr>
          <p:cNvPr id="17" name="Shape 14"/>
          <p:cNvSpPr/>
          <p:nvPr/>
        </p:nvSpPr>
        <p:spPr>
          <a:xfrm>
            <a:off x="3246120" y="2788920"/>
            <a:ext cx="2148840" cy="566928"/>
          </a:xfrm>
          <a:prstGeom prst="roundRect">
            <a:avLst>
              <a:gd name="adj" fmla="val 12903"/>
            </a:avLst>
          </a:prstGeom>
          <a:solidFill>
            <a:srgbClr val="FFFFFF"/>
          </a:solidFill>
          <a:ln w="9525">
            <a:solidFill>
              <a:srgbClr val="D9D2C3"/>
            </a:solidFill>
            <a:prstDash val="solid"/>
          </a:ln>
        </p:spPr>
      </p:sp>
      <p:sp>
        <p:nvSpPr>
          <p:cNvPr id="18" name="Text 15"/>
          <p:cNvSpPr txBox="1"/>
          <p:nvPr/>
        </p:nvSpPr>
        <p:spPr>
          <a:xfrm>
            <a:off x="3355848" y="2788920"/>
            <a:ext cx="1965960" cy="566928"/>
          </a:xfrm>
          <a:prstGeom prst="rect">
            <a:avLst/>
          </a:prstGeom>
          <a:noFill/>
          <a:ln/>
        </p:spPr>
        <p:txBody>
          <a:bodyPr wrap="square" lIns="0" tIns="0" rIns="0" bIns="0" rtlCol="0" anchor="ctr"/>
          <a:lstStyle/>
          <a:p>
            <a:pPr indent="0" marL="0">
              <a:buNone/>
            </a:pPr>
            <a:r>
              <a:rPr lang="en-US" sz="1000" i="1" dirty="0">
                <a:solidFill>
                  <a:srgbClr val="17140F"/>
                </a:solidFill>
                <a:latin typeface="Cambria" pitchFamily="34" charset="0"/>
                <a:ea typeface="Cambria" pitchFamily="34" charset="-122"/>
                <a:cs typeface="Cambria" pitchFamily="34" charset="-120"/>
              </a:rPr>
              <a:t>“flashes and goes blank when I open an email in Gmail”</a:t>
            </a:r>
            <a:endParaRPr lang="en-US" sz="1000" dirty="0"/>
          </a:p>
        </p:txBody>
      </p:sp>
      <p:sp>
        <p:nvSpPr>
          <p:cNvPr id="19" name="Text 16"/>
          <p:cNvSpPr txBox="1"/>
          <p:nvPr/>
        </p:nvSpPr>
        <p:spPr>
          <a:xfrm>
            <a:off x="2615184" y="2834640"/>
            <a:ext cx="621792" cy="228600"/>
          </a:xfrm>
          <a:prstGeom prst="rect">
            <a:avLst/>
          </a:prstGeom>
          <a:noFill/>
          <a:ln/>
        </p:spPr>
        <p:txBody>
          <a:bodyPr wrap="square" lIns="0" tIns="0" rIns="0" bIns="0" rtlCol="0" anchor="t"/>
          <a:lstStyle/>
          <a:p>
            <a:pPr algn="ctr" indent="0" marL="0">
              <a:buNone/>
            </a:pPr>
            <a:r>
              <a:rPr lang="en-US" sz="900" b="1" dirty="0">
                <a:solidFill>
                  <a:srgbClr val="17140F"/>
                </a:solidFill>
                <a:latin typeface="Courier New" pitchFamily="34" charset="0"/>
                <a:ea typeface="Courier New" pitchFamily="34" charset="-122"/>
                <a:cs typeface="Courier New" pitchFamily="34" charset="-120"/>
              </a:rPr>
              <a:t>0.88</a:t>
            </a:r>
            <a:endParaRPr lang="en-US" sz="900" dirty="0"/>
          </a:p>
        </p:txBody>
      </p:sp>
      <p:sp>
        <p:nvSpPr>
          <p:cNvPr id="20" name="Text 17"/>
          <p:cNvSpPr txBox="1"/>
          <p:nvPr/>
        </p:nvSpPr>
        <p:spPr>
          <a:xfrm>
            <a:off x="2615184" y="3063240"/>
            <a:ext cx="621792" cy="182880"/>
          </a:xfrm>
          <a:prstGeom prst="rect">
            <a:avLst/>
          </a:prstGeom>
          <a:noFill/>
          <a:ln/>
        </p:spPr>
        <p:txBody>
          <a:bodyPr wrap="square" lIns="0" tIns="0" rIns="0" bIns="0" rtlCol="0" anchor="t"/>
          <a:lstStyle/>
          <a:p>
            <a:pPr algn="ctr" indent="0" marL="0">
              <a:buNone/>
            </a:pPr>
            <a:r>
              <a:rPr lang="en-US" sz="700" dirty="0">
                <a:solidFill>
                  <a:srgbClr val="8A8375"/>
                </a:solidFill>
                <a:latin typeface="Courier New" pitchFamily="34" charset="0"/>
                <a:ea typeface="Courier New" pitchFamily="34" charset="-122"/>
                <a:cs typeface="Courier New" pitchFamily="34" charset="-120"/>
              </a:rPr>
              <a:t>cosine</a:t>
            </a:r>
            <a:endParaRPr lang="en-US" sz="700" dirty="0"/>
          </a:p>
        </p:txBody>
      </p:sp>
      <p:pic>
        <p:nvPicPr>
          <p:cNvPr id="21" name="Image 1" descr="preencoded.png">    </p:cNvPr>
          <p:cNvPicPr>
            <a:picLocks noChangeAspect="1"/>
          </p:cNvPicPr>
          <p:nvPr/>
        </p:nvPicPr>
        <p:blipFill>
          <a:blip r:embed="rId2"/>
          <a:stretch>
            <a:fillRect/>
          </a:stretch>
        </p:blipFill>
        <p:spPr>
          <a:xfrm>
            <a:off x="457200" y="3429000"/>
            <a:ext cx="146304" cy="146304"/>
          </a:xfrm>
          <a:prstGeom prst="rect">
            <a:avLst/>
          </a:prstGeom>
        </p:spPr>
      </p:pic>
      <p:sp>
        <p:nvSpPr>
          <p:cNvPr id="22" name="Text 18"/>
          <p:cNvSpPr txBox="1"/>
          <p:nvPr/>
        </p:nvSpPr>
        <p:spPr>
          <a:xfrm>
            <a:off x="658368" y="3392424"/>
            <a:ext cx="4754880" cy="219456"/>
          </a:xfrm>
          <a:prstGeom prst="rect">
            <a:avLst/>
          </a:prstGeom>
          <a:noFill/>
          <a:ln/>
        </p:spPr>
        <p:txBody>
          <a:bodyPr wrap="square" lIns="0" tIns="0" rIns="0" bIns="0" rtlCol="0" anchor="t"/>
          <a:lstStyle/>
          <a:p>
            <a:pPr indent="0" marL="0">
              <a:buNone/>
            </a:pPr>
            <a:r>
              <a:rPr lang="en-US" sz="950" b="1" dirty="0">
                <a:solidFill>
                  <a:srgbClr val="B8321A"/>
                </a:solidFill>
                <a:latin typeface="Calibri" pitchFamily="34" charset="0"/>
                <a:ea typeface="Calibri" pitchFamily="34" charset="-122"/>
                <a:cs typeface="Calibri" pitchFamily="34" charset="-120"/>
              </a:rPr>
              <a:t>guard: context mismatch (browse ≠ email) → full pipeline</a:t>
            </a:r>
            <a:endParaRPr lang="en-US" sz="950" dirty="0"/>
          </a:p>
        </p:txBody>
      </p:sp>
      <p:sp>
        <p:nvSpPr>
          <p:cNvPr id="23" name="Text 19"/>
          <p:cNvSpPr txBox="1"/>
          <p:nvPr/>
        </p:nvSpPr>
        <p:spPr>
          <a:xfrm>
            <a:off x="457200" y="3840480"/>
            <a:ext cx="4937760" cy="457200"/>
          </a:xfrm>
          <a:prstGeom prst="rect">
            <a:avLst/>
          </a:prstGeom>
          <a:noFill/>
          <a:ln/>
        </p:spPr>
        <p:txBody>
          <a:bodyPr wrap="square" lIns="0" tIns="0" rIns="0" bIns="0" rtlCol="0" anchor="t"/>
          <a:lstStyle/>
          <a:p>
            <a:pPr indent="0" marL="0">
              <a:buNone/>
            </a:pPr>
            <a:r>
              <a:rPr lang="en-US" sz="950" dirty="0">
                <a:solidFill>
                  <a:srgbClr val="4A453C"/>
                </a:solidFill>
                <a:latin typeface="Calibri" pitchFamily="34" charset="0"/>
                <a:ea typeface="Calibri" pitchFamily="34" charset="-122"/>
                <a:cs typeface="Calibri" pitchFamily="34" charset="-120"/>
              </a:rPr>
              <a:t>The guard compares:  on/off polarity  ·  symptom set  ·  trigger context (charging, camera, Gmail, browsing…)  ·  same source article</a:t>
            </a:r>
            <a:endParaRPr lang="en-US" sz="950" dirty="0"/>
          </a:p>
        </p:txBody>
      </p:sp>
      <p:sp>
        <p:nvSpPr>
          <p:cNvPr id="24" name="Shape 20"/>
          <p:cNvSpPr/>
          <p:nvPr/>
        </p:nvSpPr>
        <p:spPr>
          <a:xfrm>
            <a:off x="5760720" y="1188720"/>
            <a:ext cx="2926080" cy="3291840"/>
          </a:xfrm>
          <a:prstGeom prst="roundRect">
            <a:avLst>
              <a:gd name="adj" fmla="val 2500"/>
            </a:avLst>
          </a:prstGeom>
          <a:solidFill>
            <a:srgbClr val="FFFFFF"/>
          </a:solidFill>
          <a:ln w="9525">
            <a:solidFill>
              <a:srgbClr val="D9D2C3"/>
            </a:solidFill>
            <a:prstDash val="solid"/>
          </a:ln>
        </p:spPr>
      </p:sp>
      <p:sp>
        <p:nvSpPr>
          <p:cNvPr id="25" name="Text 21"/>
          <p:cNvSpPr txBox="1"/>
          <p:nvPr/>
        </p:nvSpPr>
        <p:spPr>
          <a:xfrm>
            <a:off x="5943600" y="1234440"/>
            <a:ext cx="2651760" cy="502920"/>
          </a:xfrm>
          <a:prstGeom prst="rect">
            <a:avLst/>
          </a:prstGeom>
          <a:noFill/>
          <a:ln/>
        </p:spPr>
        <p:txBody>
          <a:bodyPr wrap="square" lIns="0" tIns="0" rIns="0" bIns="0" rtlCol="0" anchor="b"/>
          <a:lstStyle/>
          <a:p>
            <a:pPr indent="0" marL="0">
              <a:buNone/>
            </a:pPr>
            <a:r>
              <a:rPr lang="en-US" sz="2800" b="1" dirty="0">
                <a:solidFill>
                  <a:srgbClr val="1D7A52"/>
                </a:solidFill>
                <a:latin typeface="Courier New" pitchFamily="34" charset="0"/>
                <a:ea typeface="Courier New" pitchFamily="34" charset="-122"/>
                <a:cs typeface="Courier New" pitchFamily="34" charset="-120"/>
              </a:rPr>
              <a:t>82.5%</a:t>
            </a:r>
            <a:endParaRPr lang="en-US" sz="2800" dirty="0"/>
          </a:p>
        </p:txBody>
      </p:sp>
      <p:sp>
        <p:nvSpPr>
          <p:cNvPr id="26" name="Text 22"/>
          <p:cNvSpPr txBox="1"/>
          <p:nvPr/>
        </p:nvSpPr>
        <p:spPr>
          <a:xfrm>
            <a:off x="5943600" y="1764792"/>
            <a:ext cx="2651760" cy="365760"/>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hit rate on 97 unseen rewordings</a:t>
            </a:r>
            <a:endParaRPr lang="en-US" sz="1100" dirty="0"/>
          </a:p>
        </p:txBody>
      </p:sp>
      <p:sp>
        <p:nvSpPr>
          <p:cNvPr id="27" name="Text 23"/>
          <p:cNvSpPr txBox="1"/>
          <p:nvPr/>
        </p:nvSpPr>
        <p:spPr>
          <a:xfrm>
            <a:off x="5943600" y="2057400"/>
            <a:ext cx="2651760" cy="365760"/>
          </a:xfrm>
          <a:prstGeom prst="rect">
            <a:avLst/>
          </a:prstGeom>
          <a:noFill/>
          <a:ln/>
        </p:spPr>
        <p:txBody>
          <a:bodyPr wrap="square" lIns="0" tIns="0" rIns="0" bIns="0" rtlCol="0" anchor="t"/>
          <a:lstStyle/>
          <a:p>
            <a:pPr indent="0" marL="0">
              <a:buNone/>
            </a:pPr>
            <a:r>
              <a:rPr lang="en-US" sz="950" dirty="0">
                <a:solidFill>
                  <a:srgbClr val="8A8375"/>
                </a:solidFill>
                <a:latin typeface="Calibri" pitchFamily="34" charset="0"/>
                <a:ea typeface="Calibri" pitchFamily="34" charset="-122"/>
                <a:cs typeface="Calibri" pitchFamily="34" charset="-120"/>
              </a:rPr>
              <a:t>written by a different model · target ≥ 80%</a:t>
            </a:r>
            <a:endParaRPr lang="en-US" sz="950" dirty="0"/>
          </a:p>
        </p:txBody>
      </p:sp>
      <p:sp>
        <p:nvSpPr>
          <p:cNvPr id="28" name="Text 24"/>
          <p:cNvSpPr txBox="1"/>
          <p:nvPr/>
        </p:nvSpPr>
        <p:spPr>
          <a:xfrm>
            <a:off x="5943600" y="2286000"/>
            <a:ext cx="2651760" cy="502920"/>
          </a:xfrm>
          <a:prstGeom prst="rect">
            <a:avLst/>
          </a:prstGeom>
          <a:noFill/>
          <a:ln/>
        </p:spPr>
        <p:txBody>
          <a:bodyPr wrap="square" lIns="0" tIns="0" rIns="0" bIns="0" rtlCol="0" anchor="b"/>
          <a:lstStyle/>
          <a:p>
            <a:pPr indent="0" marL="0">
              <a:buNone/>
            </a:pPr>
            <a:r>
              <a:rPr lang="en-US" sz="2400" b="1" dirty="0">
                <a:solidFill>
                  <a:srgbClr val="FF5A1F"/>
                </a:solidFill>
                <a:latin typeface="Courier New" pitchFamily="34" charset="0"/>
                <a:ea typeface="Courier New" pitchFamily="34" charset="-122"/>
                <a:cs typeface="Courier New" pitchFamily="34" charset="-120"/>
              </a:rPr>
              <a:t>44% → 10%</a:t>
            </a:r>
            <a:endParaRPr lang="en-US" sz="2400" dirty="0"/>
          </a:p>
        </p:txBody>
      </p:sp>
      <p:sp>
        <p:nvSpPr>
          <p:cNvPr id="29" name="Text 25"/>
          <p:cNvSpPr txBox="1"/>
          <p:nvPr/>
        </p:nvSpPr>
        <p:spPr>
          <a:xfrm>
            <a:off x="5943600" y="2816352"/>
            <a:ext cx="2651760" cy="365760"/>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false hits on look-alike traps</a:t>
            </a:r>
            <a:endParaRPr lang="en-US" sz="1100" dirty="0"/>
          </a:p>
        </p:txBody>
      </p:sp>
      <p:sp>
        <p:nvSpPr>
          <p:cNvPr id="30" name="Text 26"/>
          <p:cNvSpPr txBox="1"/>
          <p:nvPr/>
        </p:nvSpPr>
        <p:spPr>
          <a:xfrm>
            <a:off x="5943600" y="3108960"/>
            <a:ext cx="2651760" cy="365760"/>
          </a:xfrm>
          <a:prstGeom prst="rect">
            <a:avLst/>
          </a:prstGeom>
          <a:noFill/>
          <a:ln/>
        </p:spPr>
        <p:txBody>
          <a:bodyPr wrap="square" lIns="0" tIns="0" rIns="0" bIns="0" rtlCol="0" anchor="t"/>
          <a:lstStyle/>
          <a:p>
            <a:pPr indent="0" marL="0">
              <a:buNone/>
            </a:pPr>
            <a:r>
              <a:rPr lang="en-US" sz="950" dirty="0">
                <a:solidFill>
                  <a:srgbClr val="8A8375"/>
                </a:solidFill>
                <a:latin typeface="Calibri" pitchFamily="34" charset="0"/>
                <a:ea typeface="Calibri" pitchFamily="34" charset="-122"/>
                <a:cs typeface="Calibri" pitchFamily="34" charset="-120"/>
              </a:rPr>
              <a:t>same τ, guard off vs on (−77%)</a:t>
            </a:r>
            <a:endParaRPr lang="en-US" sz="950" dirty="0"/>
          </a:p>
        </p:txBody>
      </p:sp>
      <p:sp>
        <p:nvSpPr>
          <p:cNvPr id="31" name="Text 27"/>
          <p:cNvSpPr txBox="1"/>
          <p:nvPr/>
        </p:nvSpPr>
        <p:spPr>
          <a:xfrm>
            <a:off x="5943600" y="3310128"/>
            <a:ext cx="2651760" cy="502920"/>
          </a:xfrm>
          <a:prstGeom prst="rect">
            <a:avLst/>
          </a:prstGeom>
          <a:noFill/>
          <a:ln/>
        </p:spPr>
        <p:txBody>
          <a:bodyPr wrap="square" lIns="0" tIns="0" rIns="0" bIns="0" rtlCol="0" anchor="b"/>
          <a:lstStyle/>
          <a:p>
            <a:pPr indent="0" marL="0">
              <a:buNone/>
            </a:pPr>
            <a:r>
              <a:rPr lang="en-US" sz="2800" b="1" dirty="0">
                <a:solidFill>
                  <a:srgbClr val="17140F"/>
                </a:solidFill>
                <a:latin typeface="Courier New" pitchFamily="34" charset="0"/>
                <a:ea typeface="Courier New" pitchFamily="34" charset="-122"/>
                <a:cs typeface="Courier New" pitchFamily="34" charset="-120"/>
              </a:rPr>
              <a:t>8.8 ms</a:t>
            </a:r>
            <a:endParaRPr lang="en-US" sz="2800" dirty="0"/>
          </a:p>
        </p:txBody>
      </p:sp>
      <p:sp>
        <p:nvSpPr>
          <p:cNvPr id="32" name="Text 28"/>
          <p:cNvSpPr txBox="1"/>
          <p:nvPr/>
        </p:nvSpPr>
        <p:spPr>
          <a:xfrm>
            <a:off x="5943600" y="3840480"/>
            <a:ext cx="2651760" cy="365760"/>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P95 cache lookup</a:t>
            </a:r>
            <a:endParaRPr lang="en-US" sz="1100" dirty="0"/>
          </a:p>
        </p:txBody>
      </p:sp>
      <p:sp>
        <p:nvSpPr>
          <p:cNvPr id="33" name="Text 29"/>
          <p:cNvSpPr txBox="1"/>
          <p:nvPr/>
        </p:nvSpPr>
        <p:spPr>
          <a:xfrm>
            <a:off x="5943600" y="4133088"/>
            <a:ext cx="2651760" cy="365760"/>
          </a:xfrm>
          <a:prstGeom prst="rect">
            <a:avLst/>
          </a:prstGeom>
          <a:noFill/>
          <a:ln/>
        </p:spPr>
        <p:txBody>
          <a:bodyPr wrap="square" lIns="0" tIns="0" rIns="0" bIns="0" rtlCol="0" anchor="t"/>
          <a:lstStyle/>
          <a:p>
            <a:pPr indent="0" marL="0">
              <a:buNone/>
            </a:pPr>
            <a:r>
              <a:rPr lang="en-US" sz="950" dirty="0">
                <a:solidFill>
                  <a:srgbClr val="8A8375"/>
                </a:solidFill>
                <a:latin typeface="Calibri" pitchFamily="34" charset="0"/>
                <a:ea typeface="Calibri" pitchFamily="34" charset="-122"/>
                <a:cs typeface="Calibri" pitchFamily="34" charset="-120"/>
              </a:rPr>
              <a:t>embed + search + guard · target ≤ 300 ms</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05 · READ · EVIDENCE-ANCHORED EXTRACTION</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Every step must cite the sentence it came from</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06 / 18</a:t>
            </a:r>
            <a:endParaRPr lang="en-US" sz="750" dirty="0"/>
          </a:p>
        </p:txBody>
      </p:sp>
      <p:sp>
        <p:nvSpPr>
          <p:cNvPr id="6" name="Shape 4"/>
          <p:cNvSpPr/>
          <p:nvPr/>
        </p:nvSpPr>
        <p:spPr>
          <a:xfrm>
            <a:off x="457200" y="1234440"/>
            <a:ext cx="4206240" cy="1965960"/>
          </a:xfrm>
          <a:prstGeom prst="roundRect">
            <a:avLst>
              <a:gd name="adj" fmla="val 3721"/>
            </a:avLst>
          </a:prstGeom>
          <a:solidFill>
            <a:srgbClr val="FFFFFF"/>
          </a:solidFill>
          <a:ln w="9525">
            <a:solidFill>
              <a:srgbClr val="D9D2C3"/>
            </a:solidFill>
            <a:prstDash val="solid"/>
          </a:ln>
        </p:spPr>
      </p:sp>
      <p:sp>
        <p:nvSpPr>
          <p:cNvPr id="7" name="Text 5"/>
          <p:cNvSpPr txBox="1"/>
          <p:nvPr/>
        </p:nvSpPr>
        <p:spPr>
          <a:xfrm>
            <a:off x="594360" y="1307592"/>
            <a:ext cx="3931920" cy="228600"/>
          </a:xfrm>
          <a:prstGeom prst="rect">
            <a:avLst/>
          </a:prstGeom>
          <a:noFill/>
          <a:ln/>
        </p:spPr>
        <p:txBody>
          <a:bodyPr wrap="square" lIns="0" tIns="0" rIns="0" bIns="0" rtlCol="0" anchor="t"/>
          <a:lstStyle/>
          <a:p>
            <a:pPr indent="0" marL="0">
              <a:buNone/>
            </a:pPr>
            <a:r>
              <a:rPr lang="en-US" sz="800" dirty="0">
                <a:solidFill>
                  <a:srgbClr val="8A8375"/>
                </a:solidFill>
                <a:latin typeface="Courier New" pitchFamily="34" charset="0"/>
                <a:ea typeface="Courier New" pitchFamily="34" charset="-122"/>
                <a:cs typeface="Courier New" pitchFamily="34" charset="-120"/>
              </a:rPr>
              <a:t>SIIS article → numbered sentences</a:t>
            </a:r>
            <a:endParaRPr lang="en-US" sz="800" dirty="0"/>
          </a:p>
        </p:txBody>
      </p:sp>
      <p:sp>
        <p:nvSpPr>
          <p:cNvPr id="8" name="Text 6"/>
          <p:cNvSpPr txBox="1"/>
          <p:nvPr/>
        </p:nvSpPr>
        <p:spPr>
          <a:xfrm>
            <a:off x="594360" y="1572768"/>
            <a:ext cx="3931920" cy="438912"/>
          </a:xfrm>
          <a:prstGeom prst="rect">
            <a:avLst/>
          </a:prstGeom>
          <a:noFill/>
          <a:ln/>
        </p:spPr>
        <p:txBody>
          <a:bodyPr wrap="square" lIns="0" tIns="0" rIns="0" bIns="0" rtlCol="0" anchor="t"/>
          <a:lstStyle/>
          <a:p>
            <a:pPr indent="0" marL="0">
              <a:buNone/>
            </a:pPr>
            <a:r>
              <a:rPr lang="en-US" sz="850" dirty="0">
                <a:solidFill>
                  <a:srgbClr val="4A453C"/>
                </a:solidFill>
                <a:latin typeface="Courier New" pitchFamily="34" charset="0"/>
                <a:ea typeface="Courier New" pitchFamily="34" charset="-122"/>
                <a:cs typeface="Courier New" pitchFamily="34" charset="-120"/>
              </a:rPr>
              <a:t>[12] If you wish to keep your screen protector on, you can try enabling the Touch sensitivity option.</a:t>
            </a:r>
            <a:endParaRPr lang="en-US" sz="850" dirty="0"/>
          </a:p>
        </p:txBody>
      </p:sp>
      <p:sp>
        <p:nvSpPr>
          <p:cNvPr id="9" name="Shape 7"/>
          <p:cNvSpPr/>
          <p:nvPr/>
        </p:nvSpPr>
        <p:spPr>
          <a:xfrm>
            <a:off x="548640" y="2029968"/>
            <a:ext cx="4023360" cy="502920"/>
          </a:xfrm>
          <a:prstGeom prst="roundRect">
            <a:avLst>
              <a:gd name="adj" fmla="val 9091"/>
            </a:avLst>
          </a:prstGeom>
          <a:solidFill>
            <a:srgbClr val="FFE4D6"/>
          </a:solidFill>
          <a:ln/>
        </p:spPr>
      </p:sp>
      <p:sp>
        <p:nvSpPr>
          <p:cNvPr id="10" name="Text 8"/>
          <p:cNvSpPr txBox="1"/>
          <p:nvPr/>
        </p:nvSpPr>
        <p:spPr>
          <a:xfrm>
            <a:off x="594360" y="2048256"/>
            <a:ext cx="3931920" cy="475488"/>
          </a:xfrm>
          <a:prstGeom prst="rect">
            <a:avLst/>
          </a:prstGeom>
          <a:noFill/>
          <a:ln/>
        </p:spPr>
        <p:txBody>
          <a:bodyPr wrap="square" lIns="0" tIns="0" rIns="0" bIns="0" rtlCol="0" anchor="t"/>
          <a:lstStyle/>
          <a:p>
            <a:pPr indent="0" marL="0">
              <a:buNone/>
            </a:pPr>
            <a:r>
              <a:rPr lang="en-US" sz="850" b="1" dirty="0">
                <a:solidFill>
                  <a:srgbClr val="B93A0B"/>
                </a:solidFill>
                <a:latin typeface="Courier New" pitchFamily="34" charset="0"/>
                <a:ea typeface="Courier New" pitchFamily="34" charset="-122"/>
                <a:cs typeface="Courier New" pitchFamily="34" charset="-120"/>
              </a:rPr>
              <a:t>[13] To do this, go to Settings, tap Display, and then tap the switch next to Touch sensitivity.</a:t>
            </a:r>
            <a:endParaRPr lang="en-US" sz="850" dirty="0"/>
          </a:p>
        </p:txBody>
      </p:sp>
      <p:sp>
        <p:nvSpPr>
          <p:cNvPr id="11" name="Text 9"/>
          <p:cNvSpPr txBox="1"/>
          <p:nvPr/>
        </p:nvSpPr>
        <p:spPr>
          <a:xfrm>
            <a:off x="594360" y="2606040"/>
            <a:ext cx="3931920" cy="457200"/>
          </a:xfrm>
          <a:prstGeom prst="rect">
            <a:avLst/>
          </a:prstGeom>
          <a:noFill/>
          <a:ln/>
        </p:spPr>
        <p:txBody>
          <a:bodyPr wrap="square" lIns="0" tIns="0" rIns="0" bIns="0" rtlCol="0" anchor="t"/>
          <a:lstStyle/>
          <a:p>
            <a:pPr indent="0" marL="0">
              <a:buNone/>
            </a:pPr>
            <a:r>
              <a:rPr lang="en-US" sz="850" dirty="0">
                <a:solidFill>
                  <a:srgbClr val="8A8375"/>
                </a:solidFill>
                <a:latin typeface="Courier New" pitchFamily="34" charset="0"/>
                <a:ea typeface="Courier New" pitchFamily="34" charset="-122"/>
                <a:cs typeface="Courier New" pitchFamily="34" charset="-120"/>
              </a:rPr>
              <a:t>[14] Usage Habits: The touchscreen might not work correctly if you're wearing gloves…</a:t>
            </a:r>
            <a:endParaRPr lang="en-US" sz="850" dirty="0"/>
          </a:p>
        </p:txBody>
      </p:sp>
      <p:sp>
        <p:nvSpPr>
          <p:cNvPr id="12" name="Shape 10"/>
          <p:cNvSpPr/>
          <p:nvPr/>
        </p:nvSpPr>
        <p:spPr>
          <a:xfrm>
            <a:off x="2560320" y="3246120"/>
            <a:ext cx="914" cy="228600"/>
          </a:xfrm>
          <a:prstGeom prst="line">
            <a:avLst/>
          </a:prstGeom>
          <a:noFill/>
          <a:ln w="15875">
            <a:solidFill>
              <a:srgbClr val="17140F"/>
            </a:solidFill>
            <a:prstDash val="solid"/>
            <a:tailEnd type="triangle"/>
          </a:ln>
        </p:spPr>
      </p:sp>
      <p:sp>
        <p:nvSpPr>
          <p:cNvPr id="13" name="Shape 11"/>
          <p:cNvSpPr/>
          <p:nvPr/>
        </p:nvSpPr>
        <p:spPr>
          <a:xfrm>
            <a:off x="457200" y="3520440"/>
            <a:ext cx="4206240" cy="658368"/>
          </a:xfrm>
          <a:prstGeom prst="roundRect">
            <a:avLst>
              <a:gd name="adj" fmla="val 11111"/>
            </a:avLst>
          </a:prstGeom>
          <a:solidFill>
            <a:srgbClr val="FFFFFF"/>
          </a:solidFill>
          <a:ln w="9525">
            <a:solidFill>
              <a:srgbClr val="1D7A52"/>
            </a:solidFill>
            <a:prstDash val="solid"/>
          </a:ln>
        </p:spPr>
      </p:sp>
      <p:pic>
        <p:nvPicPr>
          <p:cNvPr id="14" name="Image 0" descr="preencoded.png">    </p:cNvPr>
          <p:cNvPicPr>
            <a:picLocks noChangeAspect="1"/>
          </p:cNvPicPr>
          <p:nvPr/>
        </p:nvPicPr>
        <p:blipFill>
          <a:blip r:embed="rId1"/>
          <a:stretch>
            <a:fillRect/>
          </a:stretch>
        </p:blipFill>
        <p:spPr>
          <a:xfrm>
            <a:off x="594360" y="3730752"/>
            <a:ext cx="201168" cy="201168"/>
          </a:xfrm>
          <a:prstGeom prst="rect">
            <a:avLst/>
          </a:prstGeom>
        </p:spPr>
      </p:pic>
      <p:sp>
        <p:nvSpPr>
          <p:cNvPr id="15" name="Text 12"/>
          <p:cNvSpPr txBox="1"/>
          <p:nvPr/>
        </p:nvSpPr>
        <p:spPr>
          <a:xfrm>
            <a:off x="896112" y="3520440"/>
            <a:ext cx="3703320" cy="658368"/>
          </a:xfrm>
          <a:prstGeom prst="rect">
            <a:avLst/>
          </a:prstGeom>
          <a:noFill/>
          <a:ln/>
        </p:spPr>
        <p:txBody>
          <a:bodyPr wrap="square" lIns="0" tIns="0" rIns="0" bIns="0" rtlCol="0" anchor="ctr"/>
          <a:lstStyle/>
          <a:p>
            <a:pPr indent="0" marL="0">
              <a:buNone/>
            </a:pPr>
            <a:r>
              <a:rPr lang="en-US" sz="1050" b="1" dirty="0">
                <a:solidFill>
                  <a:srgbClr val="17140F"/>
                </a:solidFill>
                <a:latin typeface="Calibri" pitchFamily="34" charset="0"/>
                <a:ea typeface="Calibri" pitchFamily="34" charset="-122"/>
                <a:cs typeface="Calibri" pitchFamily="34" charset="-120"/>
              </a:rPr>
              <a:t>“Tap the switch next to Touch sensitivity.”   </a:t>
            </a:r>
            <a:pPr indent="0" marL="0">
              <a:buNone/>
            </a:pPr>
            <a:r>
              <a:rPr lang="en-US" sz="900" dirty="0">
                <a:solidFill>
                  <a:srgbClr val="1D7A52"/>
                </a:solidFill>
                <a:latin typeface="Courier New" pitchFamily="34" charset="0"/>
                <a:ea typeface="Courier New" pitchFamily="34" charset="-122"/>
                <a:cs typeface="Courier New" pitchFamily="34" charset="-120"/>
              </a:rPr>
              <a:t>src: [13] → key words found → kept</a:t>
            </a:r>
            <a:endParaRPr lang="en-US" sz="1050" dirty="0"/>
          </a:p>
        </p:txBody>
      </p:sp>
      <p:sp>
        <p:nvSpPr>
          <p:cNvPr id="16" name="Shape 13"/>
          <p:cNvSpPr/>
          <p:nvPr/>
        </p:nvSpPr>
        <p:spPr>
          <a:xfrm>
            <a:off x="4983480" y="1252728"/>
            <a:ext cx="292608" cy="292608"/>
          </a:xfrm>
          <a:prstGeom prst="ellipse">
            <a:avLst/>
          </a:prstGeom>
          <a:solidFill>
            <a:srgbClr val="FF5A1F"/>
          </a:solidFill>
          <a:ln/>
        </p:spPr>
      </p:sp>
      <p:sp>
        <p:nvSpPr>
          <p:cNvPr id="17" name="Text 14"/>
          <p:cNvSpPr txBox="1"/>
          <p:nvPr/>
        </p:nvSpPr>
        <p:spPr>
          <a:xfrm>
            <a:off x="4983480" y="125272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1</a:t>
            </a:r>
            <a:endParaRPr lang="en-US" sz="1000" dirty="0"/>
          </a:p>
        </p:txBody>
      </p:sp>
      <p:sp>
        <p:nvSpPr>
          <p:cNvPr id="18" name="Text 15"/>
          <p:cNvSpPr txBox="1"/>
          <p:nvPr/>
        </p:nvSpPr>
        <p:spPr>
          <a:xfrm>
            <a:off x="5394960" y="1234440"/>
            <a:ext cx="329184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Grounding check</a:t>
            </a:r>
            <a:endParaRPr lang="en-US" sz="1100" dirty="0"/>
          </a:p>
        </p:txBody>
      </p:sp>
      <p:sp>
        <p:nvSpPr>
          <p:cNvPr id="19" name="Text 16"/>
          <p:cNvSpPr txBox="1"/>
          <p:nvPr/>
        </p:nvSpPr>
        <p:spPr>
          <a:xfrm>
            <a:off x="5394960" y="1453896"/>
            <a:ext cx="3291840" cy="310896"/>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a step's key words must appear in its cited sentence (or a neighbour), otherwise it is dropped</a:t>
            </a:r>
            <a:endParaRPr lang="en-US" sz="900" dirty="0"/>
          </a:p>
        </p:txBody>
      </p:sp>
      <p:sp>
        <p:nvSpPr>
          <p:cNvPr id="20" name="Shape 17"/>
          <p:cNvSpPr/>
          <p:nvPr/>
        </p:nvSpPr>
        <p:spPr>
          <a:xfrm>
            <a:off x="4983480" y="1801368"/>
            <a:ext cx="292608" cy="292608"/>
          </a:xfrm>
          <a:prstGeom prst="ellipse">
            <a:avLst/>
          </a:prstGeom>
          <a:solidFill>
            <a:srgbClr val="FF5A1F"/>
          </a:solidFill>
          <a:ln/>
        </p:spPr>
      </p:sp>
      <p:sp>
        <p:nvSpPr>
          <p:cNvPr id="21" name="Text 18"/>
          <p:cNvSpPr txBox="1"/>
          <p:nvPr/>
        </p:nvSpPr>
        <p:spPr>
          <a:xfrm>
            <a:off x="4983480" y="180136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2</a:t>
            </a:r>
            <a:endParaRPr lang="en-US" sz="1000" dirty="0"/>
          </a:p>
        </p:txBody>
      </p:sp>
      <p:sp>
        <p:nvSpPr>
          <p:cNvPr id="22" name="Text 19"/>
          <p:cNvSpPr txBox="1"/>
          <p:nvPr/>
        </p:nvSpPr>
        <p:spPr>
          <a:xfrm>
            <a:off x="5394960" y="1783080"/>
            <a:ext cx="329184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No invented UI</a:t>
            </a:r>
            <a:endParaRPr lang="en-US" sz="1100" dirty="0"/>
          </a:p>
        </p:txBody>
      </p:sp>
      <p:sp>
        <p:nvSpPr>
          <p:cNvPr id="23" name="Text 20"/>
          <p:cNvSpPr txBox="1"/>
          <p:nvPr/>
        </p:nvSpPr>
        <p:spPr>
          <a:xfrm>
            <a:off x="5394960" y="2002536"/>
            <a:ext cx="3291840" cy="310896"/>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'Tap on Force Restart Device' and outcome sentences like 'Your phone will restart' are removed</a:t>
            </a:r>
            <a:endParaRPr lang="en-US" sz="900" dirty="0"/>
          </a:p>
        </p:txBody>
      </p:sp>
      <p:sp>
        <p:nvSpPr>
          <p:cNvPr id="24" name="Shape 21"/>
          <p:cNvSpPr/>
          <p:nvPr/>
        </p:nvSpPr>
        <p:spPr>
          <a:xfrm>
            <a:off x="4983480" y="2350008"/>
            <a:ext cx="292608" cy="292608"/>
          </a:xfrm>
          <a:prstGeom prst="ellipse">
            <a:avLst/>
          </a:prstGeom>
          <a:solidFill>
            <a:srgbClr val="FF5A1F"/>
          </a:solidFill>
          <a:ln/>
        </p:spPr>
      </p:sp>
      <p:sp>
        <p:nvSpPr>
          <p:cNvPr id="25" name="Text 22"/>
          <p:cNvSpPr txBox="1"/>
          <p:nvPr/>
        </p:nvSpPr>
        <p:spPr>
          <a:xfrm>
            <a:off x="4983480" y="235000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3</a:t>
            </a:r>
            <a:endParaRPr lang="en-US" sz="1000" dirty="0"/>
          </a:p>
        </p:txBody>
      </p:sp>
      <p:sp>
        <p:nvSpPr>
          <p:cNvPr id="26" name="Text 23"/>
          <p:cNvSpPr txBox="1"/>
          <p:nvPr/>
        </p:nvSpPr>
        <p:spPr>
          <a:xfrm>
            <a:off x="5394960" y="2331720"/>
            <a:ext cx="329184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Conditions respected</a:t>
            </a:r>
            <a:endParaRPr lang="en-US" sz="1100" dirty="0"/>
          </a:p>
        </p:txBody>
      </p:sp>
      <p:sp>
        <p:nvSpPr>
          <p:cNvPr id="27" name="Text 24"/>
          <p:cNvSpPr txBox="1"/>
          <p:nvPr/>
        </p:nvSpPr>
        <p:spPr>
          <a:xfrm>
            <a:off x="5394960" y="2551176"/>
            <a:ext cx="3291840" cy="310896"/>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'if you're NOT using a protector…' steps only appear when the condition fits</a:t>
            </a:r>
            <a:endParaRPr lang="en-US" sz="900" dirty="0"/>
          </a:p>
        </p:txBody>
      </p:sp>
      <p:sp>
        <p:nvSpPr>
          <p:cNvPr id="28" name="Shape 25"/>
          <p:cNvSpPr/>
          <p:nvPr/>
        </p:nvSpPr>
        <p:spPr>
          <a:xfrm>
            <a:off x="4983480" y="2898648"/>
            <a:ext cx="292608" cy="292608"/>
          </a:xfrm>
          <a:prstGeom prst="ellipse">
            <a:avLst/>
          </a:prstGeom>
          <a:solidFill>
            <a:srgbClr val="FF5A1F"/>
          </a:solidFill>
          <a:ln/>
        </p:spPr>
      </p:sp>
      <p:sp>
        <p:nvSpPr>
          <p:cNvPr id="29" name="Text 26"/>
          <p:cNvSpPr txBox="1"/>
          <p:nvPr/>
        </p:nvSpPr>
        <p:spPr>
          <a:xfrm>
            <a:off x="4983480" y="289864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4</a:t>
            </a:r>
            <a:endParaRPr lang="en-US" sz="1000" dirty="0"/>
          </a:p>
        </p:txBody>
      </p:sp>
      <p:sp>
        <p:nvSpPr>
          <p:cNvPr id="30" name="Text 27"/>
          <p:cNvSpPr txBox="1"/>
          <p:nvPr/>
        </p:nvSpPr>
        <p:spPr>
          <a:xfrm>
            <a:off x="5394960" y="2880360"/>
            <a:ext cx="329184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Relevance gate</a:t>
            </a:r>
            <a:endParaRPr lang="en-US" sz="1100" dirty="0"/>
          </a:p>
        </p:txBody>
      </p:sp>
      <p:sp>
        <p:nvSpPr>
          <p:cNvPr id="31" name="Text 28"/>
          <p:cNvSpPr txBox="1"/>
          <p:nvPr/>
        </p:nvSpPr>
        <p:spPr>
          <a:xfrm>
            <a:off x="5394960" y="3099816"/>
            <a:ext cx="3291840" cy="310896"/>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article doesn't address the complaint → contexts: [] + fallback: no_match</a:t>
            </a:r>
            <a:endParaRPr lang="en-US" sz="900" dirty="0"/>
          </a:p>
        </p:txBody>
      </p:sp>
      <p:sp>
        <p:nvSpPr>
          <p:cNvPr id="32" name="Shape 29"/>
          <p:cNvSpPr/>
          <p:nvPr/>
        </p:nvSpPr>
        <p:spPr>
          <a:xfrm>
            <a:off x="4983480" y="3447288"/>
            <a:ext cx="292608" cy="292608"/>
          </a:xfrm>
          <a:prstGeom prst="ellipse">
            <a:avLst/>
          </a:prstGeom>
          <a:solidFill>
            <a:srgbClr val="FF5A1F"/>
          </a:solidFill>
          <a:ln/>
        </p:spPr>
      </p:sp>
      <p:sp>
        <p:nvSpPr>
          <p:cNvPr id="33" name="Text 30"/>
          <p:cNvSpPr txBox="1"/>
          <p:nvPr/>
        </p:nvSpPr>
        <p:spPr>
          <a:xfrm>
            <a:off x="4983480" y="34472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5</a:t>
            </a:r>
            <a:endParaRPr lang="en-US" sz="1000" dirty="0"/>
          </a:p>
        </p:txBody>
      </p:sp>
      <p:sp>
        <p:nvSpPr>
          <p:cNvPr id="34" name="Text 31"/>
          <p:cNvSpPr txBox="1"/>
          <p:nvPr/>
        </p:nvSpPr>
        <p:spPr>
          <a:xfrm>
            <a:off x="5394960" y="3429000"/>
            <a:ext cx="329184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Multi-intent</a:t>
            </a:r>
            <a:endParaRPr lang="en-US" sz="1100" dirty="0"/>
          </a:p>
        </p:txBody>
      </p:sp>
      <p:sp>
        <p:nvSpPr>
          <p:cNvPr id="35" name="Text 32"/>
          <p:cNvSpPr txBox="1"/>
          <p:nvPr/>
        </p:nvSpPr>
        <p:spPr>
          <a:xfrm>
            <a:off x="5394960" y="3648456"/>
            <a:ext cx="3291840" cy="310896"/>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one Goal per distinct problem; identical plans are merged</a:t>
            </a:r>
            <a:endParaRPr lang="en-US" sz="900" dirty="0"/>
          </a:p>
        </p:txBody>
      </p:sp>
      <p:sp>
        <p:nvSpPr>
          <p:cNvPr id="36" name="Text 33"/>
          <p:cNvSpPr txBox="1"/>
          <p:nvPr/>
        </p:nvSpPr>
        <p:spPr>
          <a:xfrm>
            <a:off x="4983480" y="4069080"/>
            <a:ext cx="3749040" cy="365760"/>
          </a:xfrm>
          <a:prstGeom prst="rect">
            <a:avLst/>
          </a:prstGeom>
          <a:noFill/>
          <a:ln/>
        </p:spPr>
        <p:txBody>
          <a:bodyPr wrap="square" lIns="0" tIns="0" rIns="0" bIns="0" rtlCol="0" anchor="t"/>
          <a:lstStyle/>
          <a:p>
            <a:pPr indent="0" marL="0">
              <a:buNone/>
            </a:pPr>
            <a:r>
              <a:rPr lang="en-US" sz="950" b="1" dirty="0">
                <a:solidFill>
                  <a:srgbClr val="17140F"/>
                </a:solidFill>
                <a:latin typeface="Calibri" pitchFamily="34" charset="0"/>
                <a:ea typeface="Calibri" pitchFamily="34" charset="-122"/>
                <a:cs typeface="Calibri" pitchFamily="34" charset="-120"/>
              </a:rPr>
              <a:t>On the 20 provided scenarios:  18 grounded plans  ·  2 honest no_match  ·  3 multi-goal answers</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06 · CONNECT · DEEPLINK RESOLUTION</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Links are chosen from the catalog, never generated</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07 / 18</a:t>
            </a:r>
            <a:endParaRPr lang="en-US" sz="750" dirty="0"/>
          </a:p>
        </p:txBody>
      </p:sp>
      <p:sp>
        <p:nvSpPr>
          <p:cNvPr id="6" name="Shape 4"/>
          <p:cNvSpPr/>
          <p:nvPr/>
        </p:nvSpPr>
        <p:spPr>
          <a:xfrm>
            <a:off x="457200" y="1234440"/>
            <a:ext cx="3931920" cy="603504"/>
          </a:xfrm>
          <a:prstGeom prst="roundRect">
            <a:avLst>
              <a:gd name="adj" fmla="val 12121"/>
            </a:avLst>
          </a:prstGeom>
          <a:solidFill>
            <a:srgbClr val="FFFFFF"/>
          </a:solidFill>
          <a:ln w="9525">
            <a:solidFill>
              <a:srgbClr val="D9D2C3"/>
            </a:solidFill>
            <a:prstDash val="solid"/>
          </a:ln>
        </p:spPr>
      </p:sp>
      <p:sp>
        <p:nvSpPr>
          <p:cNvPr id="7" name="Shape 5"/>
          <p:cNvSpPr/>
          <p:nvPr/>
        </p:nvSpPr>
        <p:spPr>
          <a:xfrm>
            <a:off x="594360" y="1389888"/>
            <a:ext cx="292608" cy="292608"/>
          </a:xfrm>
          <a:prstGeom prst="ellipse">
            <a:avLst/>
          </a:prstGeom>
          <a:solidFill>
            <a:srgbClr val="17140F"/>
          </a:solidFill>
          <a:ln/>
        </p:spPr>
      </p:sp>
      <p:sp>
        <p:nvSpPr>
          <p:cNvPr id="8" name="Text 6"/>
          <p:cNvSpPr txBox="1"/>
          <p:nvPr/>
        </p:nvSpPr>
        <p:spPr>
          <a:xfrm>
            <a:off x="594360" y="1389888"/>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1</a:t>
            </a:r>
            <a:endParaRPr lang="en-US" sz="1000" dirty="0"/>
          </a:p>
        </p:txBody>
      </p:sp>
      <p:sp>
        <p:nvSpPr>
          <p:cNvPr id="9" name="Text 7"/>
          <p:cNvSpPr txBox="1"/>
          <p:nvPr/>
        </p:nvSpPr>
        <p:spPr>
          <a:xfrm>
            <a:off x="1005840" y="1289304"/>
            <a:ext cx="329184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Exact leaf-screen match</a:t>
            </a:r>
            <a:endParaRPr lang="en-US" sz="1100" dirty="0"/>
          </a:p>
        </p:txBody>
      </p:sp>
      <p:sp>
        <p:nvSpPr>
          <p:cNvPr id="10" name="Text 8"/>
          <p:cNvSpPr txBox="1"/>
          <p:nvPr/>
        </p:nvSpPr>
        <p:spPr>
          <a:xfrm>
            <a:off x="1005840" y="1527048"/>
            <a:ext cx="3291840" cy="2743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deterministic: “Navigation bar”, not its parent “Display”</a:t>
            </a:r>
            <a:endParaRPr lang="en-US" sz="900" dirty="0"/>
          </a:p>
        </p:txBody>
      </p:sp>
      <p:sp>
        <p:nvSpPr>
          <p:cNvPr id="11" name="Shape 9"/>
          <p:cNvSpPr/>
          <p:nvPr/>
        </p:nvSpPr>
        <p:spPr>
          <a:xfrm>
            <a:off x="457200" y="1947672"/>
            <a:ext cx="3931920" cy="603504"/>
          </a:xfrm>
          <a:prstGeom prst="roundRect">
            <a:avLst>
              <a:gd name="adj" fmla="val 12121"/>
            </a:avLst>
          </a:prstGeom>
          <a:solidFill>
            <a:srgbClr val="FFFFFF"/>
          </a:solidFill>
          <a:ln w="9525">
            <a:solidFill>
              <a:srgbClr val="D9D2C3"/>
            </a:solidFill>
            <a:prstDash val="solid"/>
          </a:ln>
        </p:spPr>
      </p:sp>
      <p:sp>
        <p:nvSpPr>
          <p:cNvPr id="12" name="Shape 10"/>
          <p:cNvSpPr/>
          <p:nvPr/>
        </p:nvSpPr>
        <p:spPr>
          <a:xfrm>
            <a:off x="594360" y="2103120"/>
            <a:ext cx="292608" cy="292608"/>
          </a:xfrm>
          <a:prstGeom prst="ellipse">
            <a:avLst/>
          </a:prstGeom>
          <a:solidFill>
            <a:srgbClr val="17140F"/>
          </a:solidFill>
          <a:ln/>
        </p:spPr>
      </p:sp>
      <p:sp>
        <p:nvSpPr>
          <p:cNvPr id="13" name="Text 11"/>
          <p:cNvSpPr txBox="1"/>
          <p:nvPr/>
        </p:nvSpPr>
        <p:spPr>
          <a:xfrm>
            <a:off x="594360" y="2103120"/>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2</a:t>
            </a:r>
            <a:endParaRPr lang="en-US" sz="1000" dirty="0"/>
          </a:p>
        </p:txBody>
      </p:sp>
      <p:sp>
        <p:nvSpPr>
          <p:cNvPr id="14" name="Text 12"/>
          <p:cNvSpPr txBox="1"/>
          <p:nvPr/>
        </p:nvSpPr>
        <p:spPr>
          <a:xfrm>
            <a:off x="1005840" y="2002536"/>
            <a:ext cx="329184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Hybrid retrieval</a:t>
            </a:r>
            <a:endParaRPr lang="en-US" sz="1100" dirty="0"/>
          </a:p>
        </p:txBody>
      </p:sp>
      <p:sp>
        <p:nvSpPr>
          <p:cNvPr id="15" name="Text 13"/>
          <p:cNvSpPr txBox="1"/>
          <p:nvPr/>
        </p:nvSpPr>
        <p:spPr>
          <a:xfrm>
            <a:off x="1005840" y="2240280"/>
            <a:ext cx="3291840" cy="2743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BM25 + bge-small dense over 577 entries, RRF fusion</a:t>
            </a:r>
            <a:endParaRPr lang="en-US" sz="900" dirty="0"/>
          </a:p>
        </p:txBody>
      </p:sp>
      <p:sp>
        <p:nvSpPr>
          <p:cNvPr id="16" name="Shape 14"/>
          <p:cNvSpPr/>
          <p:nvPr/>
        </p:nvSpPr>
        <p:spPr>
          <a:xfrm>
            <a:off x="457200" y="2660904"/>
            <a:ext cx="3931920" cy="603504"/>
          </a:xfrm>
          <a:prstGeom prst="roundRect">
            <a:avLst>
              <a:gd name="adj" fmla="val 12121"/>
            </a:avLst>
          </a:prstGeom>
          <a:solidFill>
            <a:srgbClr val="FFFFFF"/>
          </a:solidFill>
          <a:ln w="9525">
            <a:solidFill>
              <a:srgbClr val="D9D2C3"/>
            </a:solidFill>
            <a:prstDash val="solid"/>
          </a:ln>
        </p:spPr>
      </p:sp>
      <p:sp>
        <p:nvSpPr>
          <p:cNvPr id="17" name="Shape 15"/>
          <p:cNvSpPr/>
          <p:nvPr/>
        </p:nvSpPr>
        <p:spPr>
          <a:xfrm>
            <a:off x="594360" y="2816352"/>
            <a:ext cx="292608" cy="292608"/>
          </a:xfrm>
          <a:prstGeom prst="ellipse">
            <a:avLst/>
          </a:prstGeom>
          <a:solidFill>
            <a:srgbClr val="17140F"/>
          </a:solidFill>
          <a:ln/>
        </p:spPr>
      </p:sp>
      <p:sp>
        <p:nvSpPr>
          <p:cNvPr id="18" name="Text 16"/>
          <p:cNvSpPr txBox="1"/>
          <p:nvPr/>
        </p:nvSpPr>
        <p:spPr>
          <a:xfrm>
            <a:off x="594360" y="28163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3</a:t>
            </a:r>
            <a:endParaRPr lang="en-US" sz="1000" dirty="0"/>
          </a:p>
        </p:txBody>
      </p:sp>
      <p:sp>
        <p:nvSpPr>
          <p:cNvPr id="19" name="Text 17"/>
          <p:cNvSpPr txBox="1"/>
          <p:nvPr/>
        </p:nvSpPr>
        <p:spPr>
          <a:xfrm>
            <a:off x="1005840" y="2715768"/>
            <a:ext cx="329184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Depth-aware rerank</a:t>
            </a:r>
            <a:endParaRPr lang="en-US" sz="1100" dirty="0"/>
          </a:p>
        </p:txBody>
      </p:sp>
      <p:sp>
        <p:nvSpPr>
          <p:cNvPr id="20" name="Text 18"/>
          <p:cNvSpPr txBox="1"/>
          <p:nvPr/>
        </p:nvSpPr>
        <p:spPr>
          <a:xfrm>
            <a:off x="1005840" y="2953512"/>
            <a:ext cx="3291840" cy="2743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leaf-token bonus; enable → onURL, disable → offURL</a:t>
            </a:r>
            <a:endParaRPr lang="en-US" sz="900" dirty="0"/>
          </a:p>
        </p:txBody>
      </p:sp>
      <p:sp>
        <p:nvSpPr>
          <p:cNvPr id="21" name="Shape 19"/>
          <p:cNvSpPr/>
          <p:nvPr/>
        </p:nvSpPr>
        <p:spPr>
          <a:xfrm>
            <a:off x="457200" y="3374136"/>
            <a:ext cx="3931920" cy="603504"/>
          </a:xfrm>
          <a:prstGeom prst="roundRect">
            <a:avLst>
              <a:gd name="adj" fmla="val 12121"/>
            </a:avLst>
          </a:prstGeom>
          <a:solidFill>
            <a:srgbClr val="FFFFFF"/>
          </a:solidFill>
          <a:ln w="9525">
            <a:solidFill>
              <a:srgbClr val="D9D2C3"/>
            </a:solidFill>
            <a:prstDash val="solid"/>
          </a:ln>
        </p:spPr>
      </p:sp>
      <p:sp>
        <p:nvSpPr>
          <p:cNvPr id="22" name="Shape 20"/>
          <p:cNvSpPr/>
          <p:nvPr/>
        </p:nvSpPr>
        <p:spPr>
          <a:xfrm>
            <a:off x="594360" y="3529584"/>
            <a:ext cx="292608" cy="292608"/>
          </a:xfrm>
          <a:prstGeom prst="ellipse">
            <a:avLst/>
          </a:prstGeom>
          <a:solidFill>
            <a:srgbClr val="FF5A1F"/>
          </a:solidFill>
          <a:ln/>
        </p:spPr>
      </p:sp>
      <p:sp>
        <p:nvSpPr>
          <p:cNvPr id="23" name="Text 21"/>
          <p:cNvSpPr txBox="1"/>
          <p:nvPr/>
        </p:nvSpPr>
        <p:spPr>
          <a:xfrm>
            <a:off x="594360" y="352958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4</a:t>
            </a:r>
            <a:endParaRPr lang="en-US" sz="1000" dirty="0"/>
          </a:p>
        </p:txBody>
      </p:sp>
      <p:sp>
        <p:nvSpPr>
          <p:cNvPr id="24" name="Text 22"/>
          <p:cNvSpPr txBox="1"/>
          <p:nvPr/>
        </p:nvSpPr>
        <p:spPr>
          <a:xfrm>
            <a:off x="1005840" y="3429000"/>
            <a:ext cx="329184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Closed-set choice</a:t>
            </a:r>
            <a:endParaRPr lang="en-US" sz="1100" dirty="0"/>
          </a:p>
        </p:txBody>
      </p:sp>
      <p:sp>
        <p:nvSpPr>
          <p:cNvPr id="25" name="Text 23"/>
          <p:cNvSpPr txBox="1"/>
          <p:nvPr/>
        </p:nvSpPr>
        <p:spPr>
          <a:xfrm>
            <a:off x="1005840" y="3666744"/>
            <a:ext cx="3291840" cy="2743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small LLM returns a catalog ID or NONE; code copies URI + validation</a:t>
            </a:r>
            <a:endParaRPr lang="en-US" sz="900" dirty="0"/>
          </a:p>
        </p:txBody>
      </p:sp>
      <p:sp>
        <p:nvSpPr>
          <p:cNvPr id="26" name="Text 24"/>
          <p:cNvSpPr txBox="1"/>
          <p:nvPr/>
        </p:nvSpPr>
        <p:spPr>
          <a:xfrm>
            <a:off x="457200" y="4114800"/>
            <a:ext cx="3931920" cy="411480"/>
          </a:xfrm>
          <a:prstGeom prst="rect">
            <a:avLst/>
          </a:prstGeom>
          <a:noFill/>
          <a:ln/>
        </p:spPr>
        <p:txBody>
          <a:bodyPr wrap="square" lIns="0" tIns="0" rIns="0" bIns="0" rtlCol="0" anchor="t"/>
          <a:lstStyle/>
          <a:p>
            <a:pPr indent="0" marL="0">
              <a:buNone/>
            </a:pPr>
            <a:r>
              <a:rPr lang="en-US" sz="900" i="1" dirty="0">
                <a:solidFill>
                  <a:srgbClr val="8A8375"/>
                </a:solidFill>
                <a:latin typeface="Calibri" pitchFamily="34" charset="0"/>
                <a:ea typeface="Calibri" pitchFamily="34" charset="-122"/>
                <a:cs typeface="Calibri" pitchFamily="34" charset="-120"/>
              </a:rPr>
              <a:t>dummy_positive only for a real Settings screen with no catalog entry · manual actions never carry a link</a:t>
            </a:r>
            <a:endParaRPr lang="en-US" sz="900" dirty="0"/>
          </a:p>
        </p:txBody>
      </p:sp>
      <p:graphicFrame>
        <p:nvGraphicFramePr>
          <p:cNvPr id="27" name="Chart 0" descr=""/>
          <p:cNvGraphicFramePr/>
          <p:nvPr/>
        </p:nvGraphicFramePr>
        <p:xfrm>
          <a:off x="4663440" y="1188720"/>
          <a:ext cx="4023360" cy="2743200"/>
        </p:xfrm>
        <a:graphic xmlns:a="http://schemas.openxmlformats.org/drawingml/2006/main">
          <a:graphicData uri="http://schemas.openxmlformats.org/drawingml/2006/chart">
            <c:chart xmlns:c="http://schemas.openxmlformats.org/drawingml/2006/chart" r:id="rId1"/>
          </a:graphicData>
        </a:graphic>
      </p:graphicFrame>
      <p:sp>
        <p:nvSpPr>
          <p:cNvPr id="28" name="Text 25"/>
          <p:cNvSpPr txBox="1"/>
          <p:nvPr/>
        </p:nvSpPr>
        <p:spPr>
          <a:xfrm>
            <a:off x="4663440" y="4005072"/>
            <a:ext cx="4023360" cy="548640"/>
          </a:xfrm>
          <a:prstGeom prst="rect">
            <a:avLst/>
          </a:prstGeom>
          <a:noFill/>
          <a:ln/>
        </p:spPr>
        <p:txBody>
          <a:bodyPr wrap="square" lIns="0" tIns="0" rIns="0" bIns="0" rtlCol="0" anchor="t"/>
          <a:lstStyle/>
          <a:p>
            <a:pPr indent="0" marL="0">
              <a:buNone/>
            </a:pPr>
            <a:r>
              <a:rPr lang="en-US" sz="950" dirty="0">
                <a:solidFill>
                  <a:srgbClr val="4A453C"/>
                </a:solidFill>
                <a:latin typeface="Calibri" pitchFamily="34" charset="0"/>
                <a:ea typeface="Calibri" pitchFamily="34" charset="-122"/>
                <a:cs typeface="Calibri" pitchFamily="34" charset="-120"/>
              </a:rPr>
              <a:t>0% wrong on/off twin (hybrid: 8.3%)  ·  full-catalog LLM costs 43× more per action</a:t>
            </a:r>
            <a:endParaRPr lang="en-US" sz="950" dirty="0"/>
          </a:p>
          <a:p>
            <a:pPr indent="0" marL="0">
              <a:buNone/>
            </a:pPr>
            <a:r>
              <a:rPr lang="en-US" sz="950" dirty="0">
                <a:solidFill>
                  <a:srgbClr val="4A453C"/>
                </a:solidFill>
                <a:latin typeface="Calibri" pitchFamily="34" charset="0"/>
                <a:ea typeface="Calibri" pitchFamily="34" charset="-122"/>
                <a:cs typeface="Calibri" pitchFamily="34" charset="-120"/>
              </a:rPr>
              <a:t>100% of emitted links exist in the catalog: by construction, not by prompt</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07 · CHECK · RULES IN CODE, NOT PROMPTS</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The contract is enforced by code on every response</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08 / 18</a:t>
            </a:r>
            <a:endParaRPr lang="en-US" sz="7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5120640" cy="914400"/>
        </p:xfrm>
        <a:graphic>
          <a:graphicData uri="http://schemas.openxmlformats.org/drawingml/2006/table">
            <a:tbl>
              <a:tblPr/>
              <a:tblGrid>
                <a:gridCol w="1463040"/>
                <a:gridCol w="365760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Rule</a:t>
                      </a:r>
                      <a:endParaRPr lang="en-US" sz="1000" dirty="0">
                        <a:latin typeface="Calibri" charset="0"/>
                        <a:ea typeface="Calibri" charset="0"/>
                        <a:cs typeface="Calibri"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17140F"/>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How OneTap enforces it</a:t>
                      </a:r>
                      <a:endParaRPr lang="en-US" sz="1000" dirty="0">
                        <a:latin typeface="Calibri" charset="0"/>
                        <a:ea typeface="Calibri" charset="0"/>
                        <a:cs typeface="Calibri"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17140F"/>
                    </a:solidFill>
                  </a:tcPr>
                </a:tc>
              </a:tr>
              <a:tr h="329184">
                <a:tc>
                  <a:txBody>
                    <a:bodyPr/>
                    <a:lstStyle/>
                    <a:p>
                      <a:pPr indent="0" marL="0">
                        <a:buNone/>
                      </a:pPr>
                      <a:r>
                        <a:rPr lang="en-US" sz="950" b="1" dirty="0">
                          <a:solidFill>
                            <a:srgbClr val="17140F"/>
                          </a:solidFill>
                          <a:latin typeface="Courier New" pitchFamily="34" charset="0"/>
                          <a:ea typeface="Courier New" pitchFamily="34" charset="-122"/>
                          <a:cs typeface="Courier New" pitchFamily="34" charset="-120"/>
                        </a:rPr>
                        <a:t>goal</a:t>
                      </a:r>
                      <a:endParaRPr lang="en-US" sz="950" dirty="0">
                        <a:latin typeface="Courier New" charset="0"/>
                        <a:ea typeface="Courier New" charset="0"/>
                        <a:cs typeface="Courier New"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indent="0" marL="0">
                        <a:buNone/>
                      </a:pPr>
                      <a:r>
                        <a:rPr lang="en-US" sz="950" dirty="0">
                          <a:solidFill>
                            <a:srgbClr val="17140F"/>
                          </a:solidFill>
                          <a:latin typeface="Calibri" pitchFamily="34" charset="0"/>
                          <a:ea typeface="Calibri" pitchFamily="34" charset="-122"/>
                          <a:cs typeface="Calibri" pitchFamily="34" charset="-120"/>
                        </a:rPr>
                        <a:t>built from a template: “Follow these steps to perform this &lt;Topic&gt; Troubleshooting”</a:t>
                      </a:r>
                      <a:endParaRPr lang="en-US" sz="950" dirty="0">
                        <a:latin typeface="Calibri" charset="0"/>
                        <a:ea typeface="Calibri" charset="0"/>
                        <a:cs typeface="Calibri"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7140F"/>
                          </a:solidFill>
                          <a:latin typeface="Courier New" pitchFamily="34" charset="0"/>
                          <a:ea typeface="Courier New" pitchFamily="34" charset="-122"/>
                          <a:cs typeface="Courier New" pitchFamily="34" charset="-120"/>
                        </a:rPr>
                        <a:t>title</a:t>
                      </a:r>
                      <a:endParaRPr lang="en-US" sz="950" dirty="0">
                        <a:latin typeface="Courier New" charset="0"/>
                        <a:ea typeface="Courier New" charset="0"/>
                        <a:cs typeface="Courier New"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7F5F0"/>
                    </a:solidFill>
                  </a:tcPr>
                </a:tc>
                <a:tc>
                  <a:txBody>
                    <a:bodyPr/>
                    <a:lstStyle/>
                    <a:p>
                      <a:pPr indent="0" marL="0">
                        <a:buNone/>
                      </a:pPr>
                      <a:r>
                        <a:rPr lang="en-US" sz="950" dirty="0">
                          <a:solidFill>
                            <a:srgbClr val="17140F"/>
                          </a:solidFill>
                          <a:latin typeface="Calibri" pitchFamily="34" charset="0"/>
                          <a:ea typeface="Calibri" pitchFamily="34" charset="-122"/>
                          <a:cs typeface="Calibri" pitchFamily="34" charset="-120"/>
                        </a:rPr>
                        <a:t>2-3 words, sentence case: validator + LLM repair + deterministic fallback</a:t>
                      </a:r>
                      <a:endParaRPr lang="en-US" sz="950" dirty="0">
                        <a:latin typeface="Calibri" charset="0"/>
                        <a:ea typeface="Calibri" charset="0"/>
                        <a:cs typeface="Calibri"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7F5F0"/>
                    </a:solidFill>
                  </a:tcPr>
                </a:tc>
              </a:tr>
              <a:tr h="329184">
                <a:tc>
                  <a:txBody>
                    <a:bodyPr/>
                    <a:lstStyle/>
                    <a:p>
                      <a:pPr indent="0" marL="0">
                        <a:buNone/>
                      </a:pPr>
                      <a:r>
                        <a:rPr lang="en-US" sz="950" b="1" dirty="0">
                          <a:solidFill>
                            <a:srgbClr val="17140F"/>
                          </a:solidFill>
                          <a:latin typeface="Courier New" pitchFamily="34" charset="0"/>
                          <a:ea typeface="Courier New" pitchFamily="34" charset="-122"/>
                          <a:cs typeface="Courier New" pitchFamily="34" charset="-120"/>
                        </a:rPr>
                        <a:t>actionName</a:t>
                      </a:r>
                      <a:endParaRPr lang="en-US" sz="950" dirty="0">
                        <a:latin typeface="Courier New" charset="0"/>
                        <a:ea typeface="Courier New" charset="0"/>
                        <a:cs typeface="Courier New"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indent="0" marL="0">
                        <a:buNone/>
                      </a:pPr>
                      <a:r>
                        <a:rPr lang="en-US" sz="950" dirty="0">
                          <a:solidFill>
                            <a:srgbClr val="17140F"/>
                          </a:solidFill>
                          <a:latin typeface="Calibri" pitchFamily="34" charset="0"/>
                          <a:ea typeface="Calibri" pitchFamily="34" charset="-122"/>
                          <a:cs typeface="Calibri" pitchFamily="34" charset="-120"/>
                        </a:rPr>
                        <a:t>Title Case; one action = one screen (segmentation in extraction prompt)</a:t>
                      </a:r>
                      <a:endParaRPr lang="en-US" sz="950" dirty="0">
                        <a:latin typeface="Calibri" charset="0"/>
                        <a:ea typeface="Calibri" charset="0"/>
                        <a:cs typeface="Calibri"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7140F"/>
                          </a:solidFill>
                          <a:latin typeface="Courier New" pitchFamily="34" charset="0"/>
                          <a:ea typeface="Courier New" pitchFamily="34" charset="-122"/>
                          <a:cs typeface="Courier New" pitchFamily="34" charset="-120"/>
                        </a:rPr>
                        <a:t>description</a:t>
                      </a:r>
                      <a:endParaRPr lang="en-US" sz="950" dirty="0">
                        <a:latin typeface="Courier New" charset="0"/>
                        <a:ea typeface="Courier New" charset="0"/>
                        <a:cs typeface="Courier New"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7F5F0"/>
                    </a:solidFill>
                  </a:tcPr>
                </a:tc>
                <a:tc>
                  <a:txBody>
                    <a:bodyPr/>
                    <a:lstStyle/>
                    <a:p>
                      <a:pPr indent="0" marL="0">
                        <a:buNone/>
                      </a:pPr>
                      <a:r>
                        <a:rPr lang="en-US" sz="950" dirty="0">
                          <a:solidFill>
                            <a:srgbClr val="17140F"/>
                          </a:solidFill>
                          <a:latin typeface="Calibri" pitchFamily="34" charset="0"/>
                          <a:ea typeface="Calibri" pitchFamily="34" charset="-122"/>
                          <a:cs typeface="Calibri" pitchFamily="34" charset="-120"/>
                        </a:rPr>
                        <a:t>5-7 words starting “It will”: word-count check, batched repair</a:t>
                      </a:r>
                      <a:endParaRPr lang="en-US" sz="950" dirty="0">
                        <a:latin typeface="Calibri" charset="0"/>
                        <a:ea typeface="Calibri" charset="0"/>
                        <a:cs typeface="Calibri"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7F5F0"/>
                    </a:solidFill>
                  </a:tcPr>
                </a:tc>
              </a:tr>
              <a:tr h="329184">
                <a:tc>
                  <a:txBody>
                    <a:bodyPr/>
                    <a:lstStyle/>
                    <a:p>
                      <a:pPr indent="0" marL="0">
                        <a:buNone/>
                      </a:pPr>
                      <a:r>
                        <a:rPr lang="en-US" sz="950" b="1" dirty="0">
                          <a:solidFill>
                            <a:srgbClr val="17140F"/>
                          </a:solidFill>
                          <a:latin typeface="Courier New" pitchFamily="34" charset="0"/>
                          <a:ea typeface="Courier New" pitchFamily="34" charset="-122"/>
                          <a:cs typeface="Courier New" pitchFamily="34" charset="-120"/>
                        </a:rPr>
                        <a:t>steps</a:t>
                      </a:r>
                      <a:endParaRPr lang="en-US" sz="950" dirty="0">
                        <a:latin typeface="Courier New" charset="0"/>
                        <a:ea typeface="Courier New" charset="0"/>
                        <a:cs typeface="Courier New"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indent="0" marL="0">
                        <a:buNone/>
                      </a:pPr>
                      <a:r>
                        <a:rPr lang="en-US" sz="950" dirty="0">
                          <a:solidFill>
                            <a:srgbClr val="17140F"/>
                          </a:solidFill>
                          <a:latin typeface="Calibri" pitchFamily="34" charset="0"/>
                          <a:ea typeface="Calibri" pitchFamily="34" charset="-122"/>
                          <a:cs typeface="Calibri" pitchFamily="34" charset="-120"/>
                        </a:rPr>
                        <a:t>one interaction each; URLs &amp; markdown scrubbed from every field</a:t>
                      </a:r>
                      <a:endParaRPr lang="en-US" sz="950" dirty="0">
                        <a:latin typeface="Calibri" charset="0"/>
                        <a:ea typeface="Calibri" charset="0"/>
                        <a:cs typeface="Calibri"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7140F"/>
                          </a:solidFill>
                          <a:latin typeface="Courier New" pitchFamily="34" charset="0"/>
                          <a:ea typeface="Courier New" pitchFamily="34" charset="-122"/>
                          <a:cs typeface="Courier New" pitchFamily="34" charset="-120"/>
                        </a:rPr>
                        <a:t>deeplinks</a:t>
                      </a:r>
                      <a:endParaRPr lang="en-US" sz="950" dirty="0">
                        <a:latin typeface="Courier New" charset="0"/>
                        <a:ea typeface="Courier New" charset="0"/>
                        <a:cs typeface="Courier New"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7F5F0"/>
                    </a:solidFill>
                  </a:tcPr>
                </a:tc>
                <a:tc>
                  <a:txBody>
                    <a:bodyPr/>
                    <a:lstStyle/>
                    <a:p>
                      <a:pPr indent="0" marL="0">
                        <a:buNone/>
                      </a:pPr>
                      <a:r>
                        <a:rPr lang="en-US" sz="950" dirty="0">
                          <a:solidFill>
                            <a:srgbClr val="17140F"/>
                          </a:solidFill>
                          <a:latin typeface="Calibri" pitchFamily="34" charset="0"/>
                          <a:ea typeface="Calibri" pitchFamily="34" charset="-122"/>
                          <a:cs typeface="Calibri" pitchFamily="34" charset="-120"/>
                        </a:rPr>
                        <a:t>must exist in catalog; manual actions never carry one</a:t>
                      </a:r>
                      <a:endParaRPr lang="en-US" sz="950" dirty="0">
                        <a:latin typeface="Calibri" charset="0"/>
                        <a:ea typeface="Calibri" charset="0"/>
                        <a:cs typeface="Calibri"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7F5F0"/>
                    </a:solidFill>
                  </a:tcPr>
                </a:tc>
              </a:tr>
              <a:tr h="329184">
                <a:tc>
                  <a:txBody>
                    <a:bodyPr/>
                    <a:lstStyle/>
                    <a:p>
                      <a:pPr indent="0" marL="0">
                        <a:buNone/>
                      </a:pPr>
                      <a:r>
                        <a:rPr lang="en-US" sz="950" b="1" dirty="0">
                          <a:solidFill>
                            <a:srgbClr val="17140F"/>
                          </a:solidFill>
                          <a:latin typeface="Courier New" pitchFamily="34" charset="0"/>
                          <a:ea typeface="Courier New" pitchFamily="34" charset="-122"/>
                          <a:cs typeface="Courier New" pitchFamily="34" charset="-120"/>
                        </a:rPr>
                        <a:t>query_variations</a:t>
                      </a:r>
                      <a:endParaRPr lang="en-US" sz="950" dirty="0">
                        <a:latin typeface="Courier New" charset="0"/>
                        <a:ea typeface="Courier New" charset="0"/>
                        <a:cs typeface="Courier New"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indent="0" marL="0">
                        <a:buNone/>
                      </a:pPr>
                      <a:r>
                        <a:rPr lang="en-US" sz="950" dirty="0">
                          <a:solidFill>
                            <a:srgbClr val="17140F"/>
                          </a:solidFill>
                          <a:latin typeface="Calibri" pitchFamily="34" charset="0"/>
                          <a:ea typeface="Calibri" pitchFamily="34" charset="-122"/>
                          <a:cs typeface="Calibri" pitchFamily="34" charset="-120"/>
                        </a:rPr>
                        <a:t>8-10 distinct rewordings; deterministic top-up</a:t>
                      </a:r>
                      <a:endParaRPr lang="en-US" sz="950" dirty="0">
                        <a:latin typeface="Calibri" charset="0"/>
                        <a:ea typeface="Calibri" charset="0"/>
                        <a:cs typeface="Calibri"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r>
              <a:tr h="329184">
                <a:tc>
                  <a:txBody>
                    <a:bodyPr/>
                    <a:lstStyle/>
                    <a:p>
                      <a:pPr indent="0" marL="0">
                        <a:buNone/>
                      </a:pPr>
                      <a:r>
                        <a:rPr lang="en-US" sz="950" b="1" dirty="0">
                          <a:solidFill>
                            <a:srgbClr val="17140F"/>
                          </a:solidFill>
                          <a:latin typeface="Courier New" pitchFamily="34" charset="0"/>
                          <a:ea typeface="Courier New" pitchFamily="34" charset="-122"/>
                          <a:cs typeface="Courier New" pitchFamily="34" charset="-120"/>
                        </a:rPr>
                        <a:t>schema</a:t>
                      </a:r>
                      <a:endParaRPr lang="en-US" sz="950" dirty="0">
                        <a:latin typeface="Courier New" charset="0"/>
                        <a:ea typeface="Courier New" charset="0"/>
                        <a:cs typeface="Courier New"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7F5F0"/>
                    </a:solidFill>
                  </a:tcPr>
                </a:tc>
                <a:tc>
                  <a:txBody>
                    <a:bodyPr/>
                    <a:lstStyle/>
                    <a:p>
                      <a:pPr indent="0" marL="0">
                        <a:buNone/>
                      </a:pPr>
                      <a:r>
                        <a:rPr lang="en-US" sz="950" dirty="0">
                          <a:solidFill>
                            <a:srgbClr val="17140F"/>
                          </a:solidFill>
                          <a:latin typeface="Calibri" pitchFamily="34" charset="0"/>
                          <a:ea typeface="Calibri" pitchFamily="34" charset="-122"/>
                          <a:cs typeface="Calibri" pitchFamily="34" charset="-120"/>
                        </a:rPr>
                        <a:t>Pydantic gate on the provided schema.py before any response</a:t>
                      </a:r>
                      <a:endParaRPr lang="en-US" sz="950" dirty="0">
                        <a:latin typeface="Calibri" charset="0"/>
                        <a:ea typeface="Calibri" charset="0"/>
                        <a:cs typeface="Calibri" charset="0"/>
                      </a:endParaRPr>
                    </a:p>
                  </a:txBody>
                  <a:tcPr marL="73152" marR="73152"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7F5F0"/>
                    </a:solidFill>
                  </a:tcPr>
                </a:tc>
              </a:tr>
            </a:tbl>
          </a:graphicData>
        </a:graphic>
      </p:graphicFrame>
      <p:sp>
        <p:nvSpPr>
          <p:cNvPr id="7" name="Text 4"/>
          <p:cNvSpPr txBox="1"/>
          <p:nvPr/>
        </p:nvSpPr>
        <p:spPr>
          <a:xfrm>
            <a:off x="5943600" y="1234440"/>
            <a:ext cx="2743200" cy="274320"/>
          </a:xfrm>
          <a:prstGeom prst="rect">
            <a:avLst/>
          </a:prstGeom>
          <a:noFill/>
          <a:ln/>
        </p:spPr>
        <p:txBody>
          <a:bodyPr wrap="square" lIns="0" tIns="0" rIns="0" bIns="0" rtlCol="0" anchor="t"/>
          <a:lstStyle/>
          <a:p>
            <a:pPr indent="0" marL="0">
              <a:buNone/>
            </a:pPr>
            <a:r>
              <a:rPr lang="en-US" sz="1400" b="1" dirty="0">
                <a:solidFill>
                  <a:srgbClr val="17140F"/>
                </a:solidFill>
                <a:latin typeface="Cambria" pitchFamily="34" charset="0"/>
                <a:ea typeface="Cambria" pitchFamily="34" charset="-122"/>
                <a:cs typeface="Cambria" pitchFamily="34" charset="-120"/>
              </a:rPr>
              <a:t>Ordering contract</a:t>
            </a:r>
            <a:endParaRPr lang="en-US" sz="1400" dirty="0"/>
          </a:p>
        </p:txBody>
      </p:sp>
      <p:sp>
        <p:nvSpPr>
          <p:cNvPr id="8" name="Shape 5"/>
          <p:cNvSpPr/>
          <p:nvPr/>
        </p:nvSpPr>
        <p:spPr>
          <a:xfrm>
            <a:off x="5943600" y="1627632"/>
            <a:ext cx="2743200" cy="658368"/>
          </a:xfrm>
          <a:prstGeom prst="roundRect">
            <a:avLst>
              <a:gd name="adj" fmla="val 11111"/>
            </a:avLst>
          </a:prstGeom>
          <a:solidFill>
            <a:srgbClr val="DCEFE4"/>
          </a:solidFill>
          <a:ln/>
        </p:spPr>
      </p:sp>
      <p:sp>
        <p:nvSpPr>
          <p:cNvPr id="9" name="Text 6"/>
          <p:cNvSpPr txBox="1"/>
          <p:nvPr/>
        </p:nvSpPr>
        <p:spPr>
          <a:xfrm>
            <a:off x="6080760" y="1691640"/>
            <a:ext cx="1188720" cy="219456"/>
          </a:xfrm>
          <a:prstGeom prst="rect">
            <a:avLst/>
          </a:prstGeom>
          <a:noFill/>
          <a:ln/>
        </p:spPr>
        <p:txBody>
          <a:bodyPr wrap="square" lIns="0" tIns="0" rIns="0" bIns="0" rtlCol="0" anchor="t"/>
          <a:lstStyle/>
          <a:p>
            <a:pPr indent="0" marL="0">
              <a:buNone/>
            </a:pPr>
            <a:r>
              <a:rPr lang="en-US" sz="1000" b="1" dirty="0">
                <a:solidFill>
                  <a:srgbClr val="1D7A52"/>
                </a:solidFill>
                <a:latin typeface="Courier New" pitchFamily="34" charset="0"/>
                <a:ea typeface="Courier New" pitchFamily="34" charset="-122"/>
                <a:cs typeface="Courier New" pitchFamily="34" charset="-120"/>
              </a:rPr>
              <a:t>AUTO</a:t>
            </a:r>
            <a:endParaRPr lang="en-US" sz="1000" dirty="0"/>
          </a:p>
        </p:txBody>
      </p:sp>
      <p:sp>
        <p:nvSpPr>
          <p:cNvPr id="10" name="Text 7"/>
          <p:cNvSpPr txBox="1"/>
          <p:nvPr/>
        </p:nvSpPr>
        <p:spPr>
          <a:xfrm>
            <a:off x="7223760" y="1691640"/>
            <a:ext cx="1371600" cy="219456"/>
          </a:xfrm>
          <a:prstGeom prst="rect">
            <a:avLst/>
          </a:prstGeom>
          <a:noFill/>
          <a:ln/>
        </p:spPr>
        <p:txBody>
          <a:bodyPr wrap="square" lIns="0" tIns="0" rIns="0" bIns="0" rtlCol="0" anchor="t"/>
          <a:lstStyle/>
          <a:p>
            <a:pPr algn="r" indent="0" marL="0">
              <a:buNone/>
            </a:pPr>
            <a:r>
              <a:rPr lang="en-US" sz="850" i="1" dirty="0">
                <a:solidFill>
                  <a:srgbClr val="1D7A52"/>
                </a:solidFill>
                <a:latin typeface="Calibri" pitchFamily="34" charset="0"/>
                <a:ea typeface="Calibri" pitchFamily="34" charset="-122"/>
                <a:cs typeface="Calibri" pitchFamily="34" charset="-120"/>
              </a:rPr>
              <a:t>one-tap deeplink</a:t>
            </a:r>
            <a:endParaRPr lang="en-US" sz="850" dirty="0"/>
          </a:p>
        </p:txBody>
      </p:sp>
      <p:sp>
        <p:nvSpPr>
          <p:cNvPr id="11" name="Text 8"/>
          <p:cNvSpPr txBox="1"/>
          <p:nvPr/>
        </p:nvSpPr>
        <p:spPr>
          <a:xfrm>
            <a:off x="6080760" y="1956816"/>
            <a:ext cx="2560320" cy="274320"/>
          </a:xfrm>
          <a:prstGeom prst="rect">
            <a:avLst/>
          </a:prstGeom>
          <a:noFill/>
          <a:ln/>
        </p:spPr>
        <p:txBody>
          <a:bodyPr wrap="square" lIns="0" tIns="0" rIns="0" bIns="0" rtlCol="0" anchor="t"/>
          <a:lstStyle/>
          <a:p>
            <a:pPr indent="0" marL="0">
              <a:buNone/>
            </a:pPr>
            <a:r>
              <a:rPr lang="en-US" sz="950" dirty="0">
                <a:solidFill>
                  <a:srgbClr val="17140F"/>
                </a:solidFill>
                <a:latin typeface="Calibri" pitchFamily="34" charset="0"/>
                <a:ea typeface="Calibri" pitchFamily="34" charset="-122"/>
                <a:cs typeface="Calibri" pitchFamily="34" charset="-120"/>
              </a:rPr>
              <a:t>Settings toggles &amp; pages</a:t>
            </a:r>
            <a:endParaRPr lang="en-US" sz="950" dirty="0"/>
          </a:p>
        </p:txBody>
      </p:sp>
      <p:sp>
        <p:nvSpPr>
          <p:cNvPr id="12" name="Shape 9"/>
          <p:cNvSpPr/>
          <p:nvPr/>
        </p:nvSpPr>
        <p:spPr>
          <a:xfrm>
            <a:off x="7315200" y="2304288"/>
            <a:ext cx="914" cy="173736"/>
          </a:xfrm>
          <a:prstGeom prst="line">
            <a:avLst/>
          </a:prstGeom>
          <a:noFill/>
          <a:ln w="15875">
            <a:solidFill>
              <a:srgbClr val="4A453C"/>
            </a:solidFill>
            <a:prstDash val="solid"/>
            <a:tailEnd type="triangle"/>
          </a:ln>
        </p:spPr>
      </p:sp>
      <p:sp>
        <p:nvSpPr>
          <p:cNvPr id="13" name="Shape 10"/>
          <p:cNvSpPr/>
          <p:nvPr/>
        </p:nvSpPr>
        <p:spPr>
          <a:xfrm>
            <a:off x="5943600" y="2496312"/>
            <a:ext cx="2743200" cy="658368"/>
          </a:xfrm>
          <a:prstGeom prst="roundRect">
            <a:avLst>
              <a:gd name="adj" fmla="val 11111"/>
            </a:avLst>
          </a:prstGeom>
          <a:solidFill>
            <a:srgbClr val="E2E6FB"/>
          </a:solidFill>
          <a:ln/>
        </p:spPr>
      </p:sp>
      <p:sp>
        <p:nvSpPr>
          <p:cNvPr id="14" name="Text 11"/>
          <p:cNvSpPr txBox="1"/>
          <p:nvPr/>
        </p:nvSpPr>
        <p:spPr>
          <a:xfrm>
            <a:off x="6080760" y="2560320"/>
            <a:ext cx="1188720" cy="219456"/>
          </a:xfrm>
          <a:prstGeom prst="rect">
            <a:avLst/>
          </a:prstGeom>
          <a:noFill/>
          <a:ln/>
        </p:spPr>
        <p:txBody>
          <a:bodyPr wrap="square" lIns="0" tIns="0" rIns="0" bIns="0" rtlCol="0" anchor="t"/>
          <a:lstStyle/>
          <a:p>
            <a:pPr indent="0" marL="0">
              <a:buNone/>
            </a:pPr>
            <a:r>
              <a:rPr lang="en-US" sz="1000" b="1" dirty="0">
                <a:solidFill>
                  <a:srgbClr val="2F47D6"/>
                </a:solidFill>
                <a:latin typeface="Courier New" pitchFamily="34" charset="0"/>
                <a:ea typeface="Courier New" pitchFamily="34" charset="-122"/>
                <a:cs typeface="Courier New" pitchFamily="34" charset="-120"/>
              </a:rPr>
              <a:t>MANUAL</a:t>
            </a:r>
            <a:endParaRPr lang="en-US" sz="1000" dirty="0"/>
          </a:p>
        </p:txBody>
      </p:sp>
      <p:sp>
        <p:nvSpPr>
          <p:cNvPr id="15" name="Text 12"/>
          <p:cNvSpPr txBox="1"/>
          <p:nvPr/>
        </p:nvSpPr>
        <p:spPr>
          <a:xfrm>
            <a:off x="7223760" y="2560320"/>
            <a:ext cx="1371600" cy="219456"/>
          </a:xfrm>
          <a:prstGeom prst="rect">
            <a:avLst/>
          </a:prstGeom>
          <a:noFill/>
          <a:ln/>
        </p:spPr>
        <p:txBody>
          <a:bodyPr wrap="square" lIns="0" tIns="0" rIns="0" bIns="0" rtlCol="0" anchor="t"/>
          <a:lstStyle/>
          <a:p>
            <a:pPr algn="r" indent="0" marL="0">
              <a:buNone/>
            </a:pPr>
            <a:r>
              <a:rPr lang="en-US" sz="850" i="1" dirty="0">
                <a:solidFill>
                  <a:srgbClr val="2F47D6"/>
                </a:solidFill>
                <a:latin typeface="Calibri" pitchFamily="34" charset="0"/>
                <a:ea typeface="Calibri" pitchFamily="34" charset="-122"/>
                <a:cs typeface="Calibri" pitchFamily="34" charset="-120"/>
              </a:rPr>
              <a:t>never a deeplink</a:t>
            </a:r>
            <a:endParaRPr lang="en-US" sz="850" dirty="0"/>
          </a:p>
        </p:txBody>
      </p:sp>
      <p:sp>
        <p:nvSpPr>
          <p:cNvPr id="16" name="Text 13"/>
          <p:cNvSpPr txBox="1"/>
          <p:nvPr/>
        </p:nvSpPr>
        <p:spPr>
          <a:xfrm>
            <a:off x="6080760" y="2825496"/>
            <a:ext cx="2560320" cy="274320"/>
          </a:xfrm>
          <a:prstGeom prst="rect">
            <a:avLst/>
          </a:prstGeom>
          <a:noFill/>
          <a:ln/>
        </p:spPr>
        <p:txBody>
          <a:bodyPr wrap="square" lIns="0" tIns="0" rIns="0" bIns="0" rtlCol="0" anchor="t"/>
          <a:lstStyle/>
          <a:p>
            <a:pPr indent="0" marL="0">
              <a:buNone/>
            </a:pPr>
            <a:r>
              <a:rPr lang="en-US" sz="950" dirty="0">
                <a:solidFill>
                  <a:srgbClr val="17140F"/>
                </a:solidFill>
                <a:latin typeface="Calibri" pitchFamily="34" charset="0"/>
                <a:ea typeface="Calibri" pitchFamily="34" charset="-122"/>
                <a:cs typeface="Calibri" pitchFamily="34" charset="-120"/>
              </a:rPr>
              <a:t>inspect, charge, contact service</a:t>
            </a:r>
            <a:endParaRPr lang="en-US" sz="950" dirty="0"/>
          </a:p>
        </p:txBody>
      </p:sp>
      <p:sp>
        <p:nvSpPr>
          <p:cNvPr id="17" name="Shape 14"/>
          <p:cNvSpPr/>
          <p:nvPr/>
        </p:nvSpPr>
        <p:spPr>
          <a:xfrm>
            <a:off x="7315200" y="3172968"/>
            <a:ext cx="914" cy="173736"/>
          </a:xfrm>
          <a:prstGeom prst="line">
            <a:avLst/>
          </a:prstGeom>
          <a:noFill/>
          <a:ln w="15875">
            <a:solidFill>
              <a:srgbClr val="4A453C"/>
            </a:solidFill>
            <a:prstDash val="solid"/>
            <a:tailEnd type="triangle"/>
          </a:ln>
        </p:spPr>
      </p:sp>
      <p:sp>
        <p:nvSpPr>
          <p:cNvPr id="18" name="Shape 15"/>
          <p:cNvSpPr/>
          <p:nvPr/>
        </p:nvSpPr>
        <p:spPr>
          <a:xfrm>
            <a:off x="5943600" y="3364992"/>
            <a:ext cx="2743200" cy="658368"/>
          </a:xfrm>
          <a:prstGeom prst="roundRect">
            <a:avLst>
              <a:gd name="adj" fmla="val 11111"/>
            </a:avLst>
          </a:prstGeom>
          <a:solidFill>
            <a:srgbClr val="F7E0DA"/>
          </a:solidFill>
          <a:ln/>
        </p:spPr>
      </p:sp>
      <p:sp>
        <p:nvSpPr>
          <p:cNvPr id="19" name="Text 16"/>
          <p:cNvSpPr txBox="1"/>
          <p:nvPr/>
        </p:nvSpPr>
        <p:spPr>
          <a:xfrm>
            <a:off x="6080760" y="3429000"/>
            <a:ext cx="1188720" cy="219456"/>
          </a:xfrm>
          <a:prstGeom prst="rect">
            <a:avLst/>
          </a:prstGeom>
          <a:noFill/>
          <a:ln/>
        </p:spPr>
        <p:txBody>
          <a:bodyPr wrap="square" lIns="0" tIns="0" rIns="0" bIns="0" rtlCol="0" anchor="t"/>
          <a:lstStyle/>
          <a:p>
            <a:pPr indent="0" marL="0">
              <a:buNone/>
            </a:pPr>
            <a:r>
              <a:rPr lang="en-US" sz="1000" b="1" dirty="0">
                <a:solidFill>
                  <a:srgbClr val="B8321A"/>
                </a:solidFill>
                <a:latin typeface="Courier New" pitchFamily="34" charset="0"/>
                <a:ea typeface="Courier New" pitchFamily="34" charset="-122"/>
                <a:cs typeface="Courier New" pitchFamily="34" charset="-120"/>
              </a:rPr>
              <a:t>CRITICAL</a:t>
            </a:r>
            <a:endParaRPr lang="en-US" sz="1000" dirty="0"/>
          </a:p>
        </p:txBody>
      </p:sp>
      <p:sp>
        <p:nvSpPr>
          <p:cNvPr id="20" name="Text 17"/>
          <p:cNvSpPr txBox="1"/>
          <p:nvPr/>
        </p:nvSpPr>
        <p:spPr>
          <a:xfrm>
            <a:off x="7223760" y="3429000"/>
            <a:ext cx="1371600" cy="219456"/>
          </a:xfrm>
          <a:prstGeom prst="rect">
            <a:avLst/>
          </a:prstGeom>
          <a:noFill/>
          <a:ln/>
        </p:spPr>
        <p:txBody>
          <a:bodyPr wrap="square" lIns="0" tIns="0" rIns="0" bIns="0" rtlCol="0" anchor="t"/>
          <a:lstStyle/>
          <a:p>
            <a:pPr algn="r" indent="0" marL="0">
              <a:buNone/>
            </a:pPr>
            <a:r>
              <a:rPr lang="en-US" sz="850" i="1" dirty="0">
                <a:solidFill>
                  <a:srgbClr val="B8321A"/>
                </a:solidFill>
                <a:latin typeface="Calibri" pitchFamily="34" charset="0"/>
                <a:ea typeface="Calibri" pitchFamily="34" charset="-122"/>
                <a:cs typeface="Calibri" pitchFamily="34" charset="-120"/>
              </a:rPr>
              <a:t>always last</a:t>
            </a:r>
            <a:endParaRPr lang="en-US" sz="850" dirty="0"/>
          </a:p>
        </p:txBody>
      </p:sp>
      <p:sp>
        <p:nvSpPr>
          <p:cNvPr id="21" name="Text 18"/>
          <p:cNvSpPr txBox="1"/>
          <p:nvPr/>
        </p:nvSpPr>
        <p:spPr>
          <a:xfrm>
            <a:off x="6080760" y="3694176"/>
            <a:ext cx="2560320" cy="274320"/>
          </a:xfrm>
          <a:prstGeom prst="rect">
            <a:avLst/>
          </a:prstGeom>
          <a:noFill/>
          <a:ln/>
        </p:spPr>
        <p:txBody>
          <a:bodyPr wrap="square" lIns="0" tIns="0" rIns="0" bIns="0" rtlCol="0" anchor="t"/>
          <a:lstStyle/>
          <a:p>
            <a:pPr indent="0" marL="0">
              <a:buNone/>
            </a:pPr>
            <a:r>
              <a:rPr lang="en-US" sz="950" dirty="0">
                <a:solidFill>
                  <a:srgbClr val="17140F"/>
                </a:solidFill>
                <a:latin typeface="Calibri" pitchFamily="34" charset="0"/>
                <a:ea typeface="Calibri" pitchFamily="34" charset="-122"/>
                <a:cs typeface="Calibri" pitchFamily="34" charset="-120"/>
              </a:rPr>
              <a:t>restart, safe mode, reset, updates</a:t>
            </a:r>
            <a:endParaRPr lang="en-US" sz="950" dirty="0"/>
          </a:p>
        </p:txBody>
      </p:sp>
      <p:sp>
        <p:nvSpPr>
          <p:cNvPr id="22" name="Text 19"/>
          <p:cNvSpPr txBox="1"/>
          <p:nvPr/>
        </p:nvSpPr>
        <p:spPr>
          <a:xfrm>
            <a:off x="5943600" y="4251960"/>
            <a:ext cx="2743200" cy="36576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Within a block: disruption level, then reference order. Deterministic: same input, same plan.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08 · INNOVATION</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What's new in OneTap</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09 / 18</a:t>
            </a:r>
            <a:endParaRPr lang="en-US" sz="750" dirty="0"/>
          </a:p>
        </p:txBody>
      </p:sp>
      <p:sp>
        <p:nvSpPr>
          <p:cNvPr id="6" name="Shape 4"/>
          <p:cNvSpPr/>
          <p:nvPr/>
        </p:nvSpPr>
        <p:spPr>
          <a:xfrm>
            <a:off x="457200" y="1234440"/>
            <a:ext cx="2606040" cy="1481328"/>
          </a:xfrm>
          <a:prstGeom prst="roundRect">
            <a:avLst>
              <a:gd name="adj" fmla="val 4938"/>
            </a:avLst>
          </a:prstGeom>
          <a:solidFill>
            <a:srgbClr val="FFFFFF"/>
          </a:solidFill>
          <a:ln w="9525">
            <a:solidFill>
              <a:srgbClr val="D9D2C3"/>
            </a:solidFill>
            <a:prstDash val="solid"/>
          </a:ln>
        </p:spPr>
      </p:sp>
      <p:sp>
        <p:nvSpPr>
          <p:cNvPr id="7" name="Shape 5"/>
          <p:cNvSpPr/>
          <p:nvPr/>
        </p:nvSpPr>
        <p:spPr>
          <a:xfrm>
            <a:off x="621792" y="1399032"/>
            <a:ext cx="420624" cy="420624"/>
          </a:xfrm>
          <a:prstGeom prst="ellipse">
            <a:avLst/>
          </a:prstGeom>
          <a:solidFill>
            <a:srgbClr val="B8321A"/>
          </a:solidFill>
          <a:ln/>
        </p:spPr>
      </p:sp>
      <p:pic>
        <p:nvPicPr>
          <p:cNvPr id="8" name="Image 0" descr="preencoded.png">    </p:cNvPr>
          <p:cNvPicPr>
            <a:picLocks noChangeAspect="1"/>
          </p:cNvPicPr>
          <p:nvPr/>
        </p:nvPicPr>
        <p:blipFill>
          <a:blip r:embed="rId1"/>
          <a:stretch>
            <a:fillRect/>
          </a:stretch>
        </p:blipFill>
        <p:spPr>
          <a:xfrm>
            <a:off x="731520" y="1508760"/>
            <a:ext cx="201168" cy="201168"/>
          </a:xfrm>
          <a:prstGeom prst="rect">
            <a:avLst/>
          </a:prstGeom>
        </p:spPr>
      </p:pic>
      <p:sp>
        <p:nvSpPr>
          <p:cNvPr id="9" name="Text 6"/>
          <p:cNvSpPr txBox="1"/>
          <p:nvPr/>
        </p:nvSpPr>
        <p:spPr>
          <a:xfrm>
            <a:off x="1170432" y="1399032"/>
            <a:ext cx="1783080" cy="420624"/>
          </a:xfrm>
          <a:prstGeom prst="rect">
            <a:avLst/>
          </a:prstGeom>
          <a:noFill/>
          <a:ln/>
        </p:spPr>
        <p:txBody>
          <a:bodyPr wrap="square" lIns="0" tIns="0" rIns="0" bIns="0" rtlCol="0" anchor="ctr"/>
          <a:lstStyle/>
          <a:p>
            <a:pPr indent="0" marL="0">
              <a:buNone/>
            </a:pPr>
            <a:r>
              <a:rPr lang="en-US" sz="1100" b="1" dirty="0">
                <a:solidFill>
                  <a:srgbClr val="17140F"/>
                </a:solidFill>
                <a:latin typeface="Calibri" pitchFamily="34" charset="0"/>
                <a:ea typeface="Calibri" pitchFamily="34" charset="-122"/>
                <a:cs typeface="Calibri" pitchFamily="34" charset="-120"/>
              </a:rPr>
              <a:t>Symptom-Signature Guard</a:t>
            </a:r>
            <a:endParaRPr lang="en-US" sz="1100" dirty="0"/>
          </a:p>
        </p:txBody>
      </p:sp>
      <p:sp>
        <p:nvSpPr>
          <p:cNvPr id="10" name="Text 7"/>
          <p:cNvSpPr txBox="1"/>
          <p:nvPr/>
        </p:nvSpPr>
        <p:spPr>
          <a:xfrm>
            <a:off x="621792" y="1920240"/>
            <a:ext cx="2286000" cy="7315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Polarity, symptom set, trigger context and source check on top of cosine: 44% → 10% wrong cache answers.</a:t>
            </a:r>
            <a:endParaRPr lang="en-US" sz="900" dirty="0"/>
          </a:p>
        </p:txBody>
      </p:sp>
      <p:sp>
        <p:nvSpPr>
          <p:cNvPr id="11" name="Shape 8"/>
          <p:cNvSpPr/>
          <p:nvPr/>
        </p:nvSpPr>
        <p:spPr>
          <a:xfrm>
            <a:off x="3246120" y="1234440"/>
            <a:ext cx="2606040" cy="1481328"/>
          </a:xfrm>
          <a:prstGeom prst="roundRect">
            <a:avLst>
              <a:gd name="adj" fmla="val 4938"/>
            </a:avLst>
          </a:prstGeom>
          <a:solidFill>
            <a:srgbClr val="FFFFFF"/>
          </a:solidFill>
          <a:ln w="9525">
            <a:solidFill>
              <a:srgbClr val="D9D2C3"/>
            </a:solidFill>
            <a:prstDash val="solid"/>
          </a:ln>
        </p:spPr>
      </p:sp>
      <p:sp>
        <p:nvSpPr>
          <p:cNvPr id="12" name="Shape 9"/>
          <p:cNvSpPr/>
          <p:nvPr/>
        </p:nvSpPr>
        <p:spPr>
          <a:xfrm>
            <a:off x="3410712" y="1399032"/>
            <a:ext cx="420624" cy="420624"/>
          </a:xfrm>
          <a:prstGeom prst="ellipse">
            <a:avLst/>
          </a:prstGeom>
          <a:solidFill>
            <a:srgbClr val="FF5A1F"/>
          </a:solidFill>
          <a:ln/>
        </p:spPr>
      </p:sp>
      <p:pic>
        <p:nvPicPr>
          <p:cNvPr id="13" name="Image 1" descr="preencoded.png">    </p:cNvPr>
          <p:cNvPicPr>
            <a:picLocks noChangeAspect="1"/>
          </p:cNvPicPr>
          <p:nvPr/>
        </p:nvPicPr>
        <p:blipFill>
          <a:blip r:embed="rId2"/>
          <a:stretch>
            <a:fillRect/>
          </a:stretch>
        </p:blipFill>
        <p:spPr>
          <a:xfrm>
            <a:off x="3520440" y="1508760"/>
            <a:ext cx="201168" cy="201168"/>
          </a:xfrm>
          <a:prstGeom prst="rect">
            <a:avLst/>
          </a:prstGeom>
        </p:spPr>
      </p:pic>
      <p:sp>
        <p:nvSpPr>
          <p:cNvPr id="14" name="Text 10"/>
          <p:cNvSpPr txBox="1"/>
          <p:nvPr/>
        </p:nvSpPr>
        <p:spPr>
          <a:xfrm>
            <a:off x="3959352" y="1399032"/>
            <a:ext cx="1783080" cy="420624"/>
          </a:xfrm>
          <a:prstGeom prst="rect">
            <a:avLst/>
          </a:prstGeom>
          <a:noFill/>
          <a:ln/>
        </p:spPr>
        <p:txBody>
          <a:bodyPr wrap="square" lIns="0" tIns="0" rIns="0" bIns="0" rtlCol="0" anchor="ctr"/>
          <a:lstStyle/>
          <a:p>
            <a:pPr indent="0" marL="0">
              <a:buNone/>
            </a:pPr>
            <a:r>
              <a:rPr lang="en-US" sz="1100" b="1" dirty="0">
                <a:solidFill>
                  <a:srgbClr val="17140F"/>
                </a:solidFill>
                <a:latin typeface="Calibri" pitchFamily="34" charset="0"/>
                <a:ea typeface="Calibri" pitchFamily="34" charset="-122"/>
                <a:cs typeface="Calibri" pitchFamily="34" charset="-120"/>
              </a:rPr>
              <a:t>Evidence-anchored extraction</a:t>
            </a:r>
            <a:endParaRPr lang="en-US" sz="1100" dirty="0"/>
          </a:p>
        </p:txBody>
      </p:sp>
      <p:sp>
        <p:nvSpPr>
          <p:cNvPr id="15" name="Text 11"/>
          <p:cNvSpPr txBox="1"/>
          <p:nvPr/>
        </p:nvSpPr>
        <p:spPr>
          <a:xfrm>
            <a:off x="3410712" y="1920240"/>
            <a:ext cx="2286000" cy="7315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Every step cites a sentence; code verifies it. Unsupported, invented and contradictory steps are dropped.</a:t>
            </a:r>
            <a:endParaRPr lang="en-US" sz="900" dirty="0"/>
          </a:p>
        </p:txBody>
      </p:sp>
      <p:sp>
        <p:nvSpPr>
          <p:cNvPr id="16" name="Shape 12"/>
          <p:cNvSpPr/>
          <p:nvPr/>
        </p:nvSpPr>
        <p:spPr>
          <a:xfrm>
            <a:off x="6035040" y="1234440"/>
            <a:ext cx="2606040" cy="1481328"/>
          </a:xfrm>
          <a:prstGeom prst="roundRect">
            <a:avLst>
              <a:gd name="adj" fmla="val 4938"/>
            </a:avLst>
          </a:prstGeom>
          <a:solidFill>
            <a:srgbClr val="FFFFFF"/>
          </a:solidFill>
          <a:ln w="9525">
            <a:solidFill>
              <a:srgbClr val="D9D2C3"/>
            </a:solidFill>
            <a:prstDash val="solid"/>
          </a:ln>
        </p:spPr>
      </p:sp>
      <p:sp>
        <p:nvSpPr>
          <p:cNvPr id="17" name="Shape 13"/>
          <p:cNvSpPr/>
          <p:nvPr/>
        </p:nvSpPr>
        <p:spPr>
          <a:xfrm>
            <a:off x="6199632" y="1399032"/>
            <a:ext cx="420624" cy="420624"/>
          </a:xfrm>
          <a:prstGeom prst="ellipse">
            <a:avLst/>
          </a:prstGeom>
          <a:solidFill>
            <a:srgbClr val="2F47D6"/>
          </a:solidFill>
          <a:ln/>
        </p:spPr>
      </p:sp>
      <p:pic>
        <p:nvPicPr>
          <p:cNvPr id="18" name="Image 2" descr="preencoded.png">    </p:cNvPr>
          <p:cNvPicPr>
            <a:picLocks noChangeAspect="1"/>
          </p:cNvPicPr>
          <p:nvPr/>
        </p:nvPicPr>
        <p:blipFill>
          <a:blip r:embed="rId3"/>
          <a:stretch>
            <a:fillRect/>
          </a:stretch>
        </p:blipFill>
        <p:spPr>
          <a:xfrm>
            <a:off x="6309360" y="1508760"/>
            <a:ext cx="201168" cy="201168"/>
          </a:xfrm>
          <a:prstGeom prst="rect">
            <a:avLst/>
          </a:prstGeom>
        </p:spPr>
      </p:pic>
      <p:sp>
        <p:nvSpPr>
          <p:cNvPr id="19" name="Text 14"/>
          <p:cNvSpPr txBox="1"/>
          <p:nvPr/>
        </p:nvSpPr>
        <p:spPr>
          <a:xfrm>
            <a:off x="6748272" y="1399032"/>
            <a:ext cx="1783080" cy="420624"/>
          </a:xfrm>
          <a:prstGeom prst="rect">
            <a:avLst/>
          </a:prstGeom>
          <a:noFill/>
          <a:ln/>
        </p:spPr>
        <p:txBody>
          <a:bodyPr wrap="square" lIns="0" tIns="0" rIns="0" bIns="0" rtlCol="0" anchor="ctr"/>
          <a:lstStyle/>
          <a:p>
            <a:pPr indent="0" marL="0">
              <a:buNone/>
            </a:pPr>
            <a:r>
              <a:rPr lang="en-US" sz="1100" b="1" dirty="0">
                <a:solidFill>
                  <a:srgbClr val="17140F"/>
                </a:solidFill>
                <a:latin typeface="Calibri" pitchFamily="34" charset="0"/>
                <a:ea typeface="Calibri" pitchFamily="34" charset="-122"/>
                <a:cs typeface="Calibri" pitchFamily="34" charset="-120"/>
              </a:rPr>
              <a:t>Exact-leaf + closed-set deeplinks</a:t>
            </a:r>
            <a:endParaRPr lang="en-US" sz="1100" dirty="0"/>
          </a:p>
        </p:txBody>
      </p:sp>
      <p:sp>
        <p:nvSpPr>
          <p:cNvPr id="20" name="Text 15"/>
          <p:cNvSpPr txBox="1"/>
          <p:nvPr/>
        </p:nvSpPr>
        <p:spPr>
          <a:xfrm>
            <a:off x="6199632" y="1920240"/>
            <a:ext cx="2286000" cy="7315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Deterministic leaf match, then the LLM may only pick an ID. 95.8% exact, 0 fabricated links.</a:t>
            </a:r>
            <a:endParaRPr lang="en-US" sz="900" dirty="0"/>
          </a:p>
        </p:txBody>
      </p:sp>
      <p:sp>
        <p:nvSpPr>
          <p:cNvPr id="21" name="Shape 16"/>
          <p:cNvSpPr/>
          <p:nvPr/>
        </p:nvSpPr>
        <p:spPr>
          <a:xfrm>
            <a:off x="457200" y="2880360"/>
            <a:ext cx="2606040" cy="1481328"/>
          </a:xfrm>
          <a:prstGeom prst="roundRect">
            <a:avLst>
              <a:gd name="adj" fmla="val 4938"/>
            </a:avLst>
          </a:prstGeom>
          <a:solidFill>
            <a:srgbClr val="FFFFFF"/>
          </a:solidFill>
          <a:ln w="9525">
            <a:solidFill>
              <a:srgbClr val="D9D2C3"/>
            </a:solidFill>
            <a:prstDash val="solid"/>
          </a:ln>
        </p:spPr>
      </p:sp>
      <p:sp>
        <p:nvSpPr>
          <p:cNvPr id="22" name="Shape 17"/>
          <p:cNvSpPr/>
          <p:nvPr/>
        </p:nvSpPr>
        <p:spPr>
          <a:xfrm>
            <a:off x="621792" y="3044952"/>
            <a:ext cx="420624" cy="420624"/>
          </a:xfrm>
          <a:prstGeom prst="ellipse">
            <a:avLst/>
          </a:prstGeom>
          <a:solidFill>
            <a:srgbClr val="1D7A52"/>
          </a:solidFill>
          <a:ln/>
        </p:spPr>
      </p:sp>
      <p:pic>
        <p:nvPicPr>
          <p:cNvPr id="23" name="Image 3" descr="preencoded.png">    </p:cNvPr>
          <p:cNvPicPr>
            <a:picLocks noChangeAspect="1"/>
          </p:cNvPicPr>
          <p:nvPr/>
        </p:nvPicPr>
        <p:blipFill>
          <a:blip r:embed="rId4"/>
          <a:stretch>
            <a:fillRect/>
          </a:stretch>
        </p:blipFill>
        <p:spPr>
          <a:xfrm>
            <a:off x="731520" y="3154680"/>
            <a:ext cx="201168" cy="201168"/>
          </a:xfrm>
          <a:prstGeom prst="rect">
            <a:avLst/>
          </a:prstGeom>
        </p:spPr>
      </p:pic>
      <p:sp>
        <p:nvSpPr>
          <p:cNvPr id="24" name="Text 18"/>
          <p:cNvSpPr txBox="1"/>
          <p:nvPr/>
        </p:nvSpPr>
        <p:spPr>
          <a:xfrm>
            <a:off x="1170432" y="3044952"/>
            <a:ext cx="1783080" cy="420624"/>
          </a:xfrm>
          <a:prstGeom prst="rect">
            <a:avLst/>
          </a:prstGeom>
          <a:noFill/>
          <a:ln/>
        </p:spPr>
        <p:txBody>
          <a:bodyPr wrap="square" lIns="0" tIns="0" rIns="0" bIns="0" rtlCol="0" anchor="ctr"/>
          <a:lstStyle/>
          <a:p>
            <a:pPr indent="0" marL="0">
              <a:buNone/>
            </a:pPr>
            <a:r>
              <a:rPr lang="en-US" sz="1100" b="1" dirty="0">
                <a:solidFill>
                  <a:srgbClr val="17140F"/>
                </a:solidFill>
                <a:latin typeface="Calibri" pitchFamily="34" charset="0"/>
                <a:ea typeface="Calibri" pitchFamily="34" charset="-122"/>
                <a:cs typeface="Calibri" pitchFamily="34" charset="-120"/>
              </a:rPr>
              <a:t>Catalog-grounded fallback</a:t>
            </a:r>
            <a:endParaRPr lang="en-US" sz="1100" dirty="0"/>
          </a:p>
        </p:txBody>
      </p:sp>
      <p:sp>
        <p:nvSpPr>
          <p:cNvPr id="25" name="Text 19"/>
          <p:cNvSpPr txBox="1"/>
          <p:nvPr/>
        </p:nvSpPr>
        <p:spPr>
          <a:xfrm>
            <a:off x="621792" y="3566160"/>
            <a:ext cx="2286000" cy="7315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No article? The AI may only pick real Settings from the catalog; code writes the steps (opt-in).</a:t>
            </a:r>
            <a:endParaRPr lang="en-US" sz="900" dirty="0"/>
          </a:p>
        </p:txBody>
      </p:sp>
      <p:sp>
        <p:nvSpPr>
          <p:cNvPr id="26" name="Shape 20"/>
          <p:cNvSpPr/>
          <p:nvPr/>
        </p:nvSpPr>
        <p:spPr>
          <a:xfrm>
            <a:off x="3246120" y="2880360"/>
            <a:ext cx="2606040" cy="1481328"/>
          </a:xfrm>
          <a:prstGeom prst="roundRect">
            <a:avLst>
              <a:gd name="adj" fmla="val 4938"/>
            </a:avLst>
          </a:prstGeom>
          <a:solidFill>
            <a:srgbClr val="FFFFFF"/>
          </a:solidFill>
          <a:ln w="9525">
            <a:solidFill>
              <a:srgbClr val="D9D2C3"/>
            </a:solidFill>
            <a:prstDash val="solid"/>
          </a:ln>
        </p:spPr>
      </p:sp>
      <p:sp>
        <p:nvSpPr>
          <p:cNvPr id="27" name="Shape 21"/>
          <p:cNvSpPr/>
          <p:nvPr/>
        </p:nvSpPr>
        <p:spPr>
          <a:xfrm>
            <a:off x="3410712" y="3044952"/>
            <a:ext cx="420624" cy="420624"/>
          </a:xfrm>
          <a:prstGeom prst="ellipse">
            <a:avLst/>
          </a:prstGeom>
          <a:solidFill>
            <a:srgbClr val="17140F"/>
          </a:solidFill>
          <a:ln/>
        </p:spPr>
      </p:sp>
      <p:pic>
        <p:nvPicPr>
          <p:cNvPr id="28" name="Image 4" descr="preencoded.png">    </p:cNvPr>
          <p:cNvPicPr>
            <a:picLocks noChangeAspect="1"/>
          </p:cNvPicPr>
          <p:nvPr/>
        </p:nvPicPr>
        <p:blipFill>
          <a:blip r:embed="rId5"/>
          <a:stretch>
            <a:fillRect/>
          </a:stretch>
        </p:blipFill>
        <p:spPr>
          <a:xfrm>
            <a:off x="3520440" y="3154680"/>
            <a:ext cx="201168" cy="201168"/>
          </a:xfrm>
          <a:prstGeom prst="rect">
            <a:avLst/>
          </a:prstGeom>
        </p:spPr>
      </p:pic>
      <p:sp>
        <p:nvSpPr>
          <p:cNvPr id="29" name="Text 22"/>
          <p:cNvSpPr txBox="1"/>
          <p:nvPr/>
        </p:nvSpPr>
        <p:spPr>
          <a:xfrm>
            <a:off x="3959352" y="3044952"/>
            <a:ext cx="1783080" cy="420624"/>
          </a:xfrm>
          <a:prstGeom prst="rect">
            <a:avLst/>
          </a:prstGeom>
          <a:noFill/>
          <a:ln/>
        </p:spPr>
        <p:txBody>
          <a:bodyPr wrap="square" lIns="0" tIns="0" rIns="0" bIns="0" rtlCol="0" anchor="ctr"/>
          <a:lstStyle/>
          <a:p>
            <a:pPr indent="0" marL="0">
              <a:buNone/>
            </a:pPr>
            <a:r>
              <a:rPr lang="en-US" sz="1100" b="1" dirty="0">
                <a:solidFill>
                  <a:srgbClr val="17140F"/>
                </a:solidFill>
                <a:latin typeface="Calibri" pitchFamily="34" charset="0"/>
                <a:ea typeface="Calibri" pitchFamily="34" charset="-122"/>
                <a:cs typeface="Calibri" pitchFamily="34" charset="-120"/>
              </a:rPr>
              <a:t>Self-healing cache</a:t>
            </a:r>
            <a:endParaRPr lang="en-US" sz="1100" dirty="0"/>
          </a:p>
        </p:txBody>
      </p:sp>
      <p:sp>
        <p:nvSpPr>
          <p:cNvPr id="30" name="Text 23"/>
          <p:cNvSpPr txBox="1"/>
          <p:nvPr/>
        </p:nvSpPr>
        <p:spPr>
          <a:xfrm>
            <a:off x="3410712" y="3566160"/>
            <a:ext cx="2286000" cy="7315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 / 👎 on every plan; a plan with more 👎 than 👍 is evicted and rebuilt from the source.</a:t>
            </a:r>
            <a:endParaRPr lang="en-US" sz="900" dirty="0"/>
          </a:p>
        </p:txBody>
      </p:sp>
      <p:sp>
        <p:nvSpPr>
          <p:cNvPr id="31" name="Shape 24"/>
          <p:cNvSpPr/>
          <p:nvPr/>
        </p:nvSpPr>
        <p:spPr>
          <a:xfrm>
            <a:off x="6035040" y="2880360"/>
            <a:ext cx="2606040" cy="1481328"/>
          </a:xfrm>
          <a:prstGeom prst="roundRect">
            <a:avLst>
              <a:gd name="adj" fmla="val 4938"/>
            </a:avLst>
          </a:prstGeom>
          <a:solidFill>
            <a:srgbClr val="FFFFFF"/>
          </a:solidFill>
          <a:ln w="9525">
            <a:solidFill>
              <a:srgbClr val="D9D2C3"/>
            </a:solidFill>
            <a:prstDash val="solid"/>
          </a:ln>
        </p:spPr>
      </p:sp>
      <p:sp>
        <p:nvSpPr>
          <p:cNvPr id="32" name="Shape 25"/>
          <p:cNvSpPr/>
          <p:nvPr/>
        </p:nvSpPr>
        <p:spPr>
          <a:xfrm>
            <a:off x="6199632" y="3044952"/>
            <a:ext cx="420624" cy="420624"/>
          </a:xfrm>
          <a:prstGeom prst="ellipse">
            <a:avLst/>
          </a:prstGeom>
          <a:solidFill>
            <a:srgbClr val="B93A0B"/>
          </a:solidFill>
          <a:ln/>
        </p:spPr>
      </p:sp>
      <p:pic>
        <p:nvPicPr>
          <p:cNvPr id="33" name="Image 5" descr="preencoded.png">    </p:cNvPr>
          <p:cNvPicPr>
            <a:picLocks noChangeAspect="1"/>
          </p:cNvPicPr>
          <p:nvPr/>
        </p:nvPicPr>
        <p:blipFill>
          <a:blip r:embed="rId6"/>
          <a:stretch>
            <a:fillRect/>
          </a:stretch>
        </p:blipFill>
        <p:spPr>
          <a:xfrm>
            <a:off x="6309360" y="3154680"/>
            <a:ext cx="201168" cy="201168"/>
          </a:xfrm>
          <a:prstGeom prst="rect">
            <a:avLst/>
          </a:prstGeom>
        </p:spPr>
      </p:pic>
      <p:sp>
        <p:nvSpPr>
          <p:cNvPr id="34" name="Text 26"/>
          <p:cNvSpPr txBox="1"/>
          <p:nvPr/>
        </p:nvSpPr>
        <p:spPr>
          <a:xfrm>
            <a:off x="6748272" y="3044952"/>
            <a:ext cx="1783080" cy="420624"/>
          </a:xfrm>
          <a:prstGeom prst="rect">
            <a:avLst/>
          </a:prstGeom>
          <a:noFill/>
          <a:ln/>
        </p:spPr>
        <p:txBody>
          <a:bodyPr wrap="square" lIns="0" tIns="0" rIns="0" bIns="0" rtlCol="0" anchor="ctr"/>
          <a:lstStyle/>
          <a:p>
            <a:pPr indent="0" marL="0">
              <a:buNone/>
            </a:pPr>
            <a:r>
              <a:rPr lang="en-US" sz="1100" b="1" dirty="0">
                <a:solidFill>
                  <a:srgbClr val="17140F"/>
                </a:solidFill>
                <a:latin typeface="Calibri" pitchFamily="34" charset="0"/>
                <a:ea typeface="Calibri" pitchFamily="34" charset="-122"/>
                <a:cs typeface="Calibri" pitchFamily="34" charset="-120"/>
              </a:rPr>
              <a:t>Hedged, model-agnostic LLM layer</a:t>
            </a:r>
            <a:endParaRPr lang="en-US" sz="1100" dirty="0"/>
          </a:p>
        </p:txBody>
      </p:sp>
      <p:sp>
        <p:nvSpPr>
          <p:cNvPr id="35" name="Text 27"/>
          <p:cNvSpPr txBox="1"/>
          <p:nvPr/>
        </p:nvSpPr>
        <p:spPr>
          <a:xfrm>
            <a:off x="6199632" y="3566160"/>
            <a:ext cx="2286000" cy="7315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Per-stage models, pool failover on 429/5xx, retry-after aware, prompt memo, per-request cost.</a:t>
            </a:r>
            <a:endParaRPr lang="en-US" sz="900" dirty="0"/>
          </a:p>
        </p:txBody>
      </p:sp>
      <p:sp>
        <p:nvSpPr>
          <p:cNvPr id="36" name="Text 28"/>
          <p:cNvSpPr txBox="1"/>
          <p:nvPr/>
        </p:nvSpPr>
        <p:spPr>
          <a:xfrm>
            <a:off x="457200" y="4526280"/>
            <a:ext cx="8229600" cy="228600"/>
          </a:xfrm>
          <a:prstGeom prst="rect">
            <a:avLst/>
          </a:prstGeom>
          <a:noFill/>
          <a:ln/>
        </p:spPr>
        <p:txBody>
          <a:bodyPr wrap="square" lIns="0" tIns="0" rIns="0" bIns="0" rtlCol="0" anchor="t"/>
          <a:lstStyle/>
          <a:p>
            <a:pPr indent="0" marL="0">
              <a:buNone/>
            </a:pPr>
            <a:r>
              <a:rPr lang="en-US" sz="900" i="1" dirty="0">
                <a:solidFill>
                  <a:srgbClr val="8A8375"/>
                </a:solidFill>
                <a:latin typeface="Calibri" pitchFamily="34" charset="0"/>
                <a:ea typeface="Calibri" pitchFamily="34" charset="-122"/>
                <a:cs typeface="Calibri" pitchFamily="34" charset="-120"/>
              </a:rPr>
              <a:t>Also: Hinglish + typo normalisation  ·  guided step-by-step mode  ·  voice input (en-IN)  ·  paste-any-article  ·  explainable UI</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09 · RESULTS · CONTRACT COMPLIANCE (results.jsonl, all 20 scenarios)</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100% on every automated gate</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10 / 18</a:t>
            </a:r>
            <a:endParaRPr lang="en-US" sz="750" dirty="0"/>
          </a:p>
        </p:txBody>
      </p:sp>
      <p:sp>
        <p:nvSpPr>
          <p:cNvPr id="6" name="Shape 4"/>
          <p:cNvSpPr/>
          <p:nvPr/>
        </p:nvSpPr>
        <p:spPr>
          <a:xfrm>
            <a:off x="457200" y="1280160"/>
            <a:ext cx="2606040" cy="1371600"/>
          </a:xfrm>
          <a:prstGeom prst="roundRect">
            <a:avLst>
              <a:gd name="adj" fmla="val 5333"/>
            </a:avLst>
          </a:prstGeom>
          <a:solidFill>
            <a:srgbClr val="FFFFFF"/>
          </a:solidFill>
          <a:ln w="9525">
            <a:solidFill>
              <a:srgbClr val="D9D2C3"/>
            </a:solidFill>
            <a:prstDash val="solid"/>
          </a:ln>
        </p:spPr>
      </p:sp>
      <p:sp>
        <p:nvSpPr>
          <p:cNvPr id="7" name="Text 5"/>
          <p:cNvSpPr txBox="1"/>
          <p:nvPr/>
        </p:nvSpPr>
        <p:spPr>
          <a:xfrm>
            <a:off x="640080" y="1417320"/>
            <a:ext cx="2286000" cy="594360"/>
          </a:xfrm>
          <a:prstGeom prst="rect">
            <a:avLst/>
          </a:prstGeom>
          <a:noFill/>
          <a:ln/>
        </p:spPr>
        <p:txBody>
          <a:bodyPr wrap="square" lIns="0" tIns="0" rIns="0" bIns="0" rtlCol="0" anchor="t"/>
          <a:lstStyle/>
          <a:p>
            <a:pPr indent="0" marL="0">
              <a:buNone/>
            </a:pPr>
            <a:r>
              <a:rPr lang="en-US" sz="3600" b="1" dirty="0">
                <a:solidFill>
                  <a:srgbClr val="17140F"/>
                </a:solidFill>
                <a:latin typeface="Courier New" pitchFamily="34" charset="0"/>
                <a:ea typeface="Courier New" pitchFamily="34" charset="-122"/>
                <a:cs typeface="Courier New" pitchFamily="34" charset="-120"/>
              </a:rPr>
              <a:t>100%</a:t>
            </a:r>
            <a:endParaRPr lang="en-US" sz="3600" dirty="0"/>
          </a:p>
        </p:txBody>
      </p:sp>
      <p:sp>
        <p:nvSpPr>
          <p:cNvPr id="8" name="Text 6"/>
          <p:cNvSpPr txBox="1"/>
          <p:nvPr/>
        </p:nvSpPr>
        <p:spPr>
          <a:xfrm>
            <a:off x="640080" y="2029968"/>
            <a:ext cx="2286000" cy="274320"/>
          </a:xfrm>
          <a:prstGeom prst="rect">
            <a:avLst/>
          </a:prstGeom>
          <a:noFill/>
          <a:ln/>
        </p:spPr>
        <p:txBody>
          <a:bodyPr wrap="square" lIns="0" tIns="0" rIns="0" bIns="0" rtlCol="0" anchor="t"/>
          <a:lstStyle/>
          <a:p>
            <a:pPr indent="0" marL="0">
              <a:buNone/>
            </a:pPr>
            <a:r>
              <a:rPr lang="en-US" sz="1150" b="1" dirty="0">
                <a:solidFill>
                  <a:srgbClr val="17140F"/>
                </a:solidFill>
                <a:latin typeface="Calibri" pitchFamily="34" charset="0"/>
                <a:ea typeface="Calibri" pitchFamily="34" charset="-122"/>
                <a:cs typeface="Calibri" pitchFamily="34" charset="-120"/>
              </a:rPr>
              <a:t>schema-valid output</a:t>
            </a:r>
            <a:endParaRPr lang="en-US" sz="1150" dirty="0"/>
          </a:p>
        </p:txBody>
      </p:sp>
      <p:sp>
        <p:nvSpPr>
          <p:cNvPr id="9" name="Text 7"/>
          <p:cNvSpPr txBox="1"/>
          <p:nvPr/>
        </p:nvSpPr>
        <p:spPr>
          <a:xfrm>
            <a:off x="640080" y="2286000"/>
            <a:ext cx="2286000" cy="256032"/>
          </a:xfrm>
          <a:prstGeom prst="rect">
            <a:avLst/>
          </a:prstGeom>
          <a:noFill/>
          <a:ln/>
        </p:spPr>
        <p:txBody>
          <a:bodyPr wrap="square" lIns="0" tIns="0" rIns="0" bIns="0" rtlCol="0" anchor="t"/>
          <a:lstStyle/>
          <a:p>
            <a:pPr indent="0" marL="0">
              <a:buNone/>
            </a:pPr>
            <a:r>
              <a:rPr lang="en-US" sz="900" dirty="0">
                <a:solidFill>
                  <a:srgbClr val="8A8375"/>
                </a:solidFill>
                <a:latin typeface="Calibri" pitchFamily="34" charset="0"/>
                <a:ea typeface="Calibri" pitchFamily="34" charset="-122"/>
                <a:cs typeface="Calibri" pitchFamily="34" charset="-120"/>
              </a:rPr>
              <a:t>target ≥ 99%</a:t>
            </a:r>
            <a:endParaRPr lang="en-US" sz="900" dirty="0"/>
          </a:p>
        </p:txBody>
      </p:sp>
      <p:sp>
        <p:nvSpPr>
          <p:cNvPr id="10" name="Shape 8"/>
          <p:cNvSpPr/>
          <p:nvPr/>
        </p:nvSpPr>
        <p:spPr>
          <a:xfrm>
            <a:off x="3246120" y="1280160"/>
            <a:ext cx="2606040" cy="1371600"/>
          </a:xfrm>
          <a:prstGeom prst="roundRect">
            <a:avLst>
              <a:gd name="adj" fmla="val 5333"/>
            </a:avLst>
          </a:prstGeom>
          <a:solidFill>
            <a:srgbClr val="FFFFFF"/>
          </a:solidFill>
          <a:ln w="9525">
            <a:solidFill>
              <a:srgbClr val="D9D2C3"/>
            </a:solidFill>
            <a:prstDash val="solid"/>
          </a:ln>
        </p:spPr>
      </p:sp>
      <p:sp>
        <p:nvSpPr>
          <p:cNvPr id="11" name="Text 9"/>
          <p:cNvSpPr txBox="1"/>
          <p:nvPr/>
        </p:nvSpPr>
        <p:spPr>
          <a:xfrm>
            <a:off x="3429000" y="1417320"/>
            <a:ext cx="2286000" cy="594360"/>
          </a:xfrm>
          <a:prstGeom prst="rect">
            <a:avLst/>
          </a:prstGeom>
          <a:noFill/>
          <a:ln/>
        </p:spPr>
        <p:txBody>
          <a:bodyPr wrap="square" lIns="0" tIns="0" rIns="0" bIns="0" rtlCol="0" anchor="t"/>
          <a:lstStyle/>
          <a:p>
            <a:pPr indent="0" marL="0">
              <a:buNone/>
            </a:pPr>
            <a:r>
              <a:rPr lang="en-US" sz="3600" b="1" dirty="0">
                <a:solidFill>
                  <a:srgbClr val="17140F"/>
                </a:solidFill>
                <a:latin typeface="Courier New" pitchFamily="34" charset="0"/>
                <a:ea typeface="Courier New" pitchFamily="34" charset="-122"/>
                <a:cs typeface="Courier New" pitchFamily="34" charset="-120"/>
              </a:rPr>
              <a:t>100%</a:t>
            </a:r>
            <a:endParaRPr lang="en-US" sz="3600" dirty="0"/>
          </a:p>
        </p:txBody>
      </p:sp>
      <p:sp>
        <p:nvSpPr>
          <p:cNvPr id="12" name="Text 10"/>
          <p:cNvSpPr txBox="1"/>
          <p:nvPr/>
        </p:nvSpPr>
        <p:spPr>
          <a:xfrm>
            <a:off x="3429000" y="2029968"/>
            <a:ext cx="2286000" cy="274320"/>
          </a:xfrm>
          <a:prstGeom prst="rect">
            <a:avLst/>
          </a:prstGeom>
          <a:noFill/>
          <a:ln/>
        </p:spPr>
        <p:txBody>
          <a:bodyPr wrap="square" lIns="0" tIns="0" rIns="0" bIns="0" rtlCol="0" anchor="t"/>
          <a:lstStyle/>
          <a:p>
            <a:pPr indent="0" marL="0">
              <a:buNone/>
            </a:pPr>
            <a:r>
              <a:rPr lang="en-US" sz="1150" b="1" dirty="0">
                <a:solidFill>
                  <a:srgbClr val="17140F"/>
                </a:solidFill>
                <a:latin typeface="Calibri" pitchFamily="34" charset="0"/>
                <a:ea typeface="Calibri" pitchFamily="34" charset="-122"/>
                <a:cs typeface="Calibri" pitchFamily="34" charset="-120"/>
              </a:rPr>
              <a:t>rule compliance</a:t>
            </a:r>
            <a:endParaRPr lang="en-US" sz="1150" dirty="0"/>
          </a:p>
        </p:txBody>
      </p:sp>
      <p:sp>
        <p:nvSpPr>
          <p:cNvPr id="13" name="Text 11"/>
          <p:cNvSpPr txBox="1"/>
          <p:nvPr/>
        </p:nvSpPr>
        <p:spPr>
          <a:xfrm>
            <a:off x="3429000" y="2286000"/>
            <a:ext cx="2286000" cy="256032"/>
          </a:xfrm>
          <a:prstGeom prst="rect">
            <a:avLst/>
          </a:prstGeom>
          <a:noFill/>
          <a:ln/>
        </p:spPr>
        <p:txBody>
          <a:bodyPr wrap="square" lIns="0" tIns="0" rIns="0" bIns="0" rtlCol="0" anchor="t"/>
          <a:lstStyle/>
          <a:p>
            <a:pPr indent="0" marL="0">
              <a:buNone/>
            </a:pPr>
            <a:r>
              <a:rPr lang="en-US" sz="900" dirty="0">
                <a:solidFill>
                  <a:srgbClr val="8A8375"/>
                </a:solidFill>
                <a:latin typeface="Calibri" pitchFamily="34" charset="0"/>
                <a:ea typeface="Calibri" pitchFamily="34" charset="-122"/>
                <a:cs typeface="Calibri" pitchFamily="34" charset="-120"/>
              </a:rPr>
              <a:t>goal · title · description · target ≥ 95%</a:t>
            </a:r>
            <a:endParaRPr lang="en-US" sz="900" dirty="0"/>
          </a:p>
        </p:txBody>
      </p:sp>
      <p:sp>
        <p:nvSpPr>
          <p:cNvPr id="14" name="Shape 12"/>
          <p:cNvSpPr/>
          <p:nvPr/>
        </p:nvSpPr>
        <p:spPr>
          <a:xfrm>
            <a:off x="6035040" y="1280160"/>
            <a:ext cx="2606040" cy="1371600"/>
          </a:xfrm>
          <a:prstGeom prst="roundRect">
            <a:avLst>
              <a:gd name="adj" fmla="val 5333"/>
            </a:avLst>
          </a:prstGeom>
          <a:solidFill>
            <a:srgbClr val="FFFFFF"/>
          </a:solidFill>
          <a:ln w="9525">
            <a:solidFill>
              <a:srgbClr val="D9D2C3"/>
            </a:solidFill>
            <a:prstDash val="solid"/>
          </a:ln>
        </p:spPr>
      </p:sp>
      <p:sp>
        <p:nvSpPr>
          <p:cNvPr id="15" name="Text 13"/>
          <p:cNvSpPr txBox="1"/>
          <p:nvPr/>
        </p:nvSpPr>
        <p:spPr>
          <a:xfrm>
            <a:off x="6217920" y="1417320"/>
            <a:ext cx="2286000" cy="594360"/>
          </a:xfrm>
          <a:prstGeom prst="rect">
            <a:avLst/>
          </a:prstGeom>
          <a:noFill/>
          <a:ln/>
        </p:spPr>
        <p:txBody>
          <a:bodyPr wrap="square" lIns="0" tIns="0" rIns="0" bIns="0" rtlCol="0" anchor="t"/>
          <a:lstStyle/>
          <a:p>
            <a:pPr indent="0" marL="0">
              <a:buNone/>
            </a:pPr>
            <a:r>
              <a:rPr lang="en-US" sz="3600" b="1" dirty="0">
                <a:solidFill>
                  <a:srgbClr val="1D7A52"/>
                </a:solidFill>
                <a:latin typeface="Courier New" pitchFamily="34" charset="0"/>
                <a:ea typeface="Courier New" pitchFamily="34" charset="-122"/>
                <a:cs typeface="Courier New" pitchFamily="34" charset="-120"/>
              </a:rPr>
              <a:t>0</a:t>
            </a:r>
            <a:endParaRPr lang="en-US" sz="3600" dirty="0"/>
          </a:p>
        </p:txBody>
      </p:sp>
      <p:sp>
        <p:nvSpPr>
          <p:cNvPr id="16" name="Text 14"/>
          <p:cNvSpPr txBox="1"/>
          <p:nvPr/>
        </p:nvSpPr>
        <p:spPr>
          <a:xfrm>
            <a:off x="6217920" y="2029968"/>
            <a:ext cx="2286000" cy="274320"/>
          </a:xfrm>
          <a:prstGeom prst="rect">
            <a:avLst/>
          </a:prstGeom>
          <a:noFill/>
          <a:ln/>
        </p:spPr>
        <p:txBody>
          <a:bodyPr wrap="square" lIns="0" tIns="0" rIns="0" bIns="0" rtlCol="0" anchor="t"/>
          <a:lstStyle/>
          <a:p>
            <a:pPr indent="0" marL="0">
              <a:buNone/>
            </a:pPr>
            <a:r>
              <a:rPr lang="en-US" sz="1150" b="1" dirty="0">
                <a:solidFill>
                  <a:srgbClr val="17140F"/>
                </a:solidFill>
                <a:latin typeface="Calibri" pitchFamily="34" charset="0"/>
                <a:ea typeface="Calibri" pitchFamily="34" charset="-122"/>
                <a:cs typeface="Calibri" pitchFamily="34" charset="-120"/>
              </a:rPr>
              <a:t>URL leaks</a:t>
            </a:r>
            <a:endParaRPr lang="en-US" sz="1150" dirty="0"/>
          </a:p>
        </p:txBody>
      </p:sp>
      <p:sp>
        <p:nvSpPr>
          <p:cNvPr id="17" name="Text 15"/>
          <p:cNvSpPr txBox="1"/>
          <p:nvPr/>
        </p:nvSpPr>
        <p:spPr>
          <a:xfrm>
            <a:off x="6217920" y="2286000"/>
            <a:ext cx="2286000" cy="256032"/>
          </a:xfrm>
          <a:prstGeom prst="rect">
            <a:avLst/>
          </a:prstGeom>
          <a:noFill/>
          <a:ln/>
        </p:spPr>
        <p:txBody>
          <a:bodyPr wrap="square" lIns="0" tIns="0" rIns="0" bIns="0" rtlCol="0" anchor="t"/>
          <a:lstStyle/>
          <a:p>
            <a:pPr indent="0" marL="0">
              <a:buNone/>
            </a:pPr>
            <a:r>
              <a:rPr lang="en-US" sz="900" dirty="0">
                <a:solidFill>
                  <a:srgbClr val="8A8375"/>
                </a:solidFill>
                <a:latin typeface="Calibri" pitchFamily="34" charset="0"/>
                <a:ea typeface="Calibri" pitchFamily="34" charset="-122"/>
                <a:cs typeface="Calibri" pitchFamily="34" charset="-120"/>
              </a:rPr>
              <a:t>target 0</a:t>
            </a:r>
            <a:endParaRPr lang="en-US" sz="900" dirty="0"/>
          </a:p>
        </p:txBody>
      </p:sp>
      <p:sp>
        <p:nvSpPr>
          <p:cNvPr id="18" name="Shape 16"/>
          <p:cNvSpPr/>
          <p:nvPr/>
        </p:nvSpPr>
        <p:spPr>
          <a:xfrm>
            <a:off x="457200" y="2834640"/>
            <a:ext cx="2606040" cy="1371600"/>
          </a:xfrm>
          <a:prstGeom prst="roundRect">
            <a:avLst>
              <a:gd name="adj" fmla="val 5333"/>
            </a:avLst>
          </a:prstGeom>
          <a:solidFill>
            <a:srgbClr val="FFFFFF"/>
          </a:solidFill>
          <a:ln w="9525">
            <a:solidFill>
              <a:srgbClr val="D9D2C3"/>
            </a:solidFill>
            <a:prstDash val="solid"/>
          </a:ln>
        </p:spPr>
      </p:sp>
      <p:sp>
        <p:nvSpPr>
          <p:cNvPr id="19" name="Text 17"/>
          <p:cNvSpPr txBox="1"/>
          <p:nvPr/>
        </p:nvSpPr>
        <p:spPr>
          <a:xfrm>
            <a:off x="640080" y="2971800"/>
            <a:ext cx="2286000" cy="594360"/>
          </a:xfrm>
          <a:prstGeom prst="rect">
            <a:avLst/>
          </a:prstGeom>
          <a:noFill/>
          <a:ln/>
        </p:spPr>
        <p:txBody>
          <a:bodyPr wrap="square" lIns="0" tIns="0" rIns="0" bIns="0" rtlCol="0" anchor="t"/>
          <a:lstStyle/>
          <a:p>
            <a:pPr indent="0" marL="0">
              <a:buNone/>
            </a:pPr>
            <a:r>
              <a:rPr lang="en-US" sz="3600" b="1" dirty="0">
                <a:solidFill>
                  <a:srgbClr val="17140F"/>
                </a:solidFill>
                <a:latin typeface="Courier New" pitchFamily="34" charset="0"/>
                <a:ea typeface="Courier New" pitchFamily="34" charset="-122"/>
                <a:cs typeface="Courier New" pitchFamily="34" charset="-120"/>
              </a:rPr>
              <a:t>100%</a:t>
            </a:r>
            <a:endParaRPr lang="en-US" sz="3600" dirty="0"/>
          </a:p>
        </p:txBody>
      </p:sp>
      <p:sp>
        <p:nvSpPr>
          <p:cNvPr id="20" name="Text 18"/>
          <p:cNvSpPr txBox="1"/>
          <p:nvPr/>
        </p:nvSpPr>
        <p:spPr>
          <a:xfrm>
            <a:off x="640080" y="3584448"/>
            <a:ext cx="2286000" cy="274320"/>
          </a:xfrm>
          <a:prstGeom prst="rect">
            <a:avLst/>
          </a:prstGeom>
          <a:noFill/>
          <a:ln/>
        </p:spPr>
        <p:txBody>
          <a:bodyPr wrap="square" lIns="0" tIns="0" rIns="0" bIns="0" rtlCol="0" anchor="t"/>
          <a:lstStyle/>
          <a:p>
            <a:pPr indent="0" marL="0">
              <a:buNone/>
            </a:pPr>
            <a:r>
              <a:rPr lang="en-US" sz="1150" b="1" dirty="0">
                <a:solidFill>
                  <a:srgbClr val="17140F"/>
                </a:solidFill>
                <a:latin typeface="Calibri" pitchFamily="34" charset="0"/>
                <a:ea typeface="Calibri" pitchFamily="34" charset="-122"/>
                <a:cs typeface="Calibri" pitchFamily="34" charset="-120"/>
              </a:rPr>
              <a:t>deeplinks exist in catalog</a:t>
            </a:r>
            <a:endParaRPr lang="en-US" sz="1150" dirty="0"/>
          </a:p>
        </p:txBody>
      </p:sp>
      <p:sp>
        <p:nvSpPr>
          <p:cNvPr id="21" name="Text 19"/>
          <p:cNvSpPr txBox="1"/>
          <p:nvPr/>
        </p:nvSpPr>
        <p:spPr>
          <a:xfrm>
            <a:off x="640080" y="3840480"/>
            <a:ext cx="2286000" cy="256032"/>
          </a:xfrm>
          <a:prstGeom prst="rect">
            <a:avLst/>
          </a:prstGeom>
          <a:noFill/>
          <a:ln/>
        </p:spPr>
        <p:txBody>
          <a:bodyPr wrap="square" lIns="0" tIns="0" rIns="0" bIns="0" rtlCol="0" anchor="t"/>
          <a:lstStyle/>
          <a:p>
            <a:pPr indent="0" marL="0">
              <a:buNone/>
            </a:pPr>
            <a:r>
              <a:rPr lang="en-US" sz="900" dirty="0">
                <a:solidFill>
                  <a:srgbClr val="8A8375"/>
                </a:solidFill>
                <a:latin typeface="Calibri" pitchFamily="34" charset="0"/>
                <a:ea typeface="Calibri" pitchFamily="34" charset="-122"/>
                <a:cs typeface="Calibri" pitchFamily="34" charset="-120"/>
              </a:rPr>
              <a:t>exact URI match · target 100%</a:t>
            </a:r>
            <a:endParaRPr lang="en-US" sz="900" dirty="0"/>
          </a:p>
        </p:txBody>
      </p:sp>
      <p:sp>
        <p:nvSpPr>
          <p:cNvPr id="22" name="Shape 20"/>
          <p:cNvSpPr/>
          <p:nvPr/>
        </p:nvSpPr>
        <p:spPr>
          <a:xfrm>
            <a:off x="3246120" y="2834640"/>
            <a:ext cx="2606040" cy="1371600"/>
          </a:xfrm>
          <a:prstGeom prst="roundRect">
            <a:avLst>
              <a:gd name="adj" fmla="val 5333"/>
            </a:avLst>
          </a:prstGeom>
          <a:solidFill>
            <a:srgbClr val="FFFFFF"/>
          </a:solidFill>
          <a:ln w="9525">
            <a:solidFill>
              <a:srgbClr val="D9D2C3"/>
            </a:solidFill>
            <a:prstDash val="solid"/>
          </a:ln>
        </p:spPr>
      </p:sp>
      <p:sp>
        <p:nvSpPr>
          <p:cNvPr id="23" name="Text 21"/>
          <p:cNvSpPr txBox="1"/>
          <p:nvPr/>
        </p:nvSpPr>
        <p:spPr>
          <a:xfrm>
            <a:off x="3429000" y="2971800"/>
            <a:ext cx="2286000" cy="594360"/>
          </a:xfrm>
          <a:prstGeom prst="rect">
            <a:avLst/>
          </a:prstGeom>
          <a:noFill/>
          <a:ln/>
        </p:spPr>
        <p:txBody>
          <a:bodyPr wrap="square" lIns="0" tIns="0" rIns="0" bIns="0" rtlCol="0" anchor="t"/>
          <a:lstStyle/>
          <a:p>
            <a:pPr indent="0" marL="0">
              <a:buNone/>
            </a:pPr>
            <a:r>
              <a:rPr lang="en-US" sz="3600" b="1" dirty="0">
                <a:solidFill>
                  <a:srgbClr val="17140F"/>
                </a:solidFill>
                <a:latin typeface="Courier New" pitchFamily="34" charset="0"/>
                <a:ea typeface="Courier New" pitchFamily="34" charset="-122"/>
                <a:cs typeface="Courier New" pitchFamily="34" charset="-120"/>
              </a:rPr>
              <a:t>100%</a:t>
            </a:r>
            <a:endParaRPr lang="en-US" sz="3600" dirty="0"/>
          </a:p>
        </p:txBody>
      </p:sp>
      <p:sp>
        <p:nvSpPr>
          <p:cNvPr id="24" name="Text 22"/>
          <p:cNvSpPr txBox="1"/>
          <p:nvPr/>
        </p:nvSpPr>
        <p:spPr>
          <a:xfrm>
            <a:off x="3429000" y="3584448"/>
            <a:ext cx="2286000" cy="274320"/>
          </a:xfrm>
          <a:prstGeom prst="rect">
            <a:avLst/>
          </a:prstGeom>
          <a:noFill/>
          <a:ln/>
        </p:spPr>
        <p:txBody>
          <a:bodyPr wrap="square" lIns="0" tIns="0" rIns="0" bIns="0" rtlCol="0" anchor="t"/>
          <a:lstStyle/>
          <a:p>
            <a:pPr indent="0" marL="0">
              <a:buNone/>
            </a:pPr>
            <a:r>
              <a:rPr lang="en-US" sz="1150" b="1" dirty="0">
                <a:solidFill>
                  <a:srgbClr val="17140F"/>
                </a:solidFill>
                <a:latin typeface="Calibri" pitchFamily="34" charset="0"/>
                <a:ea typeface="Calibri" pitchFamily="34" charset="-122"/>
                <a:cs typeface="Calibri" pitchFamily="34" charset="-120"/>
              </a:rPr>
              <a:t>auto actions with a deeplink</a:t>
            </a:r>
            <a:endParaRPr lang="en-US" sz="1150" dirty="0"/>
          </a:p>
        </p:txBody>
      </p:sp>
      <p:sp>
        <p:nvSpPr>
          <p:cNvPr id="25" name="Text 23"/>
          <p:cNvSpPr txBox="1"/>
          <p:nvPr/>
        </p:nvSpPr>
        <p:spPr>
          <a:xfrm>
            <a:off x="3429000" y="3840480"/>
            <a:ext cx="2286000" cy="256032"/>
          </a:xfrm>
          <a:prstGeom prst="rect">
            <a:avLst/>
          </a:prstGeom>
          <a:noFill/>
          <a:ln/>
        </p:spPr>
        <p:txBody>
          <a:bodyPr wrap="square" lIns="0" tIns="0" rIns="0" bIns="0" rtlCol="0" anchor="t"/>
          <a:lstStyle/>
          <a:p>
            <a:pPr indent="0" marL="0">
              <a:buNone/>
            </a:pPr>
            <a:r>
              <a:rPr lang="en-US" sz="900" dirty="0">
                <a:solidFill>
                  <a:srgbClr val="8A8375"/>
                </a:solidFill>
                <a:latin typeface="Calibri" pitchFamily="34" charset="0"/>
                <a:ea typeface="Calibri" pitchFamily="34" charset="-122"/>
                <a:cs typeface="Calibri" pitchFamily="34" charset="-120"/>
              </a:rPr>
              <a:t>target ≥ 90%</a:t>
            </a:r>
            <a:endParaRPr lang="en-US" sz="900" dirty="0"/>
          </a:p>
        </p:txBody>
      </p:sp>
      <p:sp>
        <p:nvSpPr>
          <p:cNvPr id="26" name="Shape 24"/>
          <p:cNvSpPr/>
          <p:nvPr/>
        </p:nvSpPr>
        <p:spPr>
          <a:xfrm>
            <a:off x="6035040" y="2834640"/>
            <a:ext cx="2606040" cy="1371600"/>
          </a:xfrm>
          <a:prstGeom prst="roundRect">
            <a:avLst>
              <a:gd name="adj" fmla="val 5333"/>
            </a:avLst>
          </a:prstGeom>
          <a:solidFill>
            <a:srgbClr val="FFFFFF"/>
          </a:solidFill>
          <a:ln w="9525">
            <a:solidFill>
              <a:srgbClr val="D9D2C3"/>
            </a:solidFill>
            <a:prstDash val="solid"/>
          </a:ln>
        </p:spPr>
      </p:sp>
      <p:sp>
        <p:nvSpPr>
          <p:cNvPr id="27" name="Text 25"/>
          <p:cNvSpPr txBox="1"/>
          <p:nvPr/>
        </p:nvSpPr>
        <p:spPr>
          <a:xfrm>
            <a:off x="6217920" y="2971800"/>
            <a:ext cx="2286000" cy="594360"/>
          </a:xfrm>
          <a:prstGeom prst="rect">
            <a:avLst/>
          </a:prstGeom>
          <a:noFill/>
          <a:ln/>
        </p:spPr>
        <p:txBody>
          <a:bodyPr wrap="square" lIns="0" tIns="0" rIns="0" bIns="0" rtlCol="0" anchor="t"/>
          <a:lstStyle/>
          <a:p>
            <a:pPr indent="0" marL="0">
              <a:buNone/>
            </a:pPr>
            <a:r>
              <a:rPr lang="en-US" sz="3600" b="1" dirty="0">
                <a:solidFill>
                  <a:srgbClr val="17140F"/>
                </a:solidFill>
                <a:latin typeface="Courier New" pitchFamily="34" charset="0"/>
                <a:ea typeface="Courier New" pitchFamily="34" charset="-122"/>
                <a:cs typeface="Courier New" pitchFamily="34" charset="-120"/>
              </a:rPr>
              <a:t>100%</a:t>
            </a:r>
            <a:endParaRPr lang="en-US" sz="3600" dirty="0"/>
          </a:p>
        </p:txBody>
      </p:sp>
      <p:sp>
        <p:nvSpPr>
          <p:cNvPr id="28" name="Text 26"/>
          <p:cNvSpPr txBox="1"/>
          <p:nvPr/>
        </p:nvSpPr>
        <p:spPr>
          <a:xfrm>
            <a:off x="6217920" y="3584448"/>
            <a:ext cx="2286000" cy="274320"/>
          </a:xfrm>
          <a:prstGeom prst="rect">
            <a:avLst/>
          </a:prstGeom>
          <a:noFill/>
          <a:ln/>
        </p:spPr>
        <p:txBody>
          <a:bodyPr wrap="square" lIns="0" tIns="0" rIns="0" bIns="0" rtlCol="0" anchor="t"/>
          <a:lstStyle/>
          <a:p>
            <a:pPr indent="0" marL="0">
              <a:buNone/>
            </a:pPr>
            <a:r>
              <a:rPr lang="en-US" sz="1150" b="1" dirty="0">
                <a:solidFill>
                  <a:srgbClr val="17140F"/>
                </a:solidFill>
                <a:latin typeface="Calibri" pitchFamily="34" charset="0"/>
                <a:ea typeface="Calibri" pitchFamily="34" charset="-122"/>
                <a:cs typeface="Calibri" pitchFamily="34" charset="-120"/>
              </a:rPr>
              <a:t>8-10 query_variations</a:t>
            </a:r>
            <a:endParaRPr lang="en-US" sz="1150" dirty="0"/>
          </a:p>
        </p:txBody>
      </p:sp>
      <p:sp>
        <p:nvSpPr>
          <p:cNvPr id="29" name="Text 27"/>
          <p:cNvSpPr txBox="1"/>
          <p:nvPr/>
        </p:nvSpPr>
        <p:spPr>
          <a:xfrm>
            <a:off x="6217920" y="3840480"/>
            <a:ext cx="2286000" cy="256032"/>
          </a:xfrm>
          <a:prstGeom prst="rect">
            <a:avLst/>
          </a:prstGeom>
          <a:noFill/>
          <a:ln/>
        </p:spPr>
        <p:txBody>
          <a:bodyPr wrap="square" lIns="0" tIns="0" rIns="0" bIns="0" rtlCol="0" anchor="t"/>
          <a:lstStyle/>
          <a:p>
            <a:pPr indent="0" marL="0">
              <a:buNone/>
            </a:pPr>
            <a:r>
              <a:rPr lang="en-US" sz="900" dirty="0">
                <a:solidFill>
                  <a:srgbClr val="8A8375"/>
                </a:solidFill>
                <a:latin typeface="Calibri" pitchFamily="34" charset="0"/>
                <a:ea typeface="Calibri" pitchFamily="34" charset="-122"/>
                <a:cs typeface="Calibri" pitchFamily="34" charset="-120"/>
              </a:rPr>
              <a:t>every response</a:t>
            </a:r>
            <a:endParaRPr lang="en-US" sz="900" dirty="0"/>
          </a:p>
        </p:txBody>
      </p:sp>
      <p:sp>
        <p:nvSpPr>
          <p:cNvPr id="30" name="Text 28"/>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950" dirty="0">
                <a:solidFill>
                  <a:srgbClr val="4A453C"/>
                </a:solidFill>
                <a:latin typeface="Calibri" pitchFamily="34" charset="0"/>
                <a:ea typeface="Calibri" pitchFamily="34" charset="-122"/>
                <a:cs typeface="Calibri" pitchFamily="34" charset="-120"/>
              </a:rPr>
              <a:t>Audited by scripts/report.py on every build: Pydantic schema + 12 rule checks per goal.</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10 · RESULTS · SPEED, COST &amp; ACCURACY</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Speed, cost and accuracy at a glance</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11 / 18</a:t>
            </a:r>
            <a:endParaRPr lang="en-US" sz="750" dirty="0"/>
          </a:p>
        </p:txBody>
      </p:sp>
      <p:sp>
        <p:nvSpPr>
          <p:cNvPr id="6" name="Shape 4"/>
          <p:cNvSpPr/>
          <p:nvPr/>
        </p:nvSpPr>
        <p:spPr>
          <a:xfrm>
            <a:off x="457200" y="1234440"/>
            <a:ext cx="2606040" cy="1463040"/>
          </a:xfrm>
          <a:prstGeom prst="roundRect">
            <a:avLst>
              <a:gd name="adj" fmla="val 5000"/>
            </a:avLst>
          </a:prstGeom>
          <a:solidFill>
            <a:srgbClr val="FFFFFF"/>
          </a:solidFill>
          <a:ln w="9525">
            <a:solidFill>
              <a:srgbClr val="D9D2C3"/>
            </a:solidFill>
            <a:prstDash val="solid"/>
          </a:ln>
        </p:spPr>
      </p:sp>
      <p:sp>
        <p:nvSpPr>
          <p:cNvPr id="7" name="Text 5"/>
          <p:cNvSpPr txBox="1"/>
          <p:nvPr/>
        </p:nvSpPr>
        <p:spPr>
          <a:xfrm>
            <a:off x="640080" y="1325880"/>
            <a:ext cx="2286000" cy="548640"/>
          </a:xfrm>
          <a:prstGeom prst="rect">
            <a:avLst/>
          </a:prstGeom>
          <a:noFill/>
          <a:ln/>
        </p:spPr>
        <p:txBody>
          <a:bodyPr wrap="square" lIns="0" tIns="0" rIns="0" bIns="0" rtlCol="0" anchor="t"/>
          <a:lstStyle/>
          <a:p>
            <a:pPr indent="0" marL="0">
              <a:buNone/>
            </a:pPr>
            <a:r>
              <a:rPr lang="en-US" sz="3000" b="1" dirty="0">
                <a:solidFill>
                  <a:srgbClr val="1D7A52"/>
                </a:solidFill>
                <a:latin typeface="Courier New" pitchFamily="34" charset="0"/>
                <a:ea typeface="Courier New" pitchFamily="34" charset="-122"/>
                <a:cs typeface="Courier New" pitchFamily="34" charset="-120"/>
              </a:rPr>
              <a:t>1.1 ms</a:t>
            </a:r>
            <a:endParaRPr lang="en-US" sz="3000" dirty="0"/>
          </a:p>
        </p:txBody>
      </p:sp>
      <p:sp>
        <p:nvSpPr>
          <p:cNvPr id="8" name="Text 6"/>
          <p:cNvSpPr txBox="1"/>
          <p:nvPr/>
        </p:nvSpPr>
        <p:spPr>
          <a:xfrm>
            <a:off x="640080" y="1874520"/>
            <a:ext cx="228600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exact cache hit · P95</a:t>
            </a:r>
            <a:endParaRPr lang="en-US" sz="1100" dirty="0"/>
          </a:p>
        </p:txBody>
      </p:sp>
      <p:sp>
        <p:nvSpPr>
          <p:cNvPr id="9" name="Shape 7"/>
          <p:cNvSpPr/>
          <p:nvPr/>
        </p:nvSpPr>
        <p:spPr>
          <a:xfrm>
            <a:off x="640080" y="2212848"/>
            <a:ext cx="2240280" cy="91440"/>
          </a:xfrm>
          <a:prstGeom prst="rect">
            <a:avLst/>
          </a:prstGeom>
          <a:solidFill>
            <a:srgbClr val="EBE6DA"/>
          </a:solidFill>
          <a:ln/>
        </p:spPr>
      </p:sp>
      <p:sp>
        <p:nvSpPr>
          <p:cNvPr id="10" name="Shape 8"/>
          <p:cNvSpPr/>
          <p:nvPr/>
        </p:nvSpPr>
        <p:spPr>
          <a:xfrm>
            <a:off x="640080" y="2212848"/>
            <a:ext cx="36576" cy="91440"/>
          </a:xfrm>
          <a:prstGeom prst="rect">
            <a:avLst/>
          </a:prstGeom>
          <a:solidFill>
            <a:srgbClr val="1D7A52"/>
          </a:solidFill>
          <a:ln/>
        </p:spPr>
      </p:sp>
      <p:sp>
        <p:nvSpPr>
          <p:cNvPr id="11" name="Text 9"/>
          <p:cNvSpPr txBox="1"/>
          <p:nvPr/>
        </p:nvSpPr>
        <p:spPr>
          <a:xfrm>
            <a:off x="640080" y="2359152"/>
            <a:ext cx="2286000" cy="237744"/>
          </a:xfrm>
          <a:prstGeom prst="rect">
            <a:avLst/>
          </a:prstGeom>
          <a:noFill/>
          <a:ln/>
        </p:spPr>
        <p:txBody>
          <a:bodyPr wrap="square" lIns="0" tIns="0" rIns="0" bIns="0" rtlCol="0" anchor="t"/>
          <a:lstStyle/>
          <a:p>
            <a:pPr indent="0" marL="0">
              <a:buNone/>
            </a:pPr>
            <a:r>
              <a:rPr lang="en-US" sz="850" dirty="0">
                <a:solidFill>
                  <a:srgbClr val="8A8375"/>
                </a:solidFill>
                <a:latin typeface="Calibri" pitchFamily="34" charset="0"/>
                <a:ea typeface="Calibri" pitchFamily="34" charset="-122"/>
                <a:cs typeface="Calibri" pitchFamily="34" charset="-120"/>
              </a:rPr>
              <a:t>N = 40 · budget 300 ms · &lt;1% of budget used</a:t>
            </a:r>
            <a:endParaRPr lang="en-US" sz="850" dirty="0"/>
          </a:p>
        </p:txBody>
      </p:sp>
      <p:sp>
        <p:nvSpPr>
          <p:cNvPr id="12" name="Shape 10"/>
          <p:cNvSpPr/>
          <p:nvPr/>
        </p:nvSpPr>
        <p:spPr>
          <a:xfrm>
            <a:off x="3246120" y="1234440"/>
            <a:ext cx="2606040" cy="1463040"/>
          </a:xfrm>
          <a:prstGeom prst="roundRect">
            <a:avLst>
              <a:gd name="adj" fmla="val 5000"/>
            </a:avLst>
          </a:prstGeom>
          <a:solidFill>
            <a:srgbClr val="FFFFFF"/>
          </a:solidFill>
          <a:ln w="9525">
            <a:solidFill>
              <a:srgbClr val="D9D2C3"/>
            </a:solidFill>
            <a:prstDash val="solid"/>
          </a:ln>
        </p:spPr>
      </p:sp>
      <p:sp>
        <p:nvSpPr>
          <p:cNvPr id="13" name="Text 11"/>
          <p:cNvSpPr txBox="1"/>
          <p:nvPr/>
        </p:nvSpPr>
        <p:spPr>
          <a:xfrm>
            <a:off x="3429000" y="1325880"/>
            <a:ext cx="2286000" cy="548640"/>
          </a:xfrm>
          <a:prstGeom prst="rect">
            <a:avLst/>
          </a:prstGeom>
          <a:noFill/>
          <a:ln/>
        </p:spPr>
        <p:txBody>
          <a:bodyPr wrap="square" lIns="0" tIns="0" rIns="0" bIns="0" rtlCol="0" anchor="t"/>
          <a:lstStyle/>
          <a:p>
            <a:pPr indent="0" marL="0">
              <a:buNone/>
            </a:pPr>
            <a:r>
              <a:rPr lang="en-US" sz="3000" b="1" dirty="0">
                <a:solidFill>
                  <a:srgbClr val="1D7A52"/>
                </a:solidFill>
                <a:latin typeface="Courier New" pitchFamily="34" charset="0"/>
                <a:ea typeface="Courier New" pitchFamily="34" charset="-122"/>
                <a:cs typeface="Courier New" pitchFamily="34" charset="-120"/>
              </a:rPr>
              <a:t>10.4 ms</a:t>
            </a:r>
            <a:endParaRPr lang="en-US" sz="3000" dirty="0"/>
          </a:p>
        </p:txBody>
      </p:sp>
      <p:sp>
        <p:nvSpPr>
          <p:cNvPr id="14" name="Text 12"/>
          <p:cNvSpPr txBox="1"/>
          <p:nvPr/>
        </p:nvSpPr>
        <p:spPr>
          <a:xfrm>
            <a:off x="3429000" y="1874520"/>
            <a:ext cx="228600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unseen rewording · P95</a:t>
            </a:r>
            <a:endParaRPr lang="en-US" sz="1100" dirty="0"/>
          </a:p>
        </p:txBody>
      </p:sp>
      <p:sp>
        <p:nvSpPr>
          <p:cNvPr id="15" name="Shape 13"/>
          <p:cNvSpPr/>
          <p:nvPr/>
        </p:nvSpPr>
        <p:spPr>
          <a:xfrm>
            <a:off x="3429000" y="2212848"/>
            <a:ext cx="2240280" cy="91440"/>
          </a:xfrm>
          <a:prstGeom prst="rect">
            <a:avLst/>
          </a:prstGeom>
          <a:solidFill>
            <a:srgbClr val="EBE6DA"/>
          </a:solidFill>
          <a:ln/>
        </p:spPr>
      </p:sp>
      <p:sp>
        <p:nvSpPr>
          <p:cNvPr id="16" name="Shape 14"/>
          <p:cNvSpPr/>
          <p:nvPr/>
        </p:nvSpPr>
        <p:spPr>
          <a:xfrm>
            <a:off x="3429000" y="2212848"/>
            <a:ext cx="78410" cy="91440"/>
          </a:xfrm>
          <a:prstGeom prst="rect">
            <a:avLst/>
          </a:prstGeom>
          <a:solidFill>
            <a:srgbClr val="1D7A52"/>
          </a:solidFill>
          <a:ln/>
        </p:spPr>
      </p:sp>
      <p:sp>
        <p:nvSpPr>
          <p:cNvPr id="17" name="Text 15"/>
          <p:cNvSpPr txBox="1"/>
          <p:nvPr/>
        </p:nvSpPr>
        <p:spPr>
          <a:xfrm>
            <a:off x="3429000" y="2359152"/>
            <a:ext cx="2286000" cy="237744"/>
          </a:xfrm>
          <a:prstGeom prst="rect">
            <a:avLst/>
          </a:prstGeom>
          <a:noFill/>
          <a:ln/>
        </p:spPr>
        <p:txBody>
          <a:bodyPr wrap="square" lIns="0" tIns="0" rIns="0" bIns="0" rtlCol="0" anchor="t"/>
          <a:lstStyle/>
          <a:p>
            <a:pPr indent="0" marL="0">
              <a:buNone/>
            </a:pPr>
            <a:r>
              <a:rPr lang="en-US" sz="850" dirty="0">
                <a:solidFill>
                  <a:srgbClr val="8A8375"/>
                </a:solidFill>
                <a:latin typeface="Calibri" pitchFamily="34" charset="0"/>
                <a:ea typeface="Calibri" pitchFamily="34" charset="-122"/>
                <a:cs typeface="Calibri" pitchFamily="34" charset="-120"/>
              </a:rPr>
              <a:t>N = 80 · budget 300 ms · 4% of budget used</a:t>
            </a:r>
            <a:endParaRPr lang="en-US" sz="850" dirty="0"/>
          </a:p>
        </p:txBody>
      </p:sp>
      <p:sp>
        <p:nvSpPr>
          <p:cNvPr id="18" name="Shape 16"/>
          <p:cNvSpPr/>
          <p:nvPr/>
        </p:nvSpPr>
        <p:spPr>
          <a:xfrm>
            <a:off x="6035040" y="1234440"/>
            <a:ext cx="2606040" cy="1463040"/>
          </a:xfrm>
          <a:prstGeom prst="roundRect">
            <a:avLst>
              <a:gd name="adj" fmla="val 5000"/>
            </a:avLst>
          </a:prstGeom>
          <a:solidFill>
            <a:srgbClr val="FFFFFF"/>
          </a:solidFill>
          <a:ln w="9525">
            <a:solidFill>
              <a:srgbClr val="D9D2C3"/>
            </a:solidFill>
            <a:prstDash val="solid"/>
          </a:ln>
        </p:spPr>
      </p:sp>
      <p:sp>
        <p:nvSpPr>
          <p:cNvPr id="19" name="Text 17"/>
          <p:cNvSpPr txBox="1"/>
          <p:nvPr/>
        </p:nvSpPr>
        <p:spPr>
          <a:xfrm>
            <a:off x="6217920" y="1325880"/>
            <a:ext cx="2286000" cy="548640"/>
          </a:xfrm>
          <a:prstGeom prst="rect">
            <a:avLst/>
          </a:prstGeom>
          <a:noFill/>
          <a:ln/>
        </p:spPr>
        <p:txBody>
          <a:bodyPr wrap="square" lIns="0" tIns="0" rIns="0" bIns="0" rtlCol="0" anchor="t"/>
          <a:lstStyle/>
          <a:p>
            <a:pPr indent="0" marL="0">
              <a:buNone/>
            </a:pPr>
            <a:r>
              <a:rPr lang="en-US" sz="3000" b="1" dirty="0">
                <a:solidFill>
                  <a:srgbClr val="FF5A1F"/>
                </a:solidFill>
                <a:latin typeface="Courier New" pitchFamily="34" charset="0"/>
                <a:ea typeface="Courier New" pitchFamily="34" charset="-122"/>
                <a:cs typeface="Courier New" pitchFamily="34" charset="-120"/>
              </a:rPr>
              <a:t>3.2 s</a:t>
            </a:r>
            <a:endParaRPr lang="en-US" sz="3000" dirty="0"/>
          </a:p>
        </p:txBody>
      </p:sp>
      <p:sp>
        <p:nvSpPr>
          <p:cNvPr id="20" name="Text 18"/>
          <p:cNvSpPr txBox="1"/>
          <p:nvPr/>
        </p:nvSpPr>
        <p:spPr>
          <a:xfrm>
            <a:off x="6217920" y="1874520"/>
            <a:ext cx="228600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full cold pipeline · P95</a:t>
            </a:r>
            <a:endParaRPr lang="en-US" sz="1100" dirty="0"/>
          </a:p>
        </p:txBody>
      </p:sp>
      <p:sp>
        <p:nvSpPr>
          <p:cNvPr id="21" name="Shape 19"/>
          <p:cNvSpPr/>
          <p:nvPr/>
        </p:nvSpPr>
        <p:spPr>
          <a:xfrm>
            <a:off x="6217920" y="2212848"/>
            <a:ext cx="2240280" cy="91440"/>
          </a:xfrm>
          <a:prstGeom prst="rect">
            <a:avLst/>
          </a:prstGeom>
          <a:solidFill>
            <a:srgbClr val="EBE6DA"/>
          </a:solidFill>
          <a:ln/>
        </p:spPr>
      </p:sp>
      <p:sp>
        <p:nvSpPr>
          <p:cNvPr id="22" name="Shape 20"/>
          <p:cNvSpPr/>
          <p:nvPr/>
        </p:nvSpPr>
        <p:spPr>
          <a:xfrm>
            <a:off x="6217920" y="2212848"/>
            <a:ext cx="896112" cy="91440"/>
          </a:xfrm>
          <a:prstGeom prst="rect">
            <a:avLst/>
          </a:prstGeom>
          <a:solidFill>
            <a:srgbClr val="FF5A1F"/>
          </a:solidFill>
          <a:ln/>
        </p:spPr>
      </p:sp>
      <p:sp>
        <p:nvSpPr>
          <p:cNvPr id="23" name="Text 21"/>
          <p:cNvSpPr txBox="1"/>
          <p:nvPr/>
        </p:nvSpPr>
        <p:spPr>
          <a:xfrm>
            <a:off x="6217920" y="2359152"/>
            <a:ext cx="2286000" cy="237744"/>
          </a:xfrm>
          <a:prstGeom prst="rect">
            <a:avLst/>
          </a:prstGeom>
          <a:noFill/>
          <a:ln/>
        </p:spPr>
        <p:txBody>
          <a:bodyPr wrap="square" lIns="0" tIns="0" rIns="0" bIns="0" rtlCol="0" anchor="t"/>
          <a:lstStyle/>
          <a:p>
            <a:pPr indent="0" marL="0">
              <a:buNone/>
            </a:pPr>
            <a:r>
              <a:rPr lang="en-US" sz="850" dirty="0">
                <a:solidFill>
                  <a:srgbClr val="8A8375"/>
                </a:solidFill>
                <a:latin typeface="Calibri" pitchFamily="34" charset="0"/>
                <a:ea typeface="Calibri" pitchFamily="34" charset="-122"/>
                <a:cs typeface="Calibri" pitchFamily="34" charset="-120"/>
              </a:rPr>
              <a:t>N = 30 · budget 8 s · 40% of budget used</a:t>
            </a:r>
            <a:endParaRPr lang="en-US" sz="850" dirty="0"/>
          </a:p>
        </p:txBody>
      </p:sp>
      <p:sp>
        <p:nvSpPr>
          <p:cNvPr id="24" name="Text 22"/>
          <p:cNvSpPr txBox="1"/>
          <p:nvPr/>
        </p:nvSpPr>
        <p:spPr>
          <a:xfrm>
            <a:off x="457200" y="2971800"/>
            <a:ext cx="2560320" cy="502920"/>
          </a:xfrm>
          <a:prstGeom prst="rect">
            <a:avLst/>
          </a:prstGeom>
          <a:noFill/>
          <a:ln/>
        </p:spPr>
        <p:txBody>
          <a:bodyPr wrap="square" lIns="0" tIns="0" rIns="0" bIns="0" rtlCol="0" anchor="t"/>
          <a:lstStyle/>
          <a:p>
            <a:pPr indent="0" marL="0">
              <a:buNone/>
            </a:pPr>
            <a:r>
              <a:rPr lang="en-US" sz="2400" b="1" dirty="0">
                <a:solidFill>
                  <a:srgbClr val="17140F"/>
                </a:solidFill>
                <a:latin typeface="Courier New" pitchFamily="34" charset="0"/>
                <a:ea typeface="Courier New" pitchFamily="34" charset="-122"/>
                <a:cs typeface="Courier New" pitchFamily="34" charset="-120"/>
              </a:rPr>
              <a:t>$0.0008</a:t>
            </a:r>
            <a:endParaRPr lang="en-US" sz="2400" dirty="0"/>
          </a:p>
        </p:txBody>
      </p:sp>
      <p:sp>
        <p:nvSpPr>
          <p:cNvPr id="25" name="Text 23"/>
          <p:cNvSpPr txBox="1"/>
          <p:nvPr/>
        </p:nvSpPr>
        <p:spPr>
          <a:xfrm>
            <a:off x="457200" y="3493008"/>
            <a:ext cx="256032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average cost per cold query</a:t>
            </a:r>
            <a:endParaRPr lang="en-US" sz="1100" dirty="0"/>
          </a:p>
        </p:txBody>
      </p:sp>
      <p:sp>
        <p:nvSpPr>
          <p:cNvPr id="26" name="Text 24"/>
          <p:cNvSpPr txBox="1"/>
          <p:nvPr/>
        </p:nvSpPr>
        <p:spPr>
          <a:xfrm>
            <a:off x="457200" y="3730752"/>
            <a:ext cx="2560320" cy="237744"/>
          </a:xfrm>
          <a:prstGeom prst="rect">
            <a:avLst/>
          </a:prstGeom>
          <a:noFill/>
          <a:ln/>
        </p:spPr>
        <p:txBody>
          <a:bodyPr wrap="square" lIns="0" tIns="0" rIns="0" bIns="0" rtlCol="0" anchor="t"/>
          <a:lstStyle/>
          <a:p>
            <a:pPr indent="0" marL="0">
              <a:buNone/>
            </a:pPr>
            <a:r>
              <a:rPr lang="en-US" sz="900" dirty="0">
                <a:solidFill>
                  <a:srgbClr val="8A8375"/>
                </a:solidFill>
                <a:latin typeface="Calibri" pitchFamily="34" charset="0"/>
                <a:ea typeface="Calibri" pitchFamily="34" charset="-122"/>
                <a:cs typeface="Calibri" pitchFamily="34" charset="-120"/>
              </a:rPr>
              <a:t>$0 on every cache hit</a:t>
            </a:r>
            <a:endParaRPr lang="en-US" sz="900" dirty="0"/>
          </a:p>
        </p:txBody>
      </p:sp>
      <p:sp>
        <p:nvSpPr>
          <p:cNvPr id="27" name="Text 25"/>
          <p:cNvSpPr txBox="1"/>
          <p:nvPr/>
        </p:nvSpPr>
        <p:spPr>
          <a:xfrm>
            <a:off x="3246120" y="2971800"/>
            <a:ext cx="2560320" cy="502920"/>
          </a:xfrm>
          <a:prstGeom prst="rect">
            <a:avLst/>
          </a:prstGeom>
          <a:noFill/>
          <a:ln/>
        </p:spPr>
        <p:txBody>
          <a:bodyPr wrap="square" lIns="0" tIns="0" rIns="0" bIns="0" rtlCol="0" anchor="t"/>
          <a:lstStyle/>
          <a:p>
            <a:pPr indent="0" marL="0">
              <a:buNone/>
            </a:pPr>
            <a:r>
              <a:rPr lang="en-US" sz="2400" b="1" dirty="0">
                <a:solidFill>
                  <a:srgbClr val="17140F"/>
                </a:solidFill>
                <a:latin typeface="Courier New" pitchFamily="34" charset="0"/>
                <a:ea typeface="Courier New" pitchFamily="34" charset="-122"/>
                <a:cs typeface="Courier New" pitchFamily="34" charset="-120"/>
              </a:rPr>
              <a:t>2.25 / 3</a:t>
            </a:r>
            <a:endParaRPr lang="en-US" sz="2400" dirty="0"/>
          </a:p>
        </p:txBody>
      </p:sp>
      <p:sp>
        <p:nvSpPr>
          <p:cNvPr id="28" name="Text 26"/>
          <p:cNvSpPr txBox="1"/>
          <p:nvPr/>
        </p:nvSpPr>
        <p:spPr>
          <a:xfrm>
            <a:off x="3246120" y="3493008"/>
            <a:ext cx="256032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step accuracy</a:t>
            </a:r>
            <a:endParaRPr lang="en-US" sz="1100" dirty="0"/>
          </a:p>
        </p:txBody>
      </p:sp>
      <p:sp>
        <p:nvSpPr>
          <p:cNvPr id="29" name="Text 27"/>
          <p:cNvSpPr txBox="1"/>
          <p:nvPr/>
        </p:nvSpPr>
        <p:spPr>
          <a:xfrm>
            <a:off x="3246120" y="3730752"/>
            <a:ext cx="2560320" cy="237744"/>
          </a:xfrm>
          <a:prstGeom prst="rect">
            <a:avLst/>
          </a:prstGeom>
          <a:noFill/>
          <a:ln/>
        </p:spPr>
        <p:txBody>
          <a:bodyPr wrap="square" lIns="0" tIns="0" rIns="0" bIns="0" rtlCol="0" anchor="t"/>
          <a:lstStyle/>
          <a:p>
            <a:pPr indent="0" marL="0">
              <a:buNone/>
            </a:pPr>
            <a:r>
              <a:rPr lang="en-US" sz="900" dirty="0">
                <a:solidFill>
                  <a:srgbClr val="8A8375"/>
                </a:solidFill>
                <a:latin typeface="Calibri" pitchFamily="34" charset="0"/>
                <a:ea typeface="Calibri" pitchFamily="34" charset="-122"/>
                <a:cs typeface="Calibri" pitchFamily="34" charset="-120"/>
              </a:rPr>
              <a:t>LLM judge from a different model family</a:t>
            </a:r>
            <a:endParaRPr lang="en-US" sz="900" dirty="0"/>
          </a:p>
        </p:txBody>
      </p:sp>
      <p:sp>
        <p:nvSpPr>
          <p:cNvPr id="30" name="Text 28"/>
          <p:cNvSpPr txBox="1"/>
          <p:nvPr/>
        </p:nvSpPr>
        <p:spPr>
          <a:xfrm>
            <a:off x="6035040" y="2971800"/>
            <a:ext cx="2560320" cy="502920"/>
          </a:xfrm>
          <a:prstGeom prst="rect">
            <a:avLst/>
          </a:prstGeom>
          <a:noFill/>
          <a:ln/>
        </p:spPr>
        <p:txBody>
          <a:bodyPr wrap="square" lIns="0" tIns="0" rIns="0" bIns="0" rtlCol="0" anchor="t"/>
          <a:lstStyle/>
          <a:p>
            <a:pPr indent="0" marL="0">
              <a:buNone/>
            </a:pPr>
            <a:r>
              <a:rPr lang="en-US" sz="2400" b="1" dirty="0">
                <a:solidFill>
                  <a:srgbClr val="17140F"/>
                </a:solidFill>
                <a:latin typeface="Courier New" pitchFamily="34" charset="0"/>
                <a:ea typeface="Courier New" pitchFamily="34" charset="-122"/>
                <a:cs typeface="Courier New" pitchFamily="34" charset="-120"/>
              </a:rPr>
              <a:t>1.43 / 2</a:t>
            </a:r>
            <a:endParaRPr lang="en-US" sz="2400" dirty="0"/>
          </a:p>
        </p:txBody>
      </p:sp>
      <p:sp>
        <p:nvSpPr>
          <p:cNvPr id="31" name="Text 29"/>
          <p:cNvSpPr txBox="1"/>
          <p:nvPr/>
        </p:nvSpPr>
        <p:spPr>
          <a:xfrm>
            <a:off x="6035040" y="3493008"/>
            <a:ext cx="256032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deeplink relevance</a:t>
            </a:r>
            <a:endParaRPr lang="en-US" sz="1100" dirty="0"/>
          </a:p>
        </p:txBody>
      </p:sp>
      <p:sp>
        <p:nvSpPr>
          <p:cNvPr id="32" name="Text 30"/>
          <p:cNvSpPr txBox="1"/>
          <p:nvPr/>
        </p:nvSpPr>
        <p:spPr>
          <a:xfrm>
            <a:off x="6035040" y="3730752"/>
            <a:ext cx="2560320" cy="237744"/>
          </a:xfrm>
          <a:prstGeom prst="rect">
            <a:avLst/>
          </a:prstGeom>
          <a:noFill/>
          <a:ln/>
        </p:spPr>
        <p:txBody>
          <a:bodyPr wrap="square" lIns="0" tIns="0" rIns="0" bIns="0" rtlCol="0" anchor="t"/>
          <a:lstStyle/>
          <a:p>
            <a:pPr indent="0" marL="0">
              <a:buNone/>
            </a:pPr>
            <a:r>
              <a:rPr lang="en-US" sz="900" dirty="0">
                <a:solidFill>
                  <a:srgbClr val="8A8375"/>
                </a:solidFill>
                <a:latin typeface="Calibri" pitchFamily="34" charset="0"/>
                <a:ea typeface="Calibri" pitchFamily="34" charset="-122"/>
                <a:cs typeface="Calibri" pitchFamily="34" charset="-120"/>
              </a:rPr>
              <a:t>on the provided scenarios</a:t>
            </a:r>
            <a:endParaRPr lang="en-US" sz="900" dirty="0"/>
          </a:p>
        </p:txBody>
      </p:sp>
      <p:sp>
        <p:nvSpPr>
          <p:cNvPr id="33" name="Text 31"/>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900" i="1" dirty="0">
                <a:solidFill>
                  <a:srgbClr val="8A8375"/>
                </a:solidFill>
                <a:latin typeface="Calibri" pitchFamily="34" charset="0"/>
                <a:ea typeface="Calibri" pitchFamily="34" charset="-122"/>
                <a:cs typeface="Calibri" pitchFamily="34" charset="-120"/>
              </a:rPr>
              <a:t>Cold latency is server-side, measured with provider quota available; free-tier rate limits can add seconds (see limitations).</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11 · ABLATION</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Why this design: measured against the alternatives</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12 / 18</a:t>
            </a:r>
            <a:endParaRPr lang="en-US" sz="7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4754880" cy="914400"/>
        </p:xfrm>
        <a:graphic>
          <a:graphicData uri="http://schemas.openxmlformats.org/drawingml/2006/table">
            <a:tbl>
              <a:tblPr/>
              <a:tblGrid>
                <a:gridCol w="2011680"/>
                <a:gridCol w="658368"/>
                <a:gridCol w="731520"/>
                <a:gridCol w="640080"/>
                <a:gridCol w="713232"/>
              </a:tblGrid>
              <a:tr h="38404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Deeplink variant</a:t>
                      </a:r>
                      <a:endParaRPr lang="en-US" sz="900" dirty="0">
                        <a:latin typeface="Calibri" charset="0"/>
                        <a:ea typeface="Calibri" charset="0"/>
                        <a:cs typeface="Calibri"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17140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Acc@1</a:t>
                      </a:r>
                      <a:endParaRPr lang="en-US" sz="900" dirty="0">
                        <a:latin typeface="Calibri" charset="0"/>
                        <a:ea typeface="Calibri" charset="0"/>
                        <a:cs typeface="Calibri"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17140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Wrong twin</a:t>
                      </a:r>
                      <a:endParaRPr lang="en-US" sz="900" dirty="0">
                        <a:latin typeface="Calibri" charset="0"/>
                        <a:ea typeface="Calibri" charset="0"/>
                        <a:cs typeface="Calibri"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17140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No link</a:t>
                      </a:r>
                      <a:endParaRPr lang="en-US" sz="900" dirty="0">
                        <a:latin typeface="Calibri" charset="0"/>
                        <a:ea typeface="Calibri" charset="0"/>
                        <a:cs typeface="Calibri"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17140F"/>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 / action</a:t>
                      </a:r>
                      <a:endParaRPr lang="en-US" sz="900" dirty="0">
                        <a:latin typeface="Calibri" charset="0"/>
                        <a:ea typeface="Calibri" charset="0"/>
                        <a:cs typeface="Calibri"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17140F"/>
                    </a:solidFill>
                  </a:tcPr>
                </a:tc>
              </a:tr>
              <a:tr h="384048">
                <a:tc>
                  <a:txBody>
                    <a:bodyPr/>
                    <a:lstStyle/>
                    <a:p>
                      <a:pPr algn="l" indent="0" marL="0">
                        <a:buNone/>
                      </a:pPr>
                      <a:r>
                        <a:rPr lang="en-US" sz="900" dirty="0">
                          <a:solidFill>
                            <a:srgbClr val="17140F"/>
                          </a:solidFill>
                          <a:latin typeface="Calibri" pitchFamily="34" charset="0"/>
                          <a:ea typeface="Calibri" pitchFamily="34" charset="-122"/>
                          <a:cs typeface="Calibri" pitchFamily="34" charset="-120"/>
                        </a:rPr>
                        <a:t>Full catalog in LLM (baseline)</a:t>
                      </a:r>
                      <a:endParaRPr lang="en-US" sz="900" dirty="0">
                        <a:latin typeface="Calibri" charset="0"/>
                        <a:ea typeface="Calibri" charset="0"/>
                        <a:cs typeface="Calibri"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62.5%</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8.3%</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16.7%</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0.00261</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7140F"/>
                          </a:solidFill>
                          <a:latin typeface="Calibri" pitchFamily="34" charset="0"/>
                          <a:ea typeface="Calibri" pitchFamily="34" charset="-122"/>
                          <a:cs typeface="Calibri" pitchFamily="34" charset="-120"/>
                        </a:rPr>
                        <a:t>A: Hybrid BM25 + dense</a:t>
                      </a:r>
                      <a:endParaRPr lang="en-US" sz="900" dirty="0">
                        <a:latin typeface="Calibri" charset="0"/>
                        <a:ea typeface="Calibri" charset="0"/>
                        <a:cs typeface="Calibri"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91.7%</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8.3%</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0%</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0</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r>
              <a:tr h="384048">
                <a:tc>
                  <a:txBody>
                    <a:bodyPr/>
                    <a:lstStyle/>
                    <a:p>
                      <a:pPr algn="l" indent="0" marL="0">
                        <a:buNone/>
                      </a:pPr>
                      <a:r>
                        <a:rPr lang="en-US" sz="900" dirty="0">
                          <a:solidFill>
                            <a:srgbClr val="17140F"/>
                          </a:solidFill>
                          <a:latin typeface="Calibri" pitchFamily="34" charset="0"/>
                          <a:ea typeface="Calibri" pitchFamily="34" charset="-122"/>
                          <a:cs typeface="Calibri" pitchFamily="34" charset="-120"/>
                        </a:rPr>
                        <a:t>B: Pure rules (BM25)</a:t>
                      </a:r>
                      <a:endParaRPr lang="en-US" sz="900" dirty="0">
                        <a:latin typeface="Calibri" charset="0"/>
                        <a:ea typeface="Calibri" charset="0"/>
                        <a:cs typeface="Calibri"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91.7%</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4.2%</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0%</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7140F"/>
                          </a:solidFill>
                          <a:latin typeface="Courier New" pitchFamily="34" charset="0"/>
                          <a:ea typeface="Courier New" pitchFamily="34" charset="-122"/>
                          <a:cs typeface="Courier New" pitchFamily="34" charset="-120"/>
                        </a:rPr>
                        <a:t>0</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FFFF"/>
                    </a:solidFill>
                  </a:tcPr>
                </a:tc>
              </a:tr>
              <a:tr h="384048">
                <a:tc>
                  <a:txBody>
                    <a:bodyPr/>
                    <a:lstStyle/>
                    <a:p>
                      <a:pPr algn="l" indent="0" marL="0">
                        <a:buNone/>
                      </a:pPr>
                      <a:r>
                        <a:rPr lang="en-US" sz="900" b="1" dirty="0">
                          <a:solidFill>
                            <a:srgbClr val="B93A0B"/>
                          </a:solidFill>
                          <a:latin typeface="Calibri" pitchFamily="34" charset="0"/>
                          <a:ea typeface="Calibri" pitchFamily="34" charset="-122"/>
                          <a:cs typeface="Calibri" pitchFamily="34" charset="-120"/>
                        </a:rPr>
                        <a:t>OneTap: leaf + hybrid + rerank + closed-set</a:t>
                      </a:r>
                      <a:endParaRPr lang="en-US" sz="900" dirty="0">
                        <a:latin typeface="Calibri" charset="0"/>
                        <a:ea typeface="Calibri" charset="0"/>
                        <a:cs typeface="Calibri"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E4D6"/>
                    </a:solidFill>
                  </a:tcPr>
                </a:tc>
                <a:tc>
                  <a:txBody>
                    <a:bodyPr/>
                    <a:lstStyle/>
                    <a:p>
                      <a:pPr algn="ctr" indent="0" marL="0">
                        <a:buNone/>
                      </a:pPr>
                      <a:r>
                        <a:rPr lang="en-US" sz="900" b="1" dirty="0">
                          <a:solidFill>
                            <a:srgbClr val="B93A0B"/>
                          </a:solidFill>
                          <a:latin typeface="Courier New" pitchFamily="34" charset="0"/>
                          <a:ea typeface="Courier New" pitchFamily="34" charset="-122"/>
                          <a:cs typeface="Courier New" pitchFamily="34" charset="-120"/>
                        </a:rPr>
                        <a:t>95.8%</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E4D6"/>
                    </a:solidFill>
                  </a:tcPr>
                </a:tc>
                <a:tc>
                  <a:txBody>
                    <a:bodyPr/>
                    <a:lstStyle/>
                    <a:p>
                      <a:pPr algn="ctr" indent="0" marL="0">
                        <a:buNone/>
                      </a:pPr>
                      <a:r>
                        <a:rPr lang="en-US" sz="900" b="1" dirty="0">
                          <a:solidFill>
                            <a:srgbClr val="B93A0B"/>
                          </a:solidFill>
                          <a:latin typeface="Courier New" pitchFamily="34" charset="0"/>
                          <a:ea typeface="Courier New" pitchFamily="34" charset="-122"/>
                          <a:cs typeface="Courier New" pitchFamily="34" charset="-120"/>
                        </a:rPr>
                        <a:t>0%</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E4D6"/>
                    </a:solidFill>
                  </a:tcPr>
                </a:tc>
                <a:tc>
                  <a:txBody>
                    <a:bodyPr/>
                    <a:lstStyle/>
                    <a:p>
                      <a:pPr algn="ctr" indent="0" marL="0">
                        <a:buNone/>
                      </a:pPr>
                      <a:r>
                        <a:rPr lang="en-US" sz="900" b="1" dirty="0">
                          <a:solidFill>
                            <a:srgbClr val="B93A0B"/>
                          </a:solidFill>
                          <a:latin typeface="Courier New" pitchFamily="34" charset="0"/>
                          <a:ea typeface="Courier New" pitchFamily="34" charset="-122"/>
                          <a:cs typeface="Courier New" pitchFamily="34" charset="-120"/>
                        </a:rPr>
                        <a:t>4.2%</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E4D6"/>
                    </a:solidFill>
                  </a:tcPr>
                </a:tc>
                <a:tc>
                  <a:txBody>
                    <a:bodyPr/>
                    <a:lstStyle/>
                    <a:p>
                      <a:pPr algn="ctr" indent="0" marL="0">
                        <a:buNone/>
                      </a:pPr>
                      <a:r>
                        <a:rPr lang="en-US" sz="900" b="1" dirty="0">
                          <a:solidFill>
                            <a:srgbClr val="B93A0B"/>
                          </a:solidFill>
                          <a:latin typeface="Courier New" pitchFamily="34" charset="0"/>
                          <a:ea typeface="Courier New" pitchFamily="34" charset="-122"/>
                          <a:cs typeface="Courier New" pitchFamily="34" charset="-120"/>
                        </a:rPr>
                        <a:t>0.00006</a:t>
                      </a:r>
                      <a:endParaRPr lang="en-US" sz="900" dirty="0">
                        <a:latin typeface="Courier New" charset="0"/>
                        <a:ea typeface="Courier New" charset="0"/>
                        <a:cs typeface="Courier New" charset="0"/>
                      </a:endParaRPr>
                    </a:p>
                  </a:txBody>
                  <a:tcPr marL="54864" marR="54864" marT="27432" marB="27432" anchor="ctr">
                    <a:lnL w="6350" cap="flat" cmpd="sng" algn="ctr">
                      <a:solidFill>
                        <a:srgbClr val="D9D2C3"/>
                      </a:solidFill>
                      <a:prstDash val="solid"/>
                      <a:round/>
                      <a:headEnd type="none" w="med" len="med"/>
                      <a:tailEnd type="none" w="med" len="med"/>
                    </a:lnL>
                    <a:lnR w="6350" cap="flat" cmpd="sng" algn="ctr">
                      <a:solidFill>
                        <a:srgbClr val="D9D2C3"/>
                      </a:solidFill>
                      <a:prstDash val="solid"/>
                      <a:round/>
                      <a:headEnd type="none" w="med" len="med"/>
                      <a:tailEnd type="none" w="med" len="med"/>
                    </a:lnR>
                    <a:lnT w="6350" cap="flat" cmpd="sng" algn="ctr">
                      <a:solidFill>
                        <a:srgbClr val="D9D2C3"/>
                      </a:solidFill>
                      <a:prstDash val="solid"/>
                      <a:round/>
                      <a:headEnd type="none" w="med" len="med"/>
                      <a:tailEnd type="none" w="med" len="med"/>
                    </a:lnT>
                    <a:lnB w="6350" cap="flat" cmpd="sng" algn="ctr">
                      <a:solidFill>
                        <a:srgbClr val="D9D2C3"/>
                      </a:solidFill>
                      <a:prstDash val="solid"/>
                      <a:round/>
                      <a:headEnd type="none" w="med" len="med"/>
                      <a:tailEnd type="none" w="med" len="med"/>
                    </a:lnB>
                    <a:solidFill>
                      <a:srgbClr val="FFE4D6"/>
                    </a:solidFill>
                  </a:tcPr>
                </a:tc>
              </a:tr>
            </a:tbl>
          </a:graphicData>
        </a:graphic>
      </p:graphicFrame>
      <p:sp>
        <p:nvSpPr>
          <p:cNvPr id="7" name="Text 4"/>
          <p:cNvSpPr txBox="1"/>
          <p:nvPr/>
        </p:nvSpPr>
        <p:spPr>
          <a:xfrm>
            <a:off x="457200" y="3337560"/>
            <a:ext cx="4754880" cy="274320"/>
          </a:xfrm>
          <a:prstGeom prst="rect">
            <a:avLst/>
          </a:prstGeom>
          <a:noFill/>
          <a:ln/>
        </p:spPr>
        <p:txBody>
          <a:bodyPr wrap="square" lIns="0" tIns="0" rIns="0" bIns="0" rtlCol="0" anchor="t"/>
          <a:lstStyle/>
          <a:p>
            <a:pPr indent="0" marL="0">
              <a:buNone/>
            </a:pPr>
            <a:r>
              <a:rPr lang="en-US" sz="1300" b="1" dirty="0">
                <a:solidFill>
                  <a:srgbClr val="17140F"/>
                </a:solidFill>
                <a:latin typeface="Cambria" pitchFamily="34" charset="0"/>
                <a:ea typeface="Cambria" pitchFamily="34" charset="-122"/>
                <a:cs typeface="Cambria" pitchFamily="34" charset="-120"/>
              </a:rPr>
              <a:t>Guard ablation (same τ = 0.87)</a:t>
            </a:r>
            <a:endParaRPr lang="en-US" sz="1300" dirty="0"/>
          </a:p>
        </p:txBody>
      </p:sp>
      <p:sp>
        <p:nvSpPr>
          <p:cNvPr id="8" name="Text 5"/>
          <p:cNvSpPr txBox="1"/>
          <p:nvPr/>
        </p:nvSpPr>
        <p:spPr>
          <a:xfrm>
            <a:off x="457200" y="3657600"/>
            <a:ext cx="4754880" cy="548640"/>
          </a:xfrm>
          <a:prstGeom prst="rect">
            <a:avLst/>
          </a:prstGeom>
          <a:noFill/>
          <a:ln/>
        </p:spPr>
        <p:txBody>
          <a:bodyPr wrap="square" lIns="0" tIns="0" rIns="0" bIns="0" rtlCol="0" anchor="t"/>
          <a:lstStyle/>
          <a:p>
            <a:pPr indent="0" marL="0">
              <a:buNone/>
            </a:pPr>
            <a:r>
              <a:rPr lang="en-US" sz="1050" b="1" dirty="0">
                <a:solidFill>
                  <a:srgbClr val="17140F"/>
                </a:solidFill>
                <a:latin typeface="Calibri" pitchFamily="34" charset="0"/>
                <a:ea typeface="Calibri" pitchFamily="34" charset="-122"/>
                <a:cs typeface="Calibri" pitchFamily="34" charset="-120"/>
              </a:rPr>
              <a:t>Guard off:  </a:t>
            </a:r>
            <a:pPr indent="0" marL="0">
              <a:buNone/>
            </a:pPr>
            <a:r>
              <a:rPr lang="en-US" sz="1050" dirty="0">
                <a:solidFill>
                  <a:srgbClr val="17140F"/>
                </a:solidFill>
                <a:latin typeface="Calibri" pitchFamily="34" charset="0"/>
                <a:ea typeface="Calibri" pitchFamily="34" charset="-122"/>
                <a:cs typeface="Calibri" pitchFamily="34" charset="-120"/>
              </a:rPr>
              <a:t>96.9% hit · 44% false hits
</a:t>
            </a:r>
            <a:pPr indent="0" marL="0">
              <a:buNone/>
            </a:pPr>
            <a:r>
              <a:rPr lang="en-US" sz="1050" b="1" dirty="0">
                <a:solidFill>
                  <a:srgbClr val="1D7A52"/>
                </a:solidFill>
                <a:latin typeface="Calibri" pitchFamily="34" charset="0"/>
                <a:ea typeface="Calibri" pitchFamily="34" charset="-122"/>
                <a:cs typeface="Calibri" pitchFamily="34" charset="-120"/>
              </a:rPr>
              <a:t>Guard on:   </a:t>
            </a:r>
            <a:pPr indent="0" marL="0">
              <a:buNone/>
            </a:pPr>
            <a:r>
              <a:rPr lang="en-US" sz="1050" dirty="0">
                <a:solidFill>
                  <a:srgbClr val="1D7A52"/>
                </a:solidFill>
                <a:latin typeface="Calibri" pitchFamily="34" charset="0"/>
                <a:ea typeface="Calibri" pitchFamily="34" charset="-122"/>
                <a:cs typeface="Calibri" pitchFamily="34" charset="-120"/>
              </a:rPr>
              <a:t>82.5% hit · 10% false hits  (−77% wrong answers, still ≥ 80% target)</a:t>
            </a:r>
            <a:endParaRPr lang="en-US" sz="1050" dirty="0"/>
          </a:p>
        </p:txBody>
      </p:sp>
      <p:graphicFrame>
        <p:nvGraphicFramePr>
          <p:cNvPr id="9" name="Chart 0" descr=""/>
          <p:cNvGraphicFramePr/>
          <p:nvPr/>
        </p:nvGraphicFramePr>
        <p:xfrm>
          <a:off x="5486400" y="1188720"/>
          <a:ext cx="3200400" cy="30175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486400" y="4251960"/>
            <a:ext cx="3200400" cy="41148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We chose τ = 0.87: the highest hit rate that keeps false hits ≈ 10% and hits ≥ 80%.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12 · THE PRODUCT</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See what the engine did, and why</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13 / 18</a:t>
            </a:r>
            <a:endParaRPr lang="en-US" sz="750" dirty="0"/>
          </a:p>
        </p:txBody>
      </p:sp>
      <p:pic>
        <p:nvPicPr>
          <p:cNvPr id="6" name="Image 0" descr="C:\Users\shour\OneDrive\Desktop\samsung\onetap\docs\img\ui_hero.jpg">    </p:cNvPr>
          <p:cNvPicPr>
            <a:picLocks noChangeAspect="1"/>
          </p:cNvPicPr>
          <p:nvPr/>
        </p:nvPicPr>
        <p:blipFill>
          <a:blip r:embed="rId1"/>
          <a:stretch>
            <a:fillRect/>
          </a:stretch>
        </p:blipFill>
        <p:spPr>
          <a:xfrm>
            <a:off x="457200" y="1188720"/>
            <a:ext cx="4937760" cy="3118104"/>
          </a:xfrm>
          <a:prstGeom prst="rect">
            <a:avLst/>
          </a:prstGeom>
        </p:spPr>
      </p:pic>
      <p:sp>
        <p:nvSpPr>
          <p:cNvPr id="7" name="Shape 4"/>
          <p:cNvSpPr/>
          <p:nvPr/>
        </p:nvSpPr>
        <p:spPr>
          <a:xfrm>
            <a:off x="457200" y="1188720"/>
            <a:ext cx="4937760" cy="3118104"/>
          </a:xfrm>
          <a:prstGeom prst="rect">
            <a:avLst/>
          </a:prstGeom>
          <a:ln w="9525">
            <a:solidFill>
              <a:srgbClr val="D9D2C3"/>
            </a:solidFill>
            <a:prstDash val="solid"/>
          </a:ln>
        </p:spPr>
      </p:sp>
      <p:pic>
        <p:nvPicPr>
          <p:cNvPr id="8" name="Image 1" descr="C:\Users\shour\OneDrive\Desktop\samsung\onetap\docs\img\ui_guard.jpg">    </p:cNvPr>
          <p:cNvPicPr>
            <a:picLocks noChangeAspect="1"/>
          </p:cNvPicPr>
          <p:nvPr/>
        </p:nvPicPr>
        <p:blipFill>
          <a:blip r:embed="rId2"/>
          <a:stretch>
            <a:fillRect/>
          </a:stretch>
        </p:blipFill>
        <p:spPr>
          <a:xfrm>
            <a:off x="5577840" y="1188720"/>
            <a:ext cx="3108960" cy="1943100"/>
          </a:xfrm>
          <a:prstGeom prst="rect">
            <a:avLst/>
          </a:prstGeom>
        </p:spPr>
      </p:pic>
      <p:sp>
        <p:nvSpPr>
          <p:cNvPr id="9" name="Shape 5"/>
          <p:cNvSpPr/>
          <p:nvPr/>
        </p:nvSpPr>
        <p:spPr>
          <a:xfrm>
            <a:off x="5577840" y="1188720"/>
            <a:ext cx="3108960" cy="1943100"/>
          </a:xfrm>
          <a:prstGeom prst="rect">
            <a:avLst/>
          </a:prstGeom>
          <a:ln w="9525">
            <a:solidFill>
              <a:srgbClr val="D9D2C3"/>
            </a:solidFill>
            <a:prstDash val="solid"/>
          </a:ln>
        </p:spPr>
      </p:sp>
      <p:sp>
        <p:nvSpPr>
          <p:cNvPr id="10" name="Text 6"/>
          <p:cNvSpPr txBox="1"/>
          <p:nvPr/>
        </p:nvSpPr>
        <p:spPr>
          <a:xfrm>
            <a:off x="5577840" y="3200400"/>
            <a:ext cx="3108960" cy="566928"/>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Guard in action: 0.88 similar to a cached Gmail case, rejected for context mismatch, and the plain-English narration explains why.</a:t>
            </a:r>
            <a:endParaRPr lang="en-US" sz="900" dirty="0"/>
          </a:p>
        </p:txBody>
      </p:sp>
      <p:sp>
        <p:nvSpPr>
          <p:cNvPr id="11" name="Text 7"/>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950" i="1" dirty="0">
                <a:solidFill>
                  <a:srgbClr val="8A8375"/>
                </a:solidFill>
                <a:latin typeface="Calibri" pitchFamily="34" charset="0"/>
                <a:ea typeface="Calibri" pitchFamily="34" charset="-122"/>
                <a:cs typeface="Calibri" pitchFamily="34" charset="-120"/>
              </a:rPr>
              <a:t>How-it-works strip lights up the path each request took · 10 one-click scenario cards · phone + live instrument panel</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13 · BUILT FOR REAL USERS</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From answer to fixed: guided, spoken, one tap</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14 / 18</a:t>
            </a:r>
            <a:endParaRPr lang="en-US" sz="750" dirty="0"/>
          </a:p>
        </p:txBody>
      </p:sp>
      <p:pic>
        <p:nvPicPr>
          <p:cNvPr id="6" name="Image 0" descr="C:\Users\shour\OneDrive\Desktop\samsung\onetap\docs\img\ui_guided.jpg">    </p:cNvPr>
          <p:cNvPicPr>
            <a:picLocks noChangeAspect="1"/>
          </p:cNvPicPr>
          <p:nvPr/>
        </p:nvPicPr>
        <p:blipFill>
          <a:blip r:embed="rId1"/>
          <a:stretch>
            <a:fillRect/>
          </a:stretch>
        </p:blipFill>
        <p:spPr>
          <a:xfrm>
            <a:off x="4663440" y="1188720"/>
            <a:ext cx="4023360" cy="2514600"/>
          </a:xfrm>
          <a:prstGeom prst="rect">
            <a:avLst/>
          </a:prstGeom>
        </p:spPr>
      </p:pic>
      <p:sp>
        <p:nvSpPr>
          <p:cNvPr id="7" name="Shape 4"/>
          <p:cNvSpPr/>
          <p:nvPr/>
        </p:nvSpPr>
        <p:spPr>
          <a:xfrm>
            <a:off x="4663440" y="1188720"/>
            <a:ext cx="4023360" cy="2514600"/>
          </a:xfrm>
          <a:prstGeom prst="rect">
            <a:avLst/>
          </a:prstGeom>
          <a:ln w="9525">
            <a:solidFill>
              <a:srgbClr val="D9D2C3"/>
            </a:solidFill>
            <a:prstDash val="solid"/>
          </a:ln>
        </p:spPr>
      </p:sp>
      <p:sp>
        <p:nvSpPr>
          <p:cNvPr id="8" name="Text 5"/>
          <p:cNvSpPr txBox="1"/>
          <p:nvPr/>
        </p:nvSpPr>
        <p:spPr>
          <a:xfrm>
            <a:off x="4663440" y="3767328"/>
            <a:ext cx="4023360" cy="45720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Guided mode: one action at a time, tickable steps, the one-tap link, then “Didn't help →” or “✓ This fixed it”.</a:t>
            </a:r>
            <a:endParaRPr lang="en-US" sz="900" dirty="0"/>
          </a:p>
        </p:txBody>
      </p:sp>
      <p:sp>
        <p:nvSpPr>
          <p:cNvPr id="9" name="Shape 6"/>
          <p:cNvSpPr/>
          <p:nvPr/>
        </p:nvSpPr>
        <p:spPr>
          <a:xfrm>
            <a:off x="457200" y="1216152"/>
            <a:ext cx="347472" cy="347472"/>
          </a:xfrm>
          <a:prstGeom prst="ellipse">
            <a:avLst/>
          </a:prstGeom>
          <a:solidFill>
            <a:srgbClr val="17140F"/>
          </a:solidFill>
          <a:ln/>
        </p:spPr>
      </p:sp>
      <p:pic>
        <p:nvPicPr>
          <p:cNvPr id="10" name="Image 1" descr="preencoded.png">    </p:cNvPr>
          <p:cNvPicPr>
            <a:picLocks noChangeAspect="1"/>
          </p:cNvPicPr>
          <p:nvPr/>
        </p:nvPicPr>
        <p:blipFill>
          <a:blip r:embed="rId2"/>
          <a:stretch>
            <a:fillRect/>
          </a:stretch>
        </p:blipFill>
        <p:spPr>
          <a:xfrm>
            <a:off x="544068" y="1303020"/>
            <a:ext cx="173736" cy="173736"/>
          </a:xfrm>
          <a:prstGeom prst="rect">
            <a:avLst/>
          </a:prstGeom>
        </p:spPr>
      </p:pic>
      <p:sp>
        <p:nvSpPr>
          <p:cNvPr id="11" name="Text 7"/>
          <p:cNvSpPr txBox="1"/>
          <p:nvPr/>
        </p:nvSpPr>
        <p:spPr>
          <a:xfrm>
            <a:off x="932688" y="1188720"/>
            <a:ext cx="356616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One-tap Settings</a:t>
            </a:r>
            <a:endParaRPr lang="en-US" sz="1100" dirty="0"/>
          </a:p>
        </p:txBody>
      </p:sp>
      <p:sp>
        <p:nvSpPr>
          <p:cNvPr id="12" name="Text 8"/>
          <p:cNvSpPr txBox="1"/>
          <p:nvPr/>
        </p:nvSpPr>
        <p:spPr>
          <a:xfrm>
            <a:off x="932688" y="1408176"/>
            <a:ext cx="3566160" cy="292608"/>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the deeplink opens a simulated Settings screen, the toggle flips and the validation check confirms</a:t>
            </a:r>
            <a:endParaRPr lang="en-US" sz="900" dirty="0"/>
          </a:p>
        </p:txBody>
      </p:sp>
      <p:sp>
        <p:nvSpPr>
          <p:cNvPr id="13" name="Shape 9"/>
          <p:cNvSpPr/>
          <p:nvPr/>
        </p:nvSpPr>
        <p:spPr>
          <a:xfrm>
            <a:off x="457200" y="1764792"/>
            <a:ext cx="347472" cy="347472"/>
          </a:xfrm>
          <a:prstGeom prst="ellipse">
            <a:avLst/>
          </a:prstGeom>
          <a:solidFill>
            <a:srgbClr val="17140F"/>
          </a:solidFill>
          <a:ln/>
        </p:spPr>
      </p:sp>
      <p:pic>
        <p:nvPicPr>
          <p:cNvPr id="14" name="Image 2" descr="preencoded.png">    </p:cNvPr>
          <p:cNvPicPr>
            <a:picLocks noChangeAspect="1"/>
          </p:cNvPicPr>
          <p:nvPr/>
        </p:nvPicPr>
        <p:blipFill>
          <a:blip r:embed="rId3"/>
          <a:stretch>
            <a:fillRect/>
          </a:stretch>
        </p:blipFill>
        <p:spPr>
          <a:xfrm>
            <a:off x="544068" y="1851660"/>
            <a:ext cx="173736" cy="173736"/>
          </a:xfrm>
          <a:prstGeom prst="rect">
            <a:avLst/>
          </a:prstGeom>
        </p:spPr>
      </p:pic>
      <p:sp>
        <p:nvSpPr>
          <p:cNvPr id="15" name="Text 10"/>
          <p:cNvSpPr txBox="1"/>
          <p:nvPr/>
        </p:nvSpPr>
        <p:spPr>
          <a:xfrm>
            <a:off x="932688" y="1737360"/>
            <a:ext cx="356616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Guided step-by-step</a:t>
            </a:r>
            <a:endParaRPr lang="en-US" sz="1100" dirty="0"/>
          </a:p>
        </p:txBody>
      </p:sp>
      <p:sp>
        <p:nvSpPr>
          <p:cNvPr id="16" name="Text 11"/>
          <p:cNvSpPr txBox="1"/>
          <p:nvPr/>
        </p:nvSpPr>
        <p:spPr>
          <a:xfrm>
            <a:off x="932688" y="1956816"/>
            <a:ext cx="3566160" cy="292608"/>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progress bar, confetti when fixed, support hand-off when every step failed</a:t>
            </a:r>
            <a:endParaRPr lang="en-US" sz="900" dirty="0"/>
          </a:p>
        </p:txBody>
      </p:sp>
      <p:sp>
        <p:nvSpPr>
          <p:cNvPr id="17" name="Shape 12"/>
          <p:cNvSpPr/>
          <p:nvPr/>
        </p:nvSpPr>
        <p:spPr>
          <a:xfrm>
            <a:off x="457200" y="2313432"/>
            <a:ext cx="347472" cy="347472"/>
          </a:xfrm>
          <a:prstGeom prst="ellipse">
            <a:avLst/>
          </a:prstGeom>
          <a:solidFill>
            <a:srgbClr val="17140F"/>
          </a:solidFill>
          <a:ln/>
        </p:spPr>
      </p:sp>
      <p:pic>
        <p:nvPicPr>
          <p:cNvPr id="18" name="Image 3" descr="preencoded.png">    </p:cNvPr>
          <p:cNvPicPr>
            <a:picLocks noChangeAspect="1"/>
          </p:cNvPicPr>
          <p:nvPr/>
        </p:nvPicPr>
        <p:blipFill>
          <a:blip r:embed="rId4"/>
          <a:stretch>
            <a:fillRect/>
          </a:stretch>
        </p:blipFill>
        <p:spPr>
          <a:xfrm>
            <a:off x="544068" y="2400300"/>
            <a:ext cx="173736" cy="173736"/>
          </a:xfrm>
          <a:prstGeom prst="rect">
            <a:avLst/>
          </a:prstGeom>
        </p:spPr>
      </p:pic>
      <p:sp>
        <p:nvSpPr>
          <p:cNvPr id="19" name="Text 13"/>
          <p:cNvSpPr txBox="1"/>
          <p:nvPr/>
        </p:nvSpPr>
        <p:spPr>
          <a:xfrm>
            <a:off x="932688" y="2286000"/>
            <a:ext cx="356616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Voice input</a:t>
            </a:r>
            <a:endParaRPr lang="en-US" sz="1100" dirty="0"/>
          </a:p>
        </p:txBody>
      </p:sp>
      <p:sp>
        <p:nvSpPr>
          <p:cNvPr id="20" name="Text 14"/>
          <p:cNvSpPr txBox="1"/>
          <p:nvPr/>
        </p:nvSpPr>
        <p:spPr>
          <a:xfrm>
            <a:off x="932688" y="2505456"/>
            <a:ext cx="3566160" cy="292608"/>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speak the complaint (Web Speech API, en-IN), including Hinglish</a:t>
            </a:r>
            <a:endParaRPr lang="en-US" sz="900" dirty="0"/>
          </a:p>
        </p:txBody>
      </p:sp>
      <p:sp>
        <p:nvSpPr>
          <p:cNvPr id="21" name="Shape 15"/>
          <p:cNvSpPr/>
          <p:nvPr/>
        </p:nvSpPr>
        <p:spPr>
          <a:xfrm>
            <a:off x="457200" y="2862072"/>
            <a:ext cx="347472" cy="347472"/>
          </a:xfrm>
          <a:prstGeom prst="ellipse">
            <a:avLst/>
          </a:prstGeom>
          <a:solidFill>
            <a:srgbClr val="17140F"/>
          </a:solidFill>
          <a:ln/>
        </p:spPr>
      </p:sp>
      <p:pic>
        <p:nvPicPr>
          <p:cNvPr id="22" name="Image 4" descr="preencoded.png">    </p:cNvPr>
          <p:cNvPicPr>
            <a:picLocks noChangeAspect="1"/>
          </p:cNvPicPr>
          <p:nvPr/>
        </p:nvPicPr>
        <p:blipFill>
          <a:blip r:embed="rId5"/>
          <a:stretch>
            <a:fillRect/>
          </a:stretch>
        </p:blipFill>
        <p:spPr>
          <a:xfrm>
            <a:off x="544068" y="2948940"/>
            <a:ext cx="173736" cy="173736"/>
          </a:xfrm>
          <a:prstGeom prst="rect">
            <a:avLst/>
          </a:prstGeom>
        </p:spPr>
      </p:pic>
      <p:sp>
        <p:nvSpPr>
          <p:cNvPr id="23" name="Text 16"/>
          <p:cNvSpPr txBox="1"/>
          <p:nvPr/>
        </p:nvSpPr>
        <p:spPr>
          <a:xfrm>
            <a:off x="932688" y="2834640"/>
            <a:ext cx="356616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Paste any article</a:t>
            </a:r>
            <a:endParaRPr lang="en-US" sz="1100" dirty="0"/>
          </a:p>
        </p:txBody>
      </p:sp>
      <p:sp>
        <p:nvSpPr>
          <p:cNvPr id="24" name="Text 17"/>
          <p:cNvSpPr txBox="1"/>
          <p:nvPr/>
        </p:nvSpPr>
        <p:spPr>
          <a:xfrm>
            <a:off x="932688" y="3054096"/>
            <a:ext cx="3566160" cy="292608"/>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any help page becomes a grounded plan, not limited to the dataset</a:t>
            </a:r>
            <a:endParaRPr lang="en-US" sz="900" dirty="0"/>
          </a:p>
        </p:txBody>
      </p:sp>
      <p:sp>
        <p:nvSpPr>
          <p:cNvPr id="25" name="Shape 18"/>
          <p:cNvSpPr/>
          <p:nvPr/>
        </p:nvSpPr>
        <p:spPr>
          <a:xfrm>
            <a:off x="457200" y="3410712"/>
            <a:ext cx="347472" cy="347472"/>
          </a:xfrm>
          <a:prstGeom prst="ellipse">
            <a:avLst/>
          </a:prstGeom>
          <a:solidFill>
            <a:srgbClr val="17140F"/>
          </a:solidFill>
          <a:ln/>
        </p:spPr>
      </p:sp>
      <p:pic>
        <p:nvPicPr>
          <p:cNvPr id="26" name="Image 5" descr="preencoded.png">    </p:cNvPr>
          <p:cNvPicPr>
            <a:picLocks noChangeAspect="1"/>
          </p:cNvPicPr>
          <p:nvPr/>
        </p:nvPicPr>
        <p:blipFill>
          <a:blip r:embed="rId6"/>
          <a:stretch>
            <a:fillRect/>
          </a:stretch>
        </p:blipFill>
        <p:spPr>
          <a:xfrm>
            <a:off x="544068" y="3497580"/>
            <a:ext cx="173736" cy="173736"/>
          </a:xfrm>
          <a:prstGeom prst="rect">
            <a:avLst/>
          </a:prstGeom>
        </p:spPr>
      </p:pic>
      <p:sp>
        <p:nvSpPr>
          <p:cNvPr id="27" name="Text 19"/>
          <p:cNvSpPr txBox="1"/>
          <p:nvPr/>
        </p:nvSpPr>
        <p:spPr>
          <a:xfrm>
            <a:off x="932688" y="3383280"/>
            <a:ext cx="356616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Feedback</a:t>
            </a:r>
            <a:endParaRPr lang="en-US" sz="1100" dirty="0"/>
          </a:p>
        </p:txBody>
      </p:sp>
      <p:sp>
        <p:nvSpPr>
          <p:cNvPr id="28" name="Text 20"/>
          <p:cNvSpPr txBox="1"/>
          <p:nvPr/>
        </p:nvSpPr>
        <p:spPr>
          <a:xfrm>
            <a:off x="932688" y="3602736"/>
            <a:ext cx="3566160" cy="292608"/>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 / 👎 feeds the self-healing cache</a:t>
            </a:r>
            <a:endParaRPr lang="en-US" sz="900" dirty="0"/>
          </a:p>
        </p:txBody>
      </p:sp>
      <p:sp>
        <p:nvSpPr>
          <p:cNvPr id="29" name="Shape 21"/>
          <p:cNvSpPr/>
          <p:nvPr/>
        </p:nvSpPr>
        <p:spPr>
          <a:xfrm>
            <a:off x="457200" y="3959352"/>
            <a:ext cx="347472" cy="347472"/>
          </a:xfrm>
          <a:prstGeom prst="ellipse">
            <a:avLst/>
          </a:prstGeom>
          <a:solidFill>
            <a:srgbClr val="17140F"/>
          </a:solidFill>
          <a:ln/>
        </p:spPr>
      </p:sp>
      <p:pic>
        <p:nvPicPr>
          <p:cNvPr id="30" name="Image 6" descr="preencoded.png">    </p:cNvPr>
          <p:cNvPicPr>
            <a:picLocks noChangeAspect="1"/>
          </p:cNvPicPr>
          <p:nvPr/>
        </p:nvPicPr>
        <p:blipFill>
          <a:blip r:embed="rId7"/>
          <a:stretch>
            <a:fillRect/>
          </a:stretch>
        </p:blipFill>
        <p:spPr>
          <a:xfrm>
            <a:off x="544068" y="4046220"/>
            <a:ext cx="173736" cy="173736"/>
          </a:xfrm>
          <a:prstGeom prst="rect">
            <a:avLst/>
          </a:prstGeom>
        </p:spPr>
      </p:pic>
      <p:sp>
        <p:nvSpPr>
          <p:cNvPr id="31" name="Text 22"/>
          <p:cNvSpPr txBox="1"/>
          <p:nvPr/>
        </p:nvSpPr>
        <p:spPr>
          <a:xfrm>
            <a:off x="932688" y="3931920"/>
            <a:ext cx="3566160" cy="219456"/>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Explainable</a:t>
            </a:r>
            <a:endParaRPr lang="en-US" sz="1100" dirty="0"/>
          </a:p>
        </p:txBody>
      </p:sp>
      <p:sp>
        <p:nvSpPr>
          <p:cNvPr id="32" name="Text 23"/>
          <p:cNvSpPr txBox="1"/>
          <p:nvPr/>
        </p:nvSpPr>
        <p:spPr>
          <a:xfrm>
            <a:off x="932688" y="4151376"/>
            <a:ext cx="3566160" cy="292608"/>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“i” explainers, similarity gauge, stage waterfall, raw JSON</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14 · TECH STACK</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CPU-friendly, cheap, provider-agnostic</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15 / 18</a:t>
            </a:r>
            <a:endParaRPr lang="en-US" sz="750" dirty="0"/>
          </a:p>
        </p:txBody>
      </p:sp>
      <p:sp>
        <p:nvSpPr>
          <p:cNvPr id="6" name="Shape 4"/>
          <p:cNvSpPr/>
          <p:nvPr/>
        </p:nvSpPr>
        <p:spPr>
          <a:xfrm>
            <a:off x="457200" y="1234440"/>
            <a:ext cx="1554480" cy="3017520"/>
          </a:xfrm>
          <a:prstGeom prst="roundRect">
            <a:avLst>
              <a:gd name="adj" fmla="val 4706"/>
            </a:avLst>
          </a:prstGeom>
          <a:solidFill>
            <a:srgbClr val="FFFFFF"/>
          </a:solidFill>
          <a:ln w="9525">
            <a:solidFill>
              <a:srgbClr val="D9D2C3"/>
            </a:solidFill>
            <a:prstDash val="solid"/>
          </a:ln>
        </p:spPr>
      </p:sp>
      <p:sp>
        <p:nvSpPr>
          <p:cNvPr id="7" name="Text 5"/>
          <p:cNvSpPr txBox="1"/>
          <p:nvPr/>
        </p:nvSpPr>
        <p:spPr>
          <a:xfrm>
            <a:off x="566928" y="1325880"/>
            <a:ext cx="1371600" cy="411480"/>
          </a:xfrm>
          <a:prstGeom prst="rect">
            <a:avLst/>
          </a:prstGeom>
          <a:noFill/>
          <a:ln/>
        </p:spPr>
        <p:txBody>
          <a:bodyPr wrap="square" lIns="0" tIns="0" rIns="0" bIns="0" rtlCol="0" anchor="t"/>
          <a:lstStyle/>
          <a:p>
            <a:pPr indent="0" marL="0">
              <a:buNone/>
            </a:pPr>
            <a:r>
              <a:rPr lang="en-US" sz="1200" b="1" dirty="0">
                <a:solidFill>
                  <a:srgbClr val="17140F"/>
                </a:solidFill>
                <a:latin typeface="Cambria" pitchFamily="34" charset="0"/>
                <a:ea typeface="Cambria" pitchFamily="34" charset="-122"/>
                <a:cs typeface="Cambria" pitchFamily="34" charset="-120"/>
              </a:rPr>
              <a:t>API &amp; runtime</a:t>
            </a:r>
            <a:endParaRPr lang="en-US" sz="1200" dirty="0"/>
          </a:p>
        </p:txBody>
      </p:sp>
      <p:sp>
        <p:nvSpPr>
          <p:cNvPr id="8" name="Shape 6"/>
          <p:cNvSpPr/>
          <p:nvPr/>
        </p:nvSpPr>
        <p:spPr>
          <a:xfrm>
            <a:off x="548640" y="1828800"/>
            <a:ext cx="1371600" cy="475488"/>
          </a:xfrm>
          <a:prstGeom prst="roundRect">
            <a:avLst>
              <a:gd name="adj" fmla="val 11538"/>
            </a:avLst>
          </a:prstGeom>
          <a:solidFill>
            <a:srgbClr val="FFE4D6"/>
          </a:solidFill>
          <a:ln/>
        </p:spPr>
      </p:sp>
      <p:sp>
        <p:nvSpPr>
          <p:cNvPr id="9" name="Text 7"/>
          <p:cNvSpPr txBox="1"/>
          <p:nvPr/>
        </p:nvSpPr>
        <p:spPr>
          <a:xfrm>
            <a:off x="603504" y="1828800"/>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FastAPI + Uvicorn</a:t>
            </a:r>
            <a:endParaRPr lang="en-US" sz="850" dirty="0"/>
          </a:p>
        </p:txBody>
      </p:sp>
      <p:sp>
        <p:nvSpPr>
          <p:cNvPr id="10" name="Shape 8"/>
          <p:cNvSpPr/>
          <p:nvPr/>
        </p:nvSpPr>
        <p:spPr>
          <a:xfrm>
            <a:off x="548640" y="2395728"/>
            <a:ext cx="1371600" cy="475488"/>
          </a:xfrm>
          <a:prstGeom prst="roundRect">
            <a:avLst>
              <a:gd name="adj" fmla="val 11538"/>
            </a:avLst>
          </a:prstGeom>
          <a:solidFill>
            <a:srgbClr val="F7F5F0"/>
          </a:solidFill>
          <a:ln/>
        </p:spPr>
      </p:sp>
      <p:sp>
        <p:nvSpPr>
          <p:cNvPr id="11" name="Text 9"/>
          <p:cNvSpPr txBox="1"/>
          <p:nvPr/>
        </p:nvSpPr>
        <p:spPr>
          <a:xfrm>
            <a:off x="603504" y="2395728"/>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Pydantic (schema.py gate)</a:t>
            </a:r>
            <a:endParaRPr lang="en-US" sz="850" dirty="0"/>
          </a:p>
        </p:txBody>
      </p:sp>
      <p:sp>
        <p:nvSpPr>
          <p:cNvPr id="12" name="Shape 10"/>
          <p:cNvSpPr/>
          <p:nvPr/>
        </p:nvSpPr>
        <p:spPr>
          <a:xfrm>
            <a:off x="548640" y="2962656"/>
            <a:ext cx="1371600" cy="475488"/>
          </a:xfrm>
          <a:prstGeom prst="roundRect">
            <a:avLst>
              <a:gd name="adj" fmla="val 11538"/>
            </a:avLst>
          </a:prstGeom>
          <a:solidFill>
            <a:srgbClr val="F7F5F0"/>
          </a:solidFill>
          <a:ln/>
        </p:spPr>
      </p:sp>
      <p:sp>
        <p:nvSpPr>
          <p:cNvPr id="13" name="Text 11"/>
          <p:cNvSpPr txBox="1"/>
          <p:nvPr/>
        </p:nvSpPr>
        <p:spPr>
          <a:xfrm>
            <a:off x="603504" y="2962656"/>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Docker + compose</a:t>
            </a:r>
            <a:endParaRPr lang="en-US" sz="850" dirty="0"/>
          </a:p>
        </p:txBody>
      </p:sp>
      <p:sp>
        <p:nvSpPr>
          <p:cNvPr id="14" name="Shape 12"/>
          <p:cNvSpPr/>
          <p:nvPr/>
        </p:nvSpPr>
        <p:spPr>
          <a:xfrm>
            <a:off x="548640" y="3529584"/>
            <a:ext cx="1371600" cy="475488"/>
          </a:xfrm>
          <a:prstGeom prst="roundRect">
            <a:avLst>
              <a:gd name="adj" fmla="val 11538"/>
            </a:avLst>
          </a:prstGeom>
          <a:solidFill>
            <a:srgbClr val="F7F5F0"/>
          </a:solidFill>
          <a:ln/>
        </p:spPr>
      </p:sp>
      <p:sp>
        <p:nvSpPr>
          <p:cNvPr id="15" name="Text 13"/>
          <p:cNvSpPr txBox="1"/>
          <p:nvPr/>
        </p:nvSpPr>
        <p:spPr>
          <a:xfrm>
            <a:off x="603504" y="3529584"/>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JSON-only responses</a:t>
            </a:r>
            <a:endParaRPr lang="en-US" sz="850" dirty="0"/>
          </a:p>
        </p:txBody>
      </p:sp>
      <p:sp>
        <p:nvSpPr>
          <p:cNvPr id="16" name="Shape 14"/>
          <p:cNvSpPr/>
          <p:nvPr/>
        </p:nvSpPr>
        <p:spPr>
          <a:xfrm>
            <a:off x="2139696" y="1234440"/>
            <a:ext cx="1554480" cy="3017520"/>
          </a:xfrm>
          <a:prstGeom prst="roundRect">
            <a:avLst>
              <a:gd name="adj" fmla="val 4706"/>
            </a:avLst>
          </a:prstGeom>
          <a:solidFill>
            <a:srgbClr val="FFFFFF"/>
          </a:solidFill>
          <a:ln w="9525">
            <a:solidFill>
              <a:srgbClr val="D9D2C3"/>
            </a:solidFill>
            <a:prstDash val="solid"/>
          </a:ln>
        </p:spPr>
      </p:sp>
      <p:sp>
        <p:nvSpPr>
          <p:cNvPr id="17" name="Text 15"/>
          <p:cNvSpPr txBox="1"/>
          <p:nvPr/>
        </p:nvSpPr>
        <p:spPr>
          <a:xfrm>
            <a:off x="2249424" y="1325880"/>
            <a:ext cx="1371600" cy="411480"/>
          </a:xfrm>
          <a:prstGeom prst="rect">
            <a:avLst/>
          </a:prstGeom>
          <a:noFill/>
          <a:ln/>
        </p:spPr>
        <p:txBody>
          <a:bodyPr wrap="square" lIns="0" tIns="0" rIns="0" bIns="0" rtlCol="0" anchor="t"/>
          <a:lstStyle/>
          <a:p>
            <a:pPr indent="0" marL="0">
              <a:buNone/>
            </a:pPr>
            <a:r>
              <a:rPr lang="en-US" sz="1200" b="1" dirty="0">
                <a:solidFill>
                  <a:srgbClr val="17140F"/>
                </a:solidFill>
                <a:latin typeface="Cambria" pitchFamily="34" charset="0"/>
                <a:ea typeface="Cambria" pitchFamily="34" charset="-122"/>
                <a:cs typeface="Cambria" pitchFamily="34" charset="-120"/>
              </a:rPr>
              <a:t>Language models</a:t>
            </a:r>
            <a:endParaRPr lang="en-US" sz="1200" dirty="0"/>
          </a:p>
        </p:txBody>
      </p:sp>
      <p:sp>
        <p:nvSpPr>
          <p:cNvPr id="18" name="Shape 16"/>
          <p:cNvSpPr/>
          <p:nvPr/>
        </p:nvSpPr>
        <p:spPr>
          <a:xfrm>
            <a:off x="2231136" y="1828800"/>
            <a:ext cx="1371600" cy="475488"/>
          </a:xfrm>
          <a:prstGeom prst="roundRect">
            <a:avLst>
              <a:gd name="adj" fmla="val 11538"/>
            </a:avLst>
          </a:prstGeom>
          <a:solidFill>
            <a:srgbClr val="FFE4D6"/>
          </a:solidFill>
          <a:ln/>
        </p:spPr>
      </p:sp>
      <p:sp>
        <p:nvSpPr>
          <p:cNvPr id="19" name="Text 17"/>
          <p:cNvSpPr txBox="1"/>
          <p:nvPr/>
        </p:nvSpPr>
        <p:spPr>
          <a:xfrm>
            <a:off x="2286000" y="1828800"/>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Groq gpt-oss-120b: extraction</a:t>
            </a:r>
            <a:endParaRPr lang="en-US" sz="850" dirty="0"/>
          </a:p>
        </p:txBody>
      </p:sp>
      <p:sp>
        <p:nvSpPr>
          <p:cNvPr id="20" name="Shape 18"/>
          <p:cNvSpPr/>
          <p:nvPr/>
        </p:nvSpPr>
        <p:spPr>
          <a:xfrm>
            <a:off x="2231136" y="2395728"/>
            <a:ext cx="1371600" cy="475488"/>
          </a:xfrm>
          <a:prstGeom prst="roundRect">
            <a:avLst>
              <a:gd name="adj" fmla="val 11538"/>
            </a:avLst>
          </a:prstGeom>
          <a:solidFill>
            <a:srgbClr val="F7F5F0"/>
          </a:solidFill>
          <a:ln/>
        </p:spPr>
      </p:sp>
      <p:sp>
        <p:nvSpPr>
          <p:cNvPr id="21" name="Text 19"/>
          <p:cNvSpPr txBox="1"/>
          <p:nvPr/>
        </p:nvSpPr>
        <p:spPr>
          <a:xfrm>
            <a:off x="2286000" y="2395728"/>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gpt-oss-20b: deeplink choice</a:t>
            </a:r>
            <a:endParaRPr lang="en-US" sz="850" dirty="0"/>
          </a:p>
        </p:txBody>
      </p:sp>
      <p:sp>
        <p:nvSpPr>
          <p:cNvPr id="22" name="Shape 20"/>
          <p:cNvSpPr/>
          <p:nvPr/>
        </p:nvSpPr>
        <p:spPr>
          <a:xfrm>
            <a:off x="2231136" y="2962656"/>
            <a:ext cx="1371600" cy="475488"/>
          </a:xfrm>
          <a:prstGeom prst="roundRect">
            <a:avLst>
              <a:gd name="adj" fmla="val 11538"/>
            </a:avLst>
          </a:prstGeom>
          <a:solidFill>
            <a:srgbClr val="F7F5F0"/>
          </a:solidFill>
          <a:ln/>
        </p:spPr>
      </p:sp>
      <p:sp>
        <p:nvSpPr>
          <p:cNvPr id="23" name="Text 21"/>
          <p:cNvSpPr txBox="1"/>
          <p:nvPr/>
        </p:nvSpPr>
        <p:spPr>
          <a:xfrm>
            <a:off x="2286000" y="2962656"/>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qwen3.8-27b: enrichment / repair</a:t>
            </a:r>
            <a:endParaRPr lang="en-US" sz="850" dirty="0"/>
          </a:p>
        </p:txBody>
      </p:sp>
      <p:sp>
        <p:nvSpPr>
          <p:cNvPr id="24" name="Shape 22"/>
          <p:cNvSpPr/>
          <p:nvPr/>
        </p:nvSpPr>
        <p:spPr>
          <a:xfrm>
            <a:off x="2231136" y="3529584"/>
            <a:ext cx="1371600" cy="475488"/>
          </a:xfrm>
          <a:prstGeom prst="roundRect">
            <a:avLst>
              <a:gd name="adj" fmla="val 11538"/>
            </a:avLst>
          </a:prstGeom>
          <a:solidFill>
            <a:srgbClr val="F7F5F0"/>
          </a:solidFill>
          <a:ln/>
        </p:spPr>
      </p:sp>
      <p:sp>
        <p:nvSpPr>
          <p:cNvPr id="25" name="Text 23"/>
          <p:cNvSpPr txBox="1"/>
          <p:nvPr/>
        </p:nvSpPr>
        <p:spPr>
          <a:xfrm>
            <a:off x="2286000" y="3529584"/>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any OpenAI-compatible API</a:t>
            </a:r>
            <a:endParaRPr lang="en-US" sz="850" dirty="0"/>
          </a:p>
        </p:txBody>
      </p:sp>
      <p:sp>
        <p:nvSpPr>
          <p:cNvPr id="26" name="Shape 24"/>
          <p:cNvSpPr/>
          <p:nvPr/>
        </p:nvSpPr>
        <p:spPr>
          <a:xfrm>
            <a:off x="3822192" y="1234440"/>
            <a:ext cx="1554480" cy="3017520"/>
          </a:xfrm>
          <a:prstGeom prst="roundRect">
            <a:avLst>
              <a:gd name="adj" fmla="val 4706"/>
            </a:avLst>
          </a:prstGeom>
          <a:solidFill>
            <a:srgbClr val="FFFFFF"/>
          </a:solidFill>
          <a:ln w="9525">
            <a:solidFill>
              <a:srgbClr val="D9D2C3"/>
            </a:solidFill>
            <a:prstDash val="solid"/>
          </a:ln>
        </p:spPr>
      </p:sp>
      <p:sp>
        <p:nvSpPr>
          <p:cNvPr id="27" name="Text 25"/>
          <p:cNvSpPr txBox="1"/>
          <p:nvPr/>
        </p:nvSpPr>
        <p:spPr>
          <a:xfrm>
            <a:off x="3931920" y="1325880"/>
            <a:ext cx="1371600" cy="411480"/>
          </a:xfrm>
          <a:prstGeom prst="rect">
            <a:avLst/>
          </a:prstGeom>
          <a:noFill/>
          <a:ln/>
        </p:spPr>
        <p:txBody>
          <a:bodyPr wrap="square" lIns="0" tIns="0" rIns="0" bIns="0" rtlCol="0" anchor="t"/>
          <a:lstStyle/>
          <a:p>
            <a:pPr indent="0" marL="0">
              <a:buNone/>
            </a:pPr>
            <a:r>
              <a:rPr lang="en-US" sz="1200" b="1" dirty="0">
                <a:solidFill>
                  <a:srgbClr val="17140F"/>
                </a:solidFill>
                <a:latin typeface="Cambria" pitchFamily="34" charset="0"/>
                <a:ea typeface="Cambria" pitchFamily="34" charset="-122"/>
                <a:cs typeface="Cambria" pitchFamily="34" charset="-120"/>
              </a:rPr>
              <a:t>Retrieval &amp; cache</a:t>
            </a:r>
            <a:endParaRPr lang="en-US" sz="1200" dirty="0"/>
          </a:p>
        </p:txBody>
      </p:sp>
      <p:sp>
        <p:nvSpPr>
          <p:cNvPr id="28" name="Shape 26"/>
          <p:cNvSpPr/>
          <p:nvPr/>
        </p:nvSpPr>
        <p:spPr>
          <a:xfrm>
            <a:off x="3913632" y="1828800"/>
            <a:ext cx="1371600" cy="475488"/>
          </a:xfrm>
          <a:prstGeom prst="roundRect">
            <a:avLst>
              <a:gd name="adj" fmla="val 11538"/>
            </a:avLst>
          </a:prstGeom>
          <a:solidFill>
            <a:srgbClr val="FFE4D6"/>
          </a:solidFill>
          <a:ln/>
        </p:spPr>
      </p:sp>
      <p:sp>
        <p:nvSpPr>
          <p:cNvPr id="29" name="Text 27"/>
          <p:cNvSpPr txBox="1"/>
          <p:nvPr/>
        </p:nvSpPr>
        <p:spPr>
          <a:xfrm>
            <a:off x="3968496" y="1828800"/>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bge-small-en-v1.5 (ONNX, CPU)</a:t>
            </a:r>
            <a:endParaRPr lang="en-US" sz="850" dirty="0"/>
          </a:p>
        </p:txBody>
      </p:sp>
      <p:sp>
        <p:nvSpPr>
          <p:cNvPr id="30" name="Shape 28"/>
          <p:cNvSpPr/>
          <p:nvPr/>
        </p:nvSpPr>
        <p:spPr>
          <a:xfrm>
            <a:off x="3913632" y="2395728"/>
            <a:ext cx="1371600" cy="475488"/>
          </a:xfrm>
          <a:prstGeom prst="roundRect">
            <a:avLst>
              <a:gd name="adj" fmla="val 11538"/>
            </a:avLst>
          </a:prstGeom>
          <a:solidFill>
            <a:srgbClr val="F7F5F0"/>
          </a:solidFill>
          <a:ln/>
        </p:spPr>
      </p:sp>
      <p:sp>
        <p:nvSpPr>
          <p:cNvPr id="31" name="Text 29"/>
          <p:cNvSpPr txBox="1"/>
          <p:nvPr/>
        </p:nvSpPr>
        <p:spPr>
          <a:xfrm>
            <a:off x="3968496" y="2395728"/>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NumPy BM25 + RRF fusion</a:t>
            </a:r>
            <a:endParaRPr lang="en-US" sz="850" dirty="0"/>
          </a:p>
        </p:txBody>
      </p:sp>
      <p:sp>
        <p:nvSpPr>
          <p:cNvPr id="32" name="Shape 30"/>
          <p:cNvSpPr/>
          <p:nvPr/>
        </p:nvSpPr>
        <p:spPr>
          <a:xfrm>
            <a:off x="3913632" y="2962656"/>
            <a:ext cx="1371600" cy="475488"/>
          </a:xfrm>
          <a:prstGeom prst="roundRect">
            <a:avLst>
              <a:gd name="adj" fmla="val 11538"/>
            </a:avLst>
          </a:prstGeom>
          <a:solidFill>
            <a:srgbClr val="F7F5F0"/>
          </a:solidFill>
          <a:ln/>
        </p:spPr>
      </p:sp>
      <p:sp>
        <p:nvSpPr>
          <p:cNvPr id="33" name="Text 31"/>
          <p:cNvSpPr txBox="1"/>
          <p:nvPr/>
        </p:nvSpPr>
        <p:spPr>
          <a:xfrm>
            <a:off x="3968496" y="2962656"/>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paraphrase-cloud vector cache</a:t>
            </a:r>
            <a:endParaRPr lang="en-US" sz="850" dirty="0"/>
          </a:p>
        </p:txBody>
      </p:sp>
      <p:sp>
        <p:nvSpPr>
          <p:cNvPr id="34" name="Shape 32"/>
          <p:cNvSpPr/>
          <p:nvPr/>
        </p:nvSpPr>
        <p:spPr>
          <a:xfrm>
            <a:off x="3913632" y="3529584"/>
            <a:ext cx="1371600" cy="475488"/>
          </a:xfrm>
          <a:prstGeom prst="roundRect">
            <a:avLst>
              <a:gd name="adj" fmla="val 11538"/>
            </a:avLst>
          </a:prstGeom>
          <a:solidFill>
            <a:srgbClr val="F7F5F0"/>
          </a:solidFill>
          <a:ln/>
        </p:spPr>
      </p:sp>
      <p:sp>
        <p:nvSpPr>
          <p:cNvPr id="35" name="Text 33"/>
          <p:cNvSpPr txBox="1"/>
          <p:nvPr/>
        </p:nvSpPr>
        <p:spPr>
          <a:xfrm>
            <a:off x="3968496" y="3529584"/>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symptom-signature lexicon</a:t>
            </a:r>
            <a:endParaRPr lang="en-US" sz="850" dirty="0"/>
          </a:p>
        </p:txBody>
      </p:sp>
      <p:sp>
        <p:nvSpPr>
          <p:cNvPr id="36" name="Shape 34"/>
          <p:cNvSpPr/>
          <p:nvPr/>
        </p:nvSpPr>
        <p:spPr>
          <a:xfrm>
            <a:off x="5504688" y="1234440"/>
            <a:ext cx="1554480" cy="3017520"/>
          </a:xfrm>
          <a:prstGeom prst="roundRect">
            <a:avLst>
              <a:gd name="adj" fmla="val 4706"/>
            </a:avLst>
          </a:prstGeom>
          <a:solidFill>
            <a:srgbClr val="FFFFFF"/>
          </a:solidFill>
          <a:ln w="9525">
            <a:solidFill>
              <a:srgbClr val="D9D2C3"/>
            </a:solidFill>
            <a:prstDash val="solid"/>
          </a:ln>
        </p:spPr>
      </p:sp>
      <p:sp>
        <p:nvSpPr>
          <p:cNvPr id="37" name="Text 35"/>
          <p:cNvSpPr txBox="1"/>
          <p:nvPr/>
        </p:nvSpPr>
        <p:spPr>
          <a:xfrm>
            <a:off x="5614416" y="1325880"/>
            <a:ext cx="1371600" cy="411480"/>
          </a:xfrm>
          <a:prstGeom prst="rect">
            <a:avLst/>
          </a:prstGeom>
          <a:noFill/>
          <a:ln/>
        </p:spPr>
        <p:txBody>
          <a:bodyPr wrap="square" lIns="0" tIns="0" rIns="0" bIns="0" rtlCol="0" anchor="t"/>
          <a:lstStyle/>
          <a:p>
            <a:pPr indent="0" marL="0">
              <a:buNone/>
            </a:pPr>
            <a:r>
              <a:rPr lang="en-US" sz="1200" b="1" dirty="0">
                <a:solidFill>
                  <a:srgbClr val="17140F"/>
                </a:solidFill>
                <a:latin typeface="Cambria" pitchFamily="34" charset="0"/>
                <a:ea typeface="Cambria" pitchFamily="34" charset="-122"/>
                <a:cs typeface="Cambria" pitchFamily="34" charset="-120"/>
              </a:rPr>
              <a:t>Evaluation</a:t>
            </a:r>
            <a:endParaRPr lang="en-US" sz="1200" dirty="0"/>
          </a:p>
        </p:txBody>
      </p:sp>
      <p:sp>
        <p:nvSpPr>
          <p:cNvPr id="38" name="Shape 36"/>
          <p:cNvSpPr/>
          <p:nvPr/>
        </p:nvSpPr>
        <p:spPr>
          <a:xfrm>
            <a:off x="5596128" y="1828800"/>
            <a:ext cx="1371600" cy="475488"/>
          </a:xfrm>
          <a:prstGeom prst="roundRect">
            <a:avLst>
              <a:gd name="adj" fmla="val 11538"/>
            </a:avLst>
          </a:prstGeom>
          <a:solidFill>
            <a:srgbClr val="FFE4D6"/>
          </a:solidFill>
          <a:ln/>
        </p:spPr>
      </p:sp>
      <p:sp>
        <p:nvSpPr>
          <p:cNvPr id="39" name="Text 37"/>
          <p:cNvSpPr txBox="1"/>
          <p:nvPr/>
        </p:nvSpPr>
        <p:spPr>
          <a:xfrm>
            <a:off x="5650992" y="1828800"/>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97 held-out rewordings</a:t>
            </a:r>
            <a:endParaRPr lang="en-US" sz="850" dirty="0"/>
          </a:p>
        </p:txBody>
      </p:sp>
      <p:sp>
        <p:nvSpPr>
          <p:cNvPr id="40" name="Shape 38"/>
          <p:cNvSpPr/>
          <p:nvPr/>
        </p:nvSpPr>
        <p:spPr>
          <a:xfrm>
            <a:off x="5596128" y="2395728"/>
            <a:ext cx="1371600" cy="475488"/>
          </a:xfrm>
          <a:prstGeom prst="roundRect">
            <a:avLst>
              <a:gd name="adj" fmla="val 11538"/>
            </a:avLst>
          </a:prstGeom>
          <a:solidFill>
            <a:srgbClr val="F7F5F0"/>
          </a:solidFill>
          <a:ln/>
        </p:spPr>
      </p:sp>
      <p:sp>
        <p:nvSpPr>
          <p:cNvPr id="41" name="Text 39"/>
          <p:cNvSpPr txBox="1"/>
          <p:nvPr/>
        </p:nvSpPr>
        <p:spPr>
          <a:xfrm>
            <a:off x="5650992" y="2395728"/>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50 adversarial look-alikes</a:t>
            </a:r>
            <a:endParaRPr lang="en-US" sz="850" dirty="0"/>
          </a:p>
        </p:txBody>
      </p:sp>
      <p:sp>
        <p:nvSpPr>
          <p:cNvPr id="42" name="Shape 40"/>
          <p:cNvSpPr/>
          <p:nvPr/>
        </p:nvSpPr>
        <p:spPr>
          <a:xfrm>
            <a:off x="5596128" y="2962656"/>
            <a:ext cx="1371600" cy="475488"/>
          </a:xfrm>
          <a:prstGeom prst="roundRect">
            <a:avLst>
              <a:gd name="adj" fmla="val 11538"/>
            </a:avLst>
          </a:prstGeom>
          <a:solidFill>
            <a:srgbClr val="F7F5F0"/>
          </a:solidFill>
          <a:ln/>
        </p:spPr>
      </p:sp>
      <p:sp>
        <p:nvSpPr>
          <p:cNvPr id="43" name="Text 41"/>
          <p:cNvSpPr txBox="1"/>
          <p:nvPr/>
        </p:nvSpPr>
        <p:spPr>
          <a:xfrm>
            <a:off x="5650992" y="2962656"/>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24-action deeplink ground truth</a:t>
            </a:r>
            <a:endParaRPr lang="en-US" sz="850" dirty="0"/>
          </a:p>
        </p:txBody>
      </p:sp>
      <p:sp>
        <p:nvSpPr>
          <p:cNvPr id="44" name="Shape 42"/>
          <p:cNvSpPr/>
          <p:nvPr/>
        </p:nvSpPr>
        <p:spPr>
          <a:xfrm>
            <a:off x="5596128" y="3529584"/>
            <a:ext cx="1371600" cy="475488"/>
          </a:xfrm>
          <a:prstGeom prst="roundRect">
            <a:avLst>
              <a:gd name="adj" fmla="val 11538"/>
            </a:avLst>
          </a:prstGeom>
          <a:solidFill>
            <a:srgbClr val="F7F5F0"/>
          </a:solidFill>
          <a:ln/>
        </p:spPr>
      </p:sp>
      <p:sp>
        <p:nvSpPr>
          <p:cNvPr id="45" name="Text 43"/>
          <p:cNvSpPr txBox="1"/>
          <p:nvPr/>
        </p:nvSpPr>
        <p:spPr>
          <a:xfrm>
            <a:off x="5650992" y="3529584"/>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LLM judge (Gemini) · HTTP bench</a:t>
            </a:r>
            <a:endParaRPr lang="en-US" sz="850" dirty="0"/>
          </a:p>
        </p:txBody>
      </p:sp>
      <p:sp>
        <p:nvSpPr>
          <p:cNvPr id="46" name="Shape 44"/>
          <p:cNvSpPr/>
          <p:nvPr/>
        </p:nvSpPr>
        <p:spPr>
          <a:xfrm>
            <a:off x="7187184" y="1234440"/>
            <a:ext cx="1554480" cy="3017520"/>
          </a:xfrm>
          <a:prstGeom prst="roundRect">
            <a:avLst>
              <a:gd name="adj" fmla="val 4706"/>
            </a:avLst>
          </a:prstGeom>
          <a:solidFill>
            <a:srgbClr val="FFFFFF"/>
          </a:solidFill>
          <a:ln w="9525">
            <a:solidFill>
              <a:srgbClr val="D9D2C3"/>
            </a:solidFill>
            <a:prstDash val="solid"/>
          </a:ln>
        </p:spPr>
      </p:sp>
      <p:sp>
        <p:nvSpPr>
          <p:cNvPr id="47" name="Text 45"/>
          <p:cNvSpPr txBox="1"/>
          <p:nvPr/>
        </p:nvSpPr>
        <p:spPr>
          <a:xfrm>
            <a:off x="7296912" y="1325880"/>
            <a:ext cx="1371600" cy="411480"/>
          </a:xfrm>
          <a:prstGeom prst="rect">
            <a:avLst/>
          </a:prstGeom>
          <a:noFill/>
          <a:ln/>
        </p:spPr>
        <p:txBody>
          <a:bodyPr wrap="square" lIns="0" tIns="0" rIns="0" bIns="0" rtlCol="0" anchor="t"/>
          <a:lstStyle/>
          <a:p>
            <a:pPr indent="0" marL="0">
              <a:buNone/>
            </a:pPr>
            <a:r>
              <a:rPr lang="en-US" sz="1200" b="1" dirty="0">
                <a:solidFill>
                  <a:srgbClr val="17140F"/>
                </a:solidFill>
                <a:latin typeface="Cambria" pitchFamily="34" charset="0"/>
                <a:ea typeface="Cambria" pitchFamily="34" charset="-122"/>
                <a:cs typeface="Cambria" pitchFamily="34" charset="-120"/>
              </a:rPr>
              <a:t>Frontend</a:t>
            </a:r>
            <a:endParaRPr lang="en-US" sz="1200" dirty="0"/>
          </a:p>
        </p:txBody>
      </p:sp>
      <p:sp>
        <p:nvSpPr>
          <p:cNvPr id="48" name="Shape 46"/>
          <p:cNvSpPr/>
          <p:nvPr/>
        </p:nvSpPr>
        <p:spPr>
          <a:xfrm>
            <a:off x="7278624" y="1828800"/>
            <a:ext cx="1371600" cy="475488"/>
          </a:xfrm>
          <a:prstGeom prst="roundRect">
            <a:avLst>
              <a:gd name="adj" fmla="val 11538"/>
            </a:avLst>
          </a:prstGeom>
          <a:solidFill>
            <a:srgbClr val="FFE4D6"/>
          </a:solidFill>
          <a:ln/>
        </p:spPr>
      </p:sp>
      <p:sp>
        <p:nvSpPr>
          <p:cNvPr id="49" name="Text 47"/>
          <p:cNvSpPr txBox="1"/>
          <p:nvPr/>
        </p:nvSpPr>
        <p:spPr>
          <a:xfrm>
            <a:off x="7333488" y="1828800"/>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vanilla HTML / CSS / JS</a:t>
            </a:r>
            <a:endParaRPr lang="en-US" sz="850" dirty="0"/>
          </a:p>
        </p:txBody>
      </p:sp>
      <p:sp>
        <p:nvSpPr>
          <p:cNvPr id="50" name="Shape 48"/>
          <p:cNvSpPr/>
          <p:nvPr/>
        </p:nvSpPr>
        <p:spPr>
          <a:xfrm>
            <a:off x="7278624" y="2395728"/>
            <a:ext cx="1371600" cy="475488"/>
          </a:xfrm>
          <a:prstGeom prst="roundRect">
            <a:avLst>
              <a:gd name="adj" fmla="val 11538"/>
            </a:avLst>
          </a:prstGeom>
          <a:solidFill>
            <a:srgbClr val="F7F5F0"/>
          </a:solidFill>
          <a:ln/>
        </p:spPr>
      </p:sp>
      <p:sp>
        <p:nvSpPr>
          <p:cNvPr id="51" name="Text 49"/>
          <p:cNvSpPr txBox="1"/>
          <p:nvPr/>
        </p:nvSpPr>
        <p:spPr>
          <a:xfrm>
            <a:off x="7333488" y="2395728"/>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Web Speech API (voice)</a:t>
            </a:r>
            <a:endParaRPr lang="en-US" sz="850" dirty="0"/>
          </a:p>
        </p:txBody>
      </p:sp>
      <p:sp>
        <p:nvSpPr>
          <p:cNvPr id="52" name="Shape 50"/>
          <p:cNvSpPr/>
          <p:nvPr/>
        </p:nvSpPr>
        <p:spPr>
          <a:xfrm>
            <a:off x="7278624" y="2962656"/>
            <a:ext cx="1371600" cy="475488"/>
          </a:xfrm>
          <a:prstGeom prst="roundRect">
            <a:avLst>
              <a:gd name="adj" fmla="val 11538"/>
            </a:avLst>
          </a:prstGeom>
          <a:solidFill>
            <a:srgbClr val="F7F5F0"/>
          </a:solidFill>
          <a:ln/>
        </p:spPr>
      </p:sp>
      <p:sp>
        <p:nvSpPr>
          <p:cNvPr id="53" name="Text 51"/>
          <p:cNvSpPr txBox="1"/>
          <p:nvPr/>
        </p:nvSpPr>
        <p:spPr>
          <a:xfrm>
            <a:off x="7333488" y="2962656"/>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light + dark, mobile-ready</a:t>
            </a:r>
            <a:endParaRPr lang="en-US" sz="850" dirty="0"/>
          </a:p>
        </p:txBody>
      </p:sp>
      <p:sp>
        <p:nvSpPr>
          <p:cNvPr id="54" name="Shape 52"/>
          <p:cNvSpPr/>
          <p:nvPr/>
        </p:nvSpPr>
        <p:spPr>
          <a:xfrm>
            <a:off x="7278624" y="3529584"/>
            <a:ext cx="1371600" cy="475488"/>
          </a:xfrm>
          <a:prstGeom prst="roundRect">
            <a:avLst>
              <a:gd name="adj" fmla="val 11538"/>
            </a:avLst>
          </a:prstGeom>
          <a:solidFill>
            <a:srgbClr val="F7F5F0"/>
          </a:solidFill>
          <a:ln/>
        </p:spPr>
      </p:sp>
      <p:sp>
        <p:nvSpPr>
          <p:cNvPr id="55" name="Text 53"/>
          <p:cNvSpPr txBox="1"/>
          <p:nvPr/>
        </p:nvSpPr>
        <p:spPr>
          <a:xfrm>
            <a:off x="7333488" y="3529584"/>
            <a:ext cx="1261872" cy="475488"/>
          </a:xfrm>
          <a:prstGeom prst="rect">
            <a:avLst/>
          </a:prstGeom>
          <a:noFill/>
          <a:ln/>
        </p:spPr>
        <p:txBody>
          <a:bodyPr wrap="square" lIns="0" tIns="0" rIns="0" bIns="0" rtlCol="0" anchor="ctr"/>
          <a:lstStyle/>
          <a:p>
            <a:pPr indent="0" marL="0">
              <a:buNone/>
            </a:pPr>
            <a:r>
              <a:rPr lang="en-US" sz="850" dirty="0">
                <a:solidFill>
                  <a:srgbClr val="17140F"/>
                </a:solidFill>
                <a:latin typeface="Calibri" pitchFamily="34" charset="0"/>
                <a:ea typeface="Calibri" pitchFamily="34" charset="-122"/>
                <a:cs typeface="Calibri" pitchFamily="34" charset="-120"/>
              </a:rPr>
              <a:t>no framework, one file</a:t>
            </a:r>
            <a:endParaRPr lang="en-US" sz="850" dirty="0"/>
          </a:p>
        </p:txBody>
      </p:sp>
      <p:sp>
        <p:nvSpPr>
          <p:cNvPr id="56" name="Text 54"/>
          <p:cNvSpPr txBox="1"/>
          <p:nvPr/>
        </p:nvSpPr>
        <p:spPr>
          <a:xfrm>
            <a:off x="457200" y="4389120"/>
            <a:ext cx="8229600" cy="274320"/>
          </a:xfrm>
          <a:prstGeom prst="rect">
            <a:avLst/>
          </a:prstGeom>
          <a:noFill/>
          <a:ln/>
        </p:spPr>
        <p:txBody>
          <a:bodyPr wrap="square" lIns="0" tIns="0" rIns="0" bIns="0" rtlCol="0" anchor="t"/>
          <a:lstStyle/>
          <a:p>
            <a:pPr indent="0" marL="0">
              <a:buNone/>
            </a:pPr>
            <a:r>
              <a:rPr lang="en-US" sz="950" i="1" dirty="0">
                <a:solidFill>
                  <a:srgbClr val="8A8375"/>
                </a:solidFill>
                <a:latin typeface="Calibri" pitchFamily="34" charset="0"/>
                <a:ea typeface="Calibri" pitchFamily="34" charset="-122"/>
                <a:cs typeface="Calibri" pitchFamily="34" charset="-120"/>
              </a:rPr>
              <a:t>Runs on CPU only · swap the LLM provider with two .env lines · every stage's model is configurable</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15 · FROM HACKATHON TO WORKLET</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Built to scale to 10k+ scenarios</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16 / 18</a:t>
            </a:r>
            <a:endParaRPr lang="en-US" sz="750" dirty="0"/>
          </a:p>
        </p:txBody>
      </p:sp>
      <p:sp>
        <p:nvSpPr>
          <p:cNvPr id="6" name="Shape 4"/>
          <p:cNvSpPr/>
          <p:nvPr/>
        </p:nvSpPr>
        <p:spPr>
          <a:xfrm>
            <a:off x="457200" y="1280160"/>
            <a:ext cx="384048" cy="384048"/>
          </a:xfrm>
          <a:prstGeom prst="ellipse">
            <a:avLst/>
          </a:prstGeom>
          <a:solidFill>
            <a:srgbClr val="FF5A1F"/>
          </a:solidFill>
          <a:ln/>
        </p:spPr>
      </p:sp>
      <p:sp>
        <p:nvSpPr>
          <p:cNvPr id="7" name="Text 5"/>
          <p:cNvSpPr txBox="1"/>
          <p:nvPr/>
        </p:nvSpPr>
        <p:spPr>
          <a:xfrm>
            <a:off x="457200" y="128016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1</a:t>
            </a:r>
            <a:endParaRPr lang="en-US" sz="1000" dirty="0"/>
          </a:p>
        </p:txBody>
      </p:sp>
      <p:sp>
        <p:nvSpPr>
          <p:cNvPr id="8" name="Shape 6"/>
          <p:cNvSpPr/>
          <p:nvPr/>
        </p:nvSpPr>
        <p:spPr>
          <a:xfrm>
            <a:off x="886968" y="1472184"/>
            <a:ext cx="1627632" cy="0"/>
          </a:xfrm>
          <a:prstGeom prst="line">
            <a:avLst/>
          </a:prstGeom>
          <a:noFill/>
          <a:ln w="19050">
            <a:solidFill>
              <a:srgbClr val="D9D2C3"/>
            </a:solidFill>
            <a:prstDash val="dash"/>
          </a:ln>
        </p:spPr>
      </p:sp>
      <p:sp>
        <p:nvSpPr>
          <p:cNvPr id="9" name="Text 7"/>
          <p:cNvSpPr txBox="1"/>
          <p:nvPr/>
        </p:nvSpPr>
        <p:spPr>
          <a:xfrm>
            <a:off x="457200" y="1783080"/>
            <a:ext cx="1920240" cy="457200"/>
          </a:xfrm>
          <a:prstGeom prst="rect">
            <a:avLst/>
          </a:prstGeom>
          <a:noFill/>
          <a:ln/>
        </p:spPr>
        <p:txBody>
          <a:bodyPr wrap="square" lIns="0" tIns="0" rIns="0" bIns="0" rtlCol="0" anchor="t"/>
          <a:lstStyle/>
          <a:p>
            <a:pPr indent="0" marL="0">
              <a:buNone/>
            </a:pPr>
            <a:r>
              <a:rPr lang="en-US" sz="1150" b="1" dirty="0">
                <a:solidFill>
                  <a:srgbClr val="17140F"/>
                </a:solidFill>
                <a:latin typeface="Calibri" pitchFamily="34" charset="0"/>
                <a:ea typeface="Calibri" pitchFamily="34" charset="-122"/>
                <a:cs typeface="Calibri" pitchFamily="34" charset="-120"/>
              </a:rPr>
              <a:t>Offline scenario compiler</a:t>
            </a:r>
            <a:endParaRPr lang="en-US" sz="1150" dirty="0"/>
          </a:p>
        </p:txBody>
      </p:sp>
      <p:sp>
        <p:nvSpPr>
          <p:cNvPr id="10" name="Text 8"/>
          <p:cNvSpPr txBox="1"/>
          <p:nvPr/>
        </p:nvSpPr>
        <p:spPr>
          <a:xfrm>
            <a:off x="457200" y="2240280"/>
            <a:ext cx="1920240" cy="9601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batch-compile every KB article + query into validated plans and paraphrase clouds (scripts/build_cache.py)</a:t>
            </a:r>
            <a:endParaRPr lang="en-US" sz="900" dirty="0"/>
          </a:p>
        </p:txBody>
      </p:sp>
      <p:sp>
        <p:nvSpPr>
          <p:cNvPr id="11" name="Shape 9"/>
          <p:cNvSpPr/>
          <p:nvPr/>
        </p:nvSpPr>
        <p:spPr>
          <a:xfrm>
            <a:off x="2560320" y="1280160"/>
            <a:ext cx="384048" cy="384048"/>
          </a:xfrm>
          <a:prstGeom prst="ellipse">
            <a:avLst/>
          </a:prstGeom>
          <a:solidFill>
            <a:srgbClr val="17140F"/>
          </a:solidFill>
          <a:ln/>
        </p:spPr>
      </p:sp>
      <p:sp>
        <p:nvSpPr>
          <p:cNvPr id="12" name="Text 10"/>
          <p:cNvSpPr txBox="1"/>
          <p:nvPr/>
        </p:nvSpPr>
        <p:spPr>
          <a:xfrm>
            <a:off x="2560320" y="128016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2</a:t>
            </a:r>
            <a:endParaRPr lang="en-US" sz="1000" dirty="0"/>
          </a:p>
        </p:txBody>
      </p:sp>
      <p:sp>
        <p:nvSpPr>
          <p:cNvPr id="13" name="Shape 11"/>
          <p:cNvSpPr/>
          <p:nvPr/>
        </p:nvSpPr>
        <p:spPr>
          <a:xfrm>
            <a:off x="2990088" y="1472184"/>
            <a:ext cx="1627632" cy="0"/>
          </a:xfrm>
          <a:prstGeom prst="line">
            <a:avLst/>
          </a:prstGeom>
          <a:noFill/>
          <a:ln w="19050">
            <a:solidFill>
              <a:srgbClr val="D9D2C3"/>
            </a:solidFill>
            <a:prstDash val="dash"/>
          </a:ln>
        </p:spPr>
      </p:sp>
      <p:sp>
        <p:nvSpPr>
          <p:cNvPr id="14" name="Text 12"/>
          <p:cNvSpPr txBox="1"/>
          <p:nvPr/>
        </p:nvSpPr>
        <p:spPr>
          <a:xfrm>
            <a:off x="2560320" y="1783080"/>
            <a:ext cx="1920240" cy="457200"/>
          </a:xfrm>
          <a:prstGeom prst="rect">
            <a:avLst/>
          </a:prstGeom>
          <a:noFill/>
          <a:ln/>
        </p:spPr>
        <p:txBody>
          <a:bodyPr wrap="square" lIns="0" tIns="0" rIns="0" bIns="0" rtlCol="0" anchor="t"/>
          <a:lstStyle/>
          <a:p>
            <a:pPr indent="0" marL="0">
              <a:buNone/>
            </a:pPr>
            <a:r>
              <a:rPr lang="en-US" sz="1150" b="1" dirty="0">
                <a:solidFill>
                  <a:srgbClr val="17140F"/>
                </a:solidFill>
                <a:latin typeface="Calibri" pitchFamily="34" charset="0"/>
                <a:ea typeface="Calibri" pitchFamily="34" charset="-122"/>
                <a:cs typeface="Calibri" pitchFamily="34" charset="-120"/>
              </a:rPr>
              <a:t>Stage-level caching</a:t>
            </a:r>
            <a:endParaRPr lang="en-US" sz="1150" dirty="0"/>
          </a:p>
        </p:txBody>
      </p:sp>
      <p:sp>
        <p:nvSpPr>
          <p:cNvPr id="15" name="Text 13"/>
          <p:cNvSpPr txBox="1"/>
          <p:nvPr/>
        </p:nvSpPr>
        <p:spPr>
          <a:xfrm>
            <a:off x="2560320" y="2240280"/>
            <a:ext cx="1920240" cy="9601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extraction and mapping cached separately; a reverse index deeplink → plans recompiles only what a catalog change touches</a:t>
            </a:r>
            <a:endParaRPr lang="en-US" sz="900" dirty="0"/>
          </a:p>
        </p:txBody>
      </p:sp>
      <p:sp>
        <p:nvSpPr>
          <p:cNvPr id="16" name="Shape 14"/>
          <p:cNvSpPr/>
          <p:nvPr/>
        </p:nvSpPr>
        <p:spPr>
          <a:xfrm>
            <a:off x="4663440" y="1280160"/>
            <a:ext cx="384048" cy="384048"/>
          </a:xfrm>
          <a:prstGeom prst="ellipse">
            <a:avLst/>
          </a:prstGeom>
          <a:solidFill>
            <a:srgbClr val="17140F"/>
          </a:solidFill>
          <a:ln/>
        </p:spPr>
      </p:sp>
      <p:sp>
        <p:nvSpPr>
          <p:cNvPr id="17" name="Text 15"/>
          <p:cNvSpPr txBox="1"/>
          <p:nvPr/>
        </p:nvSpPr>
        <p:spPr>
          <a:xfrm>
            <a:off x="4663440" y="128016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3</a:t>
            </a:r>
            <a:endParaRPr lang="en-US" sz="1000" dirty="0"/>
          </a:p>
        </p:txBody>
      </p:sp>
      <p:sp>
        <p:nvSpPr>
          <p:cNvPr id="18" name="Shape 16"/>
          <p:cNvSpPr/>
          <p:nvPr/>
        </p:nvSpPr>
        <p:spPr>
          <a:xfrm>
            <a:off x="5093208" y="1472184"/>
            <a:ext cx="1627632" cy="0"/>
          </a:xfrm>
          <a:prstGeom prst="line">
            <a:avLst/>
          </a:prstGeom>
          <a:noFill/>
          <a:ln w="19050">
            <a:solidFill>
              <a:srgbClr val="D9D2C3"/>
            </a:solidFill>
            <a:prstDash val="dash"/>
          </a:ln>
        </p:spPr>
      </p:sp>
      <p:sp>
        <p:nvSpPr>
          <p:cNvPr id="19" name="Text 17"/>
          <p:cNvSpPr txBox="1"/>
          <p:nvPr/>
        </p:nvSpPr>
        <p:spPr>
          <a:xfrm>
            <a:off x="4663440" y="1783080"/>
            <a:ext cx="1920240" cy="457200"/>
          </a:xfrm>
          <a:prstGeom prst="rect">
            <a:avLst/>
          </a:prstGeom>
          <a:noFill/>
          <a:ln/>
        </p:spPr>
        <p:txBody>
          <a:bodyPr wrap="square" lIns="0" tIns="0" rIns="0" bIns="0" rtlCol="0" anchor="t"/>
          <a:lstStyle/>
          <a:p>
            <a:pPr indent="0" marL="0">
              <a:buNone/>
            </a:pPr>
            <a:r>
              <a:rPr lang="en-US" sz="1150" b="1" dirty="0">
                <a:solidFill>
                  <a:srgbClr val="17140F"/>
                </a:solidFill>
                <a:latin typeface="Calibri" pitchFamily="34" charset="0"/>
                <a:ea typeface="Calibri" pitchFamily="34" charset="-122"/>
                <a:cs typeface="Calibri" pitchFamily="34" charset="-120"/>
              </a:rPr>
              <a:t>Feedback-driven quality</a:t>
            </a:r>
            <a:endParaRPr lang="en-US" sz="1150" dirty="0"/>
          </a:p>
        </p:txBody>
      </p:sp>
      <p:sp>
        <p:nvSpPr>
          <p:cNvPr id="20" name="Text 18"/>
          <p:cNvSpPr txBox="1"/>
          <p:nvPr/>
        </p:nvSpPr>
        <p:spPr>
          <a:xfrm>
            <a:off x="4663440" y="2240280"/>
            <a:ext cx="1920240" cy="9601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 evicts weak plans; dashboards on hit rate, false hits and cost per query (GET /v1/metrics)</a:t>
            </a:r>
            <a:endParaRPr lang="en-US" sz="900" dirty="0"/>
          </a:p>
        </p:txBody>
      </p:sp>
      <p:sp>
        <p:nvSpPr>
          <p:cNvPr id="21" name="Shape 19"/>
          <p:cNvSpPr/>
          <p:nvPr/>
        </p:nvSpPr>
        <p:spPr>
          <a:xfrm>
            <a:off x="6766560" y="1280160"/>
            <a:ext cx="384048" cy="384048"/>
          </a:xfrm>
          <a:prstGeom prst="ellipse">
            <a:avLst/>
          </a:prstGeom>
          <a:solidFill>
            <a:srgbClr val="17140F"/>
          </a:solidFill>
          <a:ln/>
        </p:spPr>
      </p:sp>
      <p:sp>
        <p:nvSpPr>
          <p:cNvPr id="22" name="Text 20"/>
          <p:cNvSpPr txBox="1"/>
          <p:nvPr/>
        </p:nvSpPr>
        <p:spPr>
          <a:xfrm>
            <a:off x="6766560" y="128016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ourier New" pitchFamily="34" charset="0"/>
                <a:ea typeface="Courier New" pitchFamily="34" charset="-122"/>
                <a:cs typeface="Courier New" pitchFamily="34" charset="-120"/>
              </a:rPr>
              <a:t>4</a:t>
            </a:r>
            <a:endParaRPr lang="en-US" sz="1000" dirty="0"/>
          </a:p>
        </p:txBody>
      </p:sp>
      <p:sp>
        <p:nvSpPr>
          <p:cNvPr id="23" name="Text 21"/>
          <p:cNvSpPr txBox="1"/>
          <p:nvPr/>
        </p:nvSpPr>
        <p:spPr>
          <a:xfrm>
            <a:off x="6766560" y="1783080"/>
            <a:ext cx="1920240" cy="457200"/>
          </a:xfrm>
          <a:prstGeom prst="rect">
            <a:avLst/>
          </a:prstGeom>
          <a:noFill/>
          <a:ln/>
        </p:spPr>
        <p:txBody>
          <a:bodyPr wrap="square" lIns="0" tIns="0" rIns="0" bIns="0" rtlCol="0" anchor="t"/>
          <a:lstStyle/>
          <a:p>
            <a:pPr indent="0" marL="0">
              <a:buNone/>
            </a:pPr>
            <a:r>
              <a:rPr lang="en-US" sz="1150" b="1" dirty="0">
                <a:solidFill>
                  <a:srgbClr val="17140F"/>
                </a:solidFill>
                <a:latin typeface="Calibri" pitchFamily="34" charset="0"/>
                <a:ea typeface="Calibri" pitchFamily="34" charset="-122"/>
                <a:cs typeface="Calibri" pitchFamily="34" charset="-120"/>
              </a:rPr>
              <a:t>On-device + assistant</a:t>
            </a:r>
            <a:endParaRPr lang="en-US" sz="1150" dirty="0"/>
          </a:p>
        </p:txBody>
      </p:sp>
      <p:sp>
        <p:nvSpPr>
          <p:cNvPr id="24" name="Text 22"/>
          <p:cNvSpPr txBox="1"/>
          <p:nvPr/>
        </p:nvSpPr>
        <p:spPr>
          <a:xfrm>
            <a:off x="6766560" y="2240280"/>
            <a:ext cx="1920240" cy="960120"/>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CPU embeddings fit on-device; hand plans to the voice assistant for truly hands-free fixes</a:t>
            </a:r>
            <a:endParaRPr lang="en-US" sz="900" dirty="0"/>
          </a:p>
        </p:txBody>
      </p:sp>
      <p:sp>
        <p:nvSpPr>
          <p:cNvPr id="25" name="Shape 23"/>
          <p:cNvSpPr/>
          <p:nvPr/>
        </p:nvSpPr>
        <p:spPr>
          <a:xfrm>
            <a:off x="457200" y="3383280"/>
            <a:ext cx="8229600" cy="1143000"/>
          </a:xfrm>
          <a:prstGeom prst="roundRect">
            <a:avLst>
              <a:gd name="adj" fmla="val 8000"/>
            </a:avLst>
          </a:prstGeom>
          <a:solidFill>
            <a:srgbClr val="17140F"/>
          </a:solidFill>
          <a:ln/>
        </p:spPr>
      </p:sp>
      <p:sp>
        <p:nvSpPr>
          <p:cNvPr id="26" name="Text 24"/>
          <p:cNvSpPr txBox="1"/>
          <p:nvPr/>
        </p:nvSpPr>
        <p:spPr>
          <a:xfrm>
            <a:off x="685800" y="3474720"/>
            <a:ext cx="4572000" cy="274320"/>
          </a:xfrm>
          <a:prstGeom prst="rect">
            <a:avLst/>
          </a:prstGeom>
          <a:noFill/>
          <a:ln/>
        </p:spPr>
        <p:txBody>
          <a:bodyPr wrap="square" lIns="0" tIns="0" rIns="0" bIns="0" rtlCol="0" anchor="t"/>
          <a:lstStyle/>
          <a:p>
            <a:pPr indent="0" marL="0">
              <a:buNone/>
            </a:pPr>
            <a:r>
              <a:rPr lang="en-US" sz="1300" b="1" dirty="0">
                <a:solidFill>
                  <a:srgbClr val="F4F1EA"/>
                </a:solidFill>
                <a:latin typeface="Cambria" pitchFamily="34" charset="0"/>
                <a:ea typeface="Cambria" pitchFamily="34" charset="-122"/>
                <a:cs typeface="Cambria" pitchFamily="34" charset="-120"/>
              </a:rPr>
              <a:t>Back-of-envelope at 1M complaints / day</a:t>
            </a:r>
            <a:endParaRPr lang="en-US" sz="1300" dirty="0"/>
          </a:p>
        </p:txBody>
      </p:sp>
      <p:sp>
        <p:nvSpPr>
          <p:cNvPr id="27" name="Text 25"/>
          <p:cNvSpPr txBox="1"/>
          <p:nvPr/>
        </p:nvSpPr>
        <p:spPr>
          <a:xfrm>
            <a:off x="685800" y="3794760"/>
            <a:ext cx="7772400" cy="640080"/>
          </a:xfrm>
          <a:prstGeom prst="rect">
            <a:avLst/>
          </a:prstGeom>
          <a:noFill/>
          <a:ln/>
        </p:spPr>
        <p:txBody>
          <a:bodyPr wrap="square" lIns="0" tIns="0" rIns="0" bIns="0" rtlCol="0" anchor="t"/>
          <a:lstStyle/>
          <a:p>
            <a:pPr indent="0" marL="0">
              <a:buNone/>
            </a:pPr>
            <a:r>
              <a:rPr lang="en-US" sz="1100" dirty="0">
                <a:solidFill>
                  <a:srgbClr val="F4F1EA"/>
                </a:solidFill>
                <a:latin typeface="Calibri" pitchFamily="34" charset="0"/>
                <a:ea typeface="Calibri" pitchFamily="34" charset="-122"/>
                <a:cs typeface="Calibri" pitchFamily="34" charset="-120"/>
              </a:rPr>
              <a:t>~80% served from cache (measured hit rate)  →  ~200k cold compiles × ~$0.001  ≈  </a:t>
            </a:r>
            <a:pPr indent="0" marL="0">
              <a:buNone/>
            </a:pPr>
            <a:r>
              <a:rPr lang="en-US" sz="1100" b="1" dirty="0">
                <a:solidFill>
                  <a:srgbClr val="FF5A1F"/>
                </a:solidFill>
                <a:latin typeface="Calibri" pitchFamily="34" charset="0"/>
                <a:ea typeface="Calibri" pitchFamily="34" charset="-122"/>
                <a:cs typeface="Calibri" pitchFamily="34" charset="-120"/>
              </a:rPr>
              <a:t>$200 / day</a:t>
            </a:r>
            <a:pPr indent="0" marL="0">
              <a:buNone/>
            </a:pPr>
            <a:endParaRPr lang="en-US" sz="1100" dirty="0"/>
          </a:p>
          <a:p>
            <a:pPr indent="0" marL="0">
              <a:buNone/>
            </a:pPr>
            <a:r>
              <a:rPr lang="en-US" sz="1100" dirty="0">
                <a:solidFill>
                  <a:srgbClr val="A8A091"/>
                </a:solidFill>
                <a:latin typeface="Calibri" pitchFamily="34" charset="0"/>
                <a:ea typeface="Calibri" pitchFamily="34" charset="-122"/>
                <a:cs typeface="Calibri" pitchFamily="34" charset="-120"/>
              </a:rPr>
              <a:t>vs. 15 min of manual agent triage per scenario  ≈  250,000 agent-hours / day</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5F0"/>
        </a:solidFill>
      </p:bgPr>
    </p:bg>
    <p:spTree>
      <p:nvGrpSpPr>
        <p:cNvPr id="1" name=""/>
        <p:cNvGrpSpPr/>
        <p:nvPr/>
      </p:nvGrpSpPr>
      <p:grpSpPr>
        <a:xfrm>
          <a:off x="0" y="0"/>
          <a:ext cx="0" cy="0"/>
          <a:chOff x="0" y="0"/>
          <a:chExt cx="0" cy="0"/>
        </a:xfrm>
      </p:grpSpPr>
      <p:sp>
        <p:nvSpPr>
          <p:cNvPr id="2" name="Shape 0"/>
          <p:cNvSpPr/>
          <p:nvPr/>
        </p:nvSpPr>
        <p:spPr>
          <a:xfrm>
            <a:off x="457200" y="347472"/>
            <a:ext cx="82296" cy="82296"/>
          </a:xfrm>
          <a:prstGeom prst="ellipse">
            <a:avLst/>
          </a:prstGeom>
          <a:solidFill>
            <a:srgbClr val="FF5A1F"/>
          </a:solidFill>
          <a:ln/>
        </p:spPr>
      </p:sp>
      <p:sp>
        <p:nvSpPr>
          <p:cNvPr id="3" name="Text 1"/>
          <p:cNvSpPr txBox="1"/>
          <p:nvPr/>
        </p:nvSpPr>
        <p:spPr>
          <a:xfrm>
            <a:off x="621792" y="274320"/>
            <a:ext cx="7772400" cy="228600"/>
          </a:xfrm>
          <a:prstGeom prst="rect">
            <a:avLst/>
          </a:prstGeom>
          <a:noFill/>
          <a:ln/>
        </p:spPr>
        <p:txBody>
          <a:bodyPr wrap="square" lIns="0" tIns="0" rIns="0" bIns="0" rtlCol="0" anchor="t"/>
          <a:lstStyle/>
          <a:p>
            <a:pPr indent="0" marL="0">
              <a:buNone/>
            </a:pPr>
            <a:r>
              <a:rPr lang="en-US" sz="900" spc="200" kern="0" dirty="0">
                <a:solidFill>
                  <a:srgbClr val="8A8375"/>
                </a:solidFill>
                <a:latin typeface="Courier New" pitchFamily="34" charset="0"/>
                <a:ea typeface="Courier New" pitchFamily="34" charset="-122"/>
                <a:cs typeface="Courier New" pitchFamily="34" charset="-120"/>
              </a:rPr>
              <a:t>16 · HONEST LIMITATIONS</a:t>
            </a:r>
            <a:endParaRPr lang="en-US" sz="900" dirty="0"/>
          </a:p>
        </p:txBody>
      </p:sp>
      <p:sp>
        <p:nvSpPr>
          <p:cNvPr id="4" name="Text 2"/>
          <p:cNvSpPr txBox="1"/>
          <p:nvPr/>
        </p:nvSpPr>
        <p:spPr>
          <a:xfrm>
            <a:off x="457200" y="530352"/>
            <a:ext cx="8229600" cy="566928"/>
          </a:xfrm>
          <a:prstGeom prst="rect">
            <a:avLst/>
          </a:prstGeom>
          <a:noFill/>
          <a:ln/>
        </p:spPr>
        <p:txBody>
          <a:bodyPr wrap="square" lIns="0" tIns="0" rIns="0" bIns="0" rtlCol="0" anchor="t"/>
          <a:lstStyle/>
          <a:p>
            <a:pPr indent="0" marL="0">
              <a:buNone/>
            </a:pPr>
            <a:r>
              <a:rPr lang="en-US" sz="2600" b="1" dirty="0">
                <a:solidFill>
                  <a:srgbClr val="17140F"/>
                </a:solidFill>
                <a:latin typeface="Cambria" pitchFamily="34" charset="0"/>
                <a:ea typeface="Cambria" pitchFamily="34" charset="-122"/>
                <a:cs typeface="Cambria" pitchFamily="34" charset="-120"/>
              </a:rPr>
              <a:t>What we know isn't perfect yet, and what's next</a:t>
            </a:r>
            <a:endParaRPr lang="en-US" sz="2600" dirty="0"/>
          </a:p>
        </p:txBody>
      </p:sp>
      <p:sp>
        <p:nvSpPr>
          <p:cNvPr id="5" name="Text 3"/>
          <p:cNvSpPr txBox="1"/>
          <p:nvPr/>
        </p:nvSpPr>
        <p:spPr>
          <a:xfrm>
            <a:off x="5029200" y="4828032"/>
            <a:ext cx="3657600" cy="182880"/>
          </a:xfrm>
          <a:prstGeom prst="rect">
            <a:avLst/>
          </a:prstGeom>
          <a:noFill/>
          <a:ln/>
        </p:spPr>
        <p:txBody>
          <a:bodyPr wrap="square" lIns="0" tIns="0" rIns="0" bIns="0" rtlCol="0" anchor="t"/>
          <a:lstStyle/>
          <a:p>
            <a:pPr algn="r" indent="0" marL="0">
              <a:buNone/>
            </a:pPr>
            <a:r>
              <a:rPr lang="en-US" sz="750" dirty="0">
                <a:solidFill>
                  <a:srgbClr val="8A8375"/>
                </a:solidFill>
                <a:latin typeface="Courier New" pitchFamily="34" charset="0"/>
                <a:ea typeface="Courier New" pitchFamily="34" charset="-122"/>
                <a:cs typeface="Courier New" pitchFamily="34" charset="-120"/>
              </a:rPr>
              <a:t>OneTap  ·  Team Aloo Paratha  ·  17 / 18</a:t>
            </a:r>
            <a:endParaRPr lang="en-US" sz="750" dirty="0"/>
          </a:p>
        </p:txBody>
      </p:sp>
      <p:sp>
        <p:nvSpPr>
          <p:cNvPr id="6" name="Shape 4"/>
          <p:cNvSpPr/>
          <p:nvPr/>
        </p:nvSpPr>
        <p:spPr>
          <a:xfrm>
            <a:off x="457200" y="1188720"/>
            <a:ext cx="4023360" cy="960120"/>
          </a:xfrm>
          <a:prstGeom prst="roundRect">
            <a:avLst>
              <a:gd name="adj" fmla="val 7619"/>
            </a:avLst>
          </a:prstGeom>
          <a:solidFill>
            <a:srgbClr val="FFFFFF"/>
          </a:solidFill>
          <a:ln w="9525">
            <a:solidFill>
              <a:srgbClr val="D9D2C3"/>
            </a:solidFill>
            <a:prstDash val="solid"/>
          </a:ln>
        </p:spPr>
      </p:sp>
      <p:sp>
        <p:nvSpPr>
          <p:cNvPr id="7" name="Text 5"/>
          <p:cNvSpPr txBox="1"/>
          <p:nvPr/>
        </p:nvSpPr>
        <p:spPr>
          <a:xfrm>
            <a:off x="621792" y="1261872"/>
            <a:ext cx="374904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Mismatched reference articles</a:t>
            </a:r>
            <a:endParaRPr lang="en-US" sz="1100" dirty="0"/>
          </a:p>
        </p:txBody>
      </p:sp>
      <p:sp>
        <p:nvSpPr>
          <p:cNvPr id="8" name="Text 6"/>
          <p:cNvSpPr txBox="1"/>
          <p:nvPr/>
        </p:nvSpPr>
        <p:spPr>
          <a:xfrm>
            <a:off x="621792" y="1499616"/>
            <a:ext cx="3749040" cy="329184"/>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3 of 20 scenarios were judged off-topic yet answered.</a:t>
            </a:r>
            <a:endParaRPr lang="en-US" sz="900" dirty="0"/>
          </a:p>
        </p:txBody>
      </p:sp>
      <p:sp>
        <p:nvSpPr>
          <p:cNvPr id="9" name="Text 7"/>
          <p:cNvSpPr txBox="1"/>
          <p:nvPr/>
        </p:nvSpPr>
        <p:spPr>
          <a:xfrm>
            <a:off x="621792" y="1828800"/>
            <a:ext cx="3749040" cy="256032"/>
          </a:xfrm>
          <a:prstGeom prst="rect">
            <a:avLst/>
          </a:prstGeom>
          <a:noFill/>
          <a:ln/>
        </p:spPr>
        <p:txBody>
          <a:bodyPr wrap="square" lIns="0" tIns="0" rIns="0" bIns="0" rtlCol="0" anchor="t"/>
          <a:lstStyle/>
          <a:p>
            <a:pPr indent="0" marL="0">
              <a:buNone/>
            </a:pPr>
            <a:r>
              <a:rPr lang="en-US" sz="900" b="1" dirty="0">
                <a:solidFill>
                  <a:srgbClr val="B93A0B"/>
                </a:solidFill>
                <a:latin typeface="Calibri" pitchFamily="34" charset="0"/>
                <a:ea typeface="Calibri" pitchFamily="34" charset="-122"/>
                <a:cs typeface="Calibri" pitchFamily="34" charset="-120"/>
              </a:rPr>
              <a:t>next → </a:t>
            </a:r>
            <a:pPr indent="0" marL="0">
              <a:buNone/>
            </a:pPr>
            <a:r>
              <a:rPr lang="en-US" sz="900" dirty="0">
                <a:solidFill>
                  <a:srgbClr val="B93A0B"/>
                </a:solidFill>
                <a:latin typeface="Calibri" pitchFamily="34" charset="0"/>
                <a:ea typeface="Calibri" pitchFamily="34" charset="-122"/>
                <a:cs typeface="Calibri" pitchFamily="34" charset="-120"/>
              </a:rPr>
              <a:t>stricter relevance + article re-retrieval</a:t>
            </a:r>
            <a:endParaRPr lang="en-US" sz="900" dirty="0"/>
          </a:p>
        </p:txBody>
      </p:sp>
      <p:sp>
        <p:nvSpPr>
          <p:cNvPr id="10" name="Shape 8"/>
          <p:cNvSpPr/>
          <p:nvPr/>
        </p:nvSpPr>
        <p:spPr>
          <a:xfrm>
            <a:off x="4663440" y="1188720"/>
            <a:ext cx="4023360" cy="960120"/>
          </a:xfrm>
          <a:prstGeom prst="roundRect">
            <a:avLst>
              <a:gd name="adj" fmla="val 7619"/>
            </a:avLst>
          </a:prstGeom>
          <a:solidFill>
            <a:srgbClr val="FFFFFF"/>
          </a:solidFill>
          <a:ln w="9525">
            <a:solidFill>
              <a:srgbClr val="D9D2C3"/>
            </a:solidFill>
            <a:prstDash val="solid"/>
          </a:ln>
        </p:spPr>
      </p:sp>
      <p:sp>
        <p:nvSpPr>
          <p:cNvPr id="11" name="Text 9"/>
          <p:cNvSpPr txBox="1"/>
          <p:nvPr/>
        </p:nvSpPr>
        <p:spPr>
          <a:xfrm>
            <a:off x="4828032" y="1261872"/>
            <a:ext cx="374904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LLM-generated look-alike set</a:t>
            </a:r>
            <a:endParaRPr lang="en-US" sz="1100" dirty="0"/>
          </a:p>
        </p:txBody>
      </p:sp>
      <p:sp>
        <p:nvSpPr>
          <p:cNvPr id="12" name="Text 10"/>
          <p:cNvSpPr txBox="1"/>
          <p:nvPr/>
        </p:nvSpPr>
        <p:spPr>
          <a:xfrm>
            <a:off x="4828032" y="1499616"/>
            <a:ext cx="3749040" cy="329184"/>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some “negatives” are arguably the same fault, so 10% false hits is conservative.</a:t>
            </a:r>
            <a:endParaRPr lang="en-US" sz="900" dirty="0"/>
          </a:p>
        </p:txBody>
      </p:sp>
      <p:sp>
        <p:nvSpPr>
          <p:cNvPr id="13" name="Text 11"/>
          <p:cNvSpPr txBox="1"/>
          <p:nvPr/>
        </p:nvSpPr>
        <p:spPr>
          <a:xfrm>
            <a:off x="4828032" y="1828800"/>
            <a:ext cx="3749040" cy="256032"/>
          </a:xfrm>
          <a:prstGeom prst="rect">
            <a:avLst/>
          </a:prstGeom>
          <a:noFill/>
          <a:ln/>
        </p:spPr>
        <p:txBody>
          <a:bodyPr wrap="square" lIns="0" tIns="0" rIns="0" bIns="0" rtlCol="0" anchor="t"/>
          <a:lstStyle/>
          <a:p>
            <a:pPr indent="0" marL="0">
              <a:buNone/>
            </a:pPr>
            <a:r>
              <a:rPr lang="en-US" sz="900" b="1" dirty="0">
                <a:solidFill>
                  <a:srgbClr val="B93A0B"/>
                </a:solidFill>
                <a:latin typeface="Calibri" pitchFamily="34" charset="0"/>
                <a:ea typeface="Calibri" pitchFamily="34" charset="-122"/>
                <a:cs typeface="Calibri" pitchFamily="34" charset="-120"/>
              </a:rPr>
              <a:t>next → </a:t>
            </a:r>
            <a:pPr indent="0" marL="0">
              <a:buNone/>
            </a:pPr>
            <a:r>
              <a:rPr lang="en-US" sz="900" dirty="0">
                <a:solidFill>
                  <a:srgbClr val="B93A0B"/>
                </a:solidFill>
                <a:latin typeface="Calibri" pitchFamily="34" charset="0"/>
                <a:ea typeface="Calibri" pitchFamily="34" charset="-122"/>
                <a:cs typeface="Calibri" pitchFamily="34" charset="-120"/>
              </a:rPr>
              <a:t>human-labelled adversarial set</a:t>
            </a:r>
            <a:endParaRPr lang="en-US" sz="900" dirty="0"/>
          </a:p>
        </p:txBody>
      </p:sp>
      <p:sp>
        <p:nvSpPr>
          <p:cNvPr id="14" name="Shape 12"/>
          <p:cNvSpPr/>
          <p:nvPr/>
        </p:nvSpPr>
        <p:spPr>
          <a:xfrm>
            <a:off x="457200" y="2286000"/>
            <a:ext cx="4023360" cy="960120"/>
          </a:xfrm>
          <a:prstGeom prst="roundRect">
            <a:avLst>
              <a:gd name="adj" fmla="val 7619"/>
            </a:avLst>
          </a:prstGeom>
          <a:solidFill>
            <a:srgbClr val="FFFFFF"/>
          </a:solidFill>
          <a:ln w="9525">
            <a:solidFill>
              <a:srgbClr val="D9D2C3"/>
            </a:solidFill>
            <a:prstDash val="solid"/>
          </a:ln>
        </p:spPr>
      </p:sp>
      <p:sp>
        <p:nvSpPr>
          <p:cNvPr id="15" name="Text 13"/>
          <p:cNvSpPr txBox="1"/>
          <p:nvPr/>
        </p:nvSpPr>
        <p:spPr>
          <a:xfrm>
            <a:off x="621792" y="2359152"/>
            <a:ext cx="374904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Lexicon-based signatures</a:t>
            </a:r>
            <a:endParaRPr lang="en-US" sz="1100" dirty="0"/>
          </a:p>
        </p:txBody>
      </p:sp>
      <p:sp>
        <p:nvSpPr>
          <p:cNvPr id="16" name="Text 14"/>
          <p:cNvSpPr txBox="1"/>
          <p:nvPr/>
        </p:nvSpPr>
        <p:spPr>
          <a:xfrm>
            <a:off x="621792" y="2596896"/>
            <a:ext cx="3749040" cy="329184"/>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English + common Hinglish/typos; unseen slang can slip past the guard.</a:t>
            </a:r>
            <a:endParaRPr lang="en-US" sz="900" dirty="0"/>
          </a:p>
        </p:txBody>
      </p:sp>
      <p:sp>
        <p:nvSpPr>
          <p:cNvPr id="17" name="Text 15"/>
          <p:cNvSpPr txBox="1"/>
          <p:nvPr/>
        </p:nvSpPr>
        <p:spPr>
          <a:xfrm>
            <a:off x="621792" y="2926080"/>
            <a:ext cx="3749040" cy="256032"/>
          </a:xfrm>
          <a:prstGeom prst="rect">
            <a:avLst/>
          </a:prstGeom>
          <a:noFill/>
          <a:ln/>
        </p:spPr>
        <p:txBody>
          <a:bodyPr wrap="square" lIns="0" tIns="0" rIns="0" bIns="0" rtlCol="0" anchor="t"/>
          <a:lstStyle/>
          <a:p>
            <a:pPr indent="0" marL="0">
              <a:buNone/>
            </a:pPr>
            <a:r>
              <a:rPr lang="en-US" sz="900" b="1" dirty="0">
                <a:solidFill>
                  <a:srgbClr val="B93A0B"/>
                </a:solidFill>
                <a:latin typeface="Calibri" pitchFamily="34" charset="0"/>
                <a:ea typeface="Calibri" pitchFamily="34" charset="-122"/>
                <a:cs typeface="Calibri" pitchFamily="34" charset="-120"/>
              </a:rPr>
              <a:t>next → </a:t>
            </a:r>
            <a:pPr indent="0" marL="0">
              <a:buNone/>
            </a:pPr>
            <a:r>
              <a:rPr lang="en-US" sz="900" dirty="0">
                <a:solidFill>
                  <a:srgbClr val="B93A0B"/>
                </a:solidFill>
                <a:latin typeface="Calibri" pitchFamily="34" charset="0"/>
                <a:ea typeface="Calibri" pitchFamily="34" charset="-122"/>
                <a:cs typeface="Calibri" pitchFamily="34" charset="-120"/>
              </a:rPr>
              <a:t>learned symptom classifier</a:t>
            </a:r>
            <a:endParaRPr lang="en-US" sz="900" dirty="0"/>
          </a:p>
        </p:txBody>
      </p:sp>
      <p:sp>
        <p:nvSpPr>
          <p:cNvPr id="18" name="Shape 16"/>
          <p:cNvSpPr/>
          <p:nvPr/>
        </p:nvSpPr>
        <p:spPr>
          <a:xfrm>
            <a:off x="4663440" y="2286000"/>
            <a:ext cx="4023360" cy="960120"/>
          </a:xfrm>
          <a:prstGeom prst="roundRect">
            <a:avLst>
              <a:gd name="adj" fmla="val 7619"/>
            </a:avLst>
          </a:prstGeom>
          <a:solidFill>
            <a:srgbClr val="FFFFFF"/>
          </a:solidFill>
          <a:ln w="9525">
            <a:solidFill>
              <a:srgbClr val="D9D2C3"/>
            </a:solidFill>
            <a:prstDash val="solid"/>
          </a:ln>
        </p:spPr>
      </p:sp>
      <p:sp>
        <p:nvSpPr>
          <p:cNvPr id="19" name="Text 17"/>
          <p:cNvSpPr txBox="1"/>
          <p:nvPr/>
        </p:nvSpPr>
        <p:spPr>
          <a:xfrm>
            <a:off x="4828032" y="2359152"/>
            <a:ext cx="374904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Provider tier affects cold latency</a:t>
            </a:r>
            <a:endParaRPr lang="en-US" sz="1100" dirty="0"/>
          </a:p>
        </p:txBody>
      </p:sp>
      <p:sp>
        <p:nvSpPr>
          <p:cNvPr id="20" name="Text 18"/>
          <p:cNvSpPr txBox="1"/>
          <p:nvPr/>
        </p:nvSpPr>
        <p:spPr>
          <a:xfrm>
            <a:off x="4828032" y="2596896"/>
            <a:ext cx="3749040" cy="329184"/>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free-tier daily caps pushed a spot check to ~11 s P50.</a:t>
            </a:r>
            <a:endParaRPr lang="en-US" sz="900" dirty="0"/>
          </a:p>
        </p:txBody>
      </p:sp>
      <p:sp>
        <p:nvSpPr>
          <p:cNvPr id="21" name="Text 19"/>
          <p:cNvSpPr txBox="1"/>
          <p:nvPr/>
        </p:nvSpPr>
        <p:spPr>
          <a:xfrm>
            <a:off x="4828032" y="2926080"/>
            <a:ext cx="3749040" cy="256032"/>
          </a:xfrm>
          <a:prstGeom prst="rect">
            <a:avLst/>
          </a:prstGeom>
          <a:noFill/>
          <a:ln/>
        </p:spPr>
        <p:txBody>
          <a:bodyPr wrap="square" lIns="0" tIns="0" rIns="0" bIns="0" rtlCol="0" anchor="t"/>
          <a:lstStyle/>
          <a:p>
            <a:pPr indent="0" marL="0">
              <a:buNone/>
            </a:pPr>
            <a:r>
              <a:rPr lang="en-US" sz="900" b="1" dirty="0">
                <a:solidFill>
                  <a:srgbClr val="B93A0B"/>
                </a:solidFill>
                <a:latin typeface="Calibri" pitchFamily="34" charset="0"/>
                <a:ea typeface="Calibri" pitchFamily="34" charset="-122"/>
                <a:cs typeface="Calibri" pitchFamily="34" charset="-120"/>
              </a:rPr>
              <a:t>next → </a:t>
            </a:r>
            <a:pPr indent="0" marL="0">
              <a:buNone/>
            </a:pPr>
            <a:r>
              <a:rPr lang="en-US" sz="900" dirty="0">
                <a:solidFill>
                  <a:srgbClr val="B93A0B"/>
                </a:solidFill>
                <a:latin typeface="Calibri" pitchFamily="34" charset="0"/>
                <a:ea typeface="Calibri" pitchFamily="34" charset="-122"/>
                <a:cs typeface="Calibri" pitchFamily="34" charset="-120"/>
              </a:rPr>
              <a:t>paid tier; model-pool hedging (in place)</a:t>
            </a:r>
            <a:endParaRPr lang="en-US" sz="900" dirty="0"/>
          </a:p>
        </p:txBody>
      </p:sp>
      <p:sp>
        <p:nvSpPr>
          <p:cNvPr id="22" name="Shape 20"/>
          <p:cNvSpPr/>
          <p:nvPr/>
        </p:nvSpPr>
        <p:spPr>
          <a:xfrm>
            <a:off x="457200" y="3383280"/>
            <a:ext cx="4023360" cy="960120"/>
          </a:xfrm>
          <a:prstGeom prst="roundRect">
            <a:avLst>
              <a:gd name="adj" fmla="val 7619"/>
            </a:avLst>
          </a:prstGeom>
          <a:solidFill>
            <a:srgbClr val="FFFFFF"/>
          </a:solidFill>
          <a:ln w="9525">
            <a:solidFill>
              <a:srgbClr val="D9D2C3"/>
            </a:solidFill>
            <a:prstDash val="solid"/>
          </a:ln>
        </p:spPr>
      </p:sp>
      <p:sp>
        <p:nvSpPr>
          <p:cNvPr id="23" name="Text 21"/>
          <p:cNvSpPr txBox="1"/>
          <p:nvPr/>
        </p:nvSpPr>
        <p:spPr>
          <a:xfrm>
            <a:off x="621792" y="3456432"/>
            <a:ext cx="374904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Catalog fallback is advisory</a:t>
            </a:r>
            <a:endParaRPr lang="en-US" sz="1100" dirty="0"/>
          </a:p>
        </p:txBody>
      </p:sp>
      <p:sp>
        <p:nvSpPr>
          <p:cNvPr id="24" name="Text 22"/>
          <p:cNvSpPr txBox="1"/>
          <p:nvPr/>
        </p:nvSpPr>
        <p:spPr>
          <a:xfrm>
            <a:off x="621792" y="3694176"/>
            <a:ext cx="3749040" cy="329184"/>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a catalog entry says what a setting does, not that it fixes this fault.</a:t>
            </a:r>
            <a:endParaRPr lang="en-US" sz="900" dirty="0"/>
          </a:p>
        </p:txBody>
      </p:sp>
      <p:sp>
        <p:nvSpPr>
          <p:cNvPr id="25" name="Text 23"/>
          <p:cNvSpPr txBox="1"/>
          <p:nvPr/>
        </p:nvSpPr>
        <p:spPr>
          <a:xfrm>
            <a:off x="621792" y="4023360"/>
            <a:ext cx="3749040" cy="256032"/>
          </a:xfrm>
          <a:prstGeom prst="rect">
            <a:avLst/>
          </a:prstGeom>
          <a:noFill/>
          <a:ln/>
        </p:spPr>
        <p:txBody>
          <a:bodyPr wrap="square" lIns="0" tIns="0" rIns="0" bIns="0" rtlCol="0" anchor="t"/>
          <a:lstStyle/>
          <a:p>
            <a:pPr indent="0" marL="0">
              <a:buNone/>
            </a:pPr>
            <a:r>
              <a:rPr lang="en-US" sz="900" b="1" dirty="0">
                <a:solidFill>
                  <a:srgbClr val="B93A0B"/>
                </a:solidFill>
                <a:latin typeface="Calibri" pitchFamily="34" charset="0"/>
                <a:ea typeface="Calibri" pitchFamily="34" charset="-122"/>
                <a:cs typeface="Calibri" pitchFamily="34" charset="-120"/>
              </a:rPr>
              <a:t>next → </a:t>
            </a:r>
            <a:pPr indent="0" marL="0">
              <a:buNone/>
            </a:pPr>
            <a:r>
              <a:rPr lang="en-US" sz="900" dirty="0">
                <a:solidFill>
                  <a:srgbClr val="B93A0B"/>
                </a:solidFill>
                <a:latin typeface="Calibri" pitchFamily="34" charset="0"/>
                <a:ea typeface="Calibri" pitchFamily="34" charset="-122"/>
                <a:cs typeface="Calibri" pitchFamily="34" charset="-120"/>
              </a:rPr>
              <a:t>confidence capped at 0.70; opt-in only</a:t>
            </a:r>
            <a:endParaRPr lang="en-US" sz="900" dirty="0"/>
          </a:p>
        </p:txBody>
      </p:sp>
      <p:sp>
        <p:nvSpPr>
          <p:cNvPr id="26" name="Shape 24"/>
          <p:cNvSpPr/>
          <p:nvPr/>
        </p:nvSpPr>
        <p:spPr>
          <a:xfrm>
            <a:off x="4663440" y="3383280"/>
            <a:ext cx="4023360" cy="960120"/>
          </a:xfrm>
          <a:prstGeom prst="roundRect">
            <a:avLst>
              <a:gd name="adj" fmla="val 7619"/>
            </a:avLst>
          </a:prstGeom>
          <a:solidFill>
            <a:srgbClr val="FFFFFF"/>
          </a:solidFill>
          <a:ln w="9525">
            <a:solidFill>
              <a:srgbClr val="D9D2C3"/>
            </a:solidFill>
            <a:prstDash val="solid"/>
          </a:ln>
        </p:spPr>
      </p:sp>
      <p:sp>
        <p:nvSpPr>
          <p:cNvPr id="27" name="Text 25"/>
          <p:cNvSpPr txBox="1"/>
          <p:nvPr/>
        </p:nvSpPr>
        <p:spPr>
          <a:xfrm>
            <a:off x="4828032" y="3456432"/>
            <a:ext cx="3749040" cy="237744"/>
          </a:xfrm>
          <a:prstGeom prst="rect">
            <a:avLst/>
          </a:prstGeom>
          <a:noFill/>
          <a:ln/>
        </p:spPr>
        <p:txBody>
          <a:bodyPr wrap="square" lIns="0" tIns="0" rIns="0" bIns="0" rtlCol="0" anchor="t"/>
          <a:lstStyle/>
          <a:p>
            <a:pPr indent="0" marL="0">
              <a:buNone/>
            </a:pPr>
            <a:r>
              <a:rPr lang="en-US" sz="1100" b="1" dirty="0">
                <a:solidFill>
                  <a:srgbClr val="17140F"/>
                </a:solidFill>
                <a:latin typeface="Calibri" pitchFamily="34" charset="0"/>
                <a:ea typeface="Calibri" pitchFamily="34" charset="-122"/>
                <a:cs typeface="Calibri" pitchFamily="34" charset="-120"/>
              </a:rPr>
              <a:t>One UI hierarchy changes</a:t>
            </a:r>
            <a:endParaRPr lang="en-US" sz="1100" dirty="0"/>
          </a:p>
        </p:txBody>
      </p:sp>
      <p:sp>
        <p:nvSpPr>
          <p:cNvPr id="28" name="Text 26"/>
          <p:cNvSpPr txBox="1"/>
          <p:nvPr/>
        </p:nvSpPr>
        <p:spPr>
          <a:xfrm>
            <a:off x="4828032" y="3694176"/>
            <a:ext cx="3749040" cy="329184"/>
          </a:xfrm>
          <a:prstGeom prst="rect">
            <a:avLst/>
          </a:prstGeom>
          <a:noFill/>
          <a:ln/>
        </p:spPr>
        <p:txBody>
          <a:bodyPr wrap="square" lIns="0" tIns="0" rIns="0" bIns="0" rtlCol="0" anchor="t"/>
          <a:lstStyle/>
          <a:p>
            <a:pPr indent="0" marL="0">
              <a:buNone/>
            </a:pPr>
            <a:r>
              <a:rPr lang="en-US" sz="900" dirty="0">
                <a:solidFill>
                  <a:srgbClr val="4A453C"/>
                </a:solidFill>
                <a:latin typeface="Calibri" pitchFamily="34" charset="0"/>
                <a:ea typeface="Calibri" pitchFamily="34" charset="-122"/>
                <a:cs typeface="Calibri" pitchFamily="34" charset="-120"/>
              </a:rPr>
              <a:t>screen paths move between versions.</a:t>
            </a:r>
            <a:endParaRPr lang="en-US" sz="900" dirty="0"/>
          </a:p>
        </p:txBody>
      </p:sp>
      <p:sp>
        <p:nvSpPr>
          <p:cNvPr id="29" name="Text 27"/>
          <p:cNvSpPr txBox="1"/>
          <p:nvPr/>
        </p:nvSpPr>
        <p:spPr>
          <a:xfrm>
            <a:off x="4828032" y="4023360"/>
            <a:ext cx="3749040" cy="256032"/>
          </a:xfrm>
          <a:prstGeom prst="rect">
            <a:avLst/>
          </a:prstGeom>
          <a:noFill/>
          <a:ln/>
        </p:spPr>
        <p:txBody>
          <a:bodyPr wrap="square" lIns="0" tIns="0" rIns="0" bIns="0" rtlCol="0" anchor="t"/>
          <a:lstStyle/>
          <a:p>
            <a:pPr indent="0" marL="0">
              <a:buNone/>
            </a:pPr>
            <a:r>
              <a:rPr lang="en-US" sz="900" b="1" dirty="0">
                <a:solidFill>
                  <a:srgbClr val="B93A0B"/>
                </a:solidFill>
                <a:latin typeface="Calibri" pitchFamily="34" charset="0"/>
                <a:ea typeface="Calibri" pitchFamily="34" charset="-122"/>
                <a:cs typeface="Calibri" pitchFamily="34" charset="-120"/>
              </a:rPr>
              <a:t>next → </a:t>
            </a:r>
            <a:pPr indent="0" marL="0">
              <a:buNone/>
            </a:pPr>
            <a:r>
              <a:rPr lang="en-US" sz="900" dirty="0">
                <a:solidFill>
                  <a:srgbClr val="B93A0B"/>
                </a:solidFill>
                <a:latin typeface="Calibri" pitchFamily="34" charset="0"/>
                <a:ea typeface="Calibri" pitchFamily="34" charset="-122"/>
                <a:cs typeface="Calibri" pitchFamily="34" charset="-120"/>
              </a:rPr>
              <a:t>reverse index deeplink → plans for targeted recompiles</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7140F"/>
        </a:solidFill>
      </p:bgPr>
    </p:bg>
    <p:spTree>
      <p:nvGrpSpPr>
        <p:cNvPr id="1" name=""/>
        <p:cNvGrpSpPr/>
        <p:nvPr/>
      </p:nvGrpSpPr>
      <p:grpSpPr>
        <a:xfrm>
          <a:off x="0" y="0"/>
          <a:ext cx="0" cy="0"/>
          <a:chOff x="0" y="0"/>
          <a:chExt cx="0" cy="0"/>
        </a:xfrm>
      </p:grpSpPr>
      <p:sp>
        <p:nvSpPr>
          <p:cNvPr id="2" name="Shape 0"/>
          <p:cNvSpPr/>
          <p:nvPr/>
        </p:nvSpPr>
        <p:spPr>
          <a:xfrm>
            <a:off x="457200" y="429768"/>
            <a:ext cx="91440" cy="91440"/>
          </a:xfrm>
          <a:prstGeom prst="ellipse">
            <a:avLst/>
          </a:prstGeom>
          <a:solidFill>
            <a:srgbClr val="FF5A1F"/>
          </a:solidFill>
          <a:ln/>
        </p:spPr>
      </p:sp>
      <p:sp>
        <p:nvSpPr>
          <p:cNvPr id="3" name="Text 1"/>
          <p:cNvSpPr txBox="1"/>
          <p:nvPr/>
        </p:nvSpPr>
        <p:spPr>
          <a:xfrm>
            <a:off x="640080" y="347472"/>
            <a:ext cx="5486400" cy="256032"/>
          </a:xfrm>
          <a:prstGeom prst="rect">
            <a:avLst/>
          </a:prstGeom>
          <a:noFill/>
          <a:ln/>
        </p:spPr>
        <p:txBody>
          <a:bodyPr wrap="square" lIns="0" tIns="0" rIns="0" bIns="0" rtlCol="0" anchor="t"/>
          <a:lstStyle/>
          <a:p>
            <a:pPr indent="0" marL="0">
              <a:buNone/>
            </a:pPr>
            <a:r>
              <a:rPr lang="en-US" sz="900" spc="200" kern="0" dirty="0">
                <a:solidFill>
                  <a:srgbClr val="A8A091"/>
                </a:solidFill>
                <a:latin typeface="Courier New" pitchFamily="34" charset="0"/>
                <a:ea typeface="Courier New" pitchFamily="34" charset="-122"/>
                <a:cs typeface="Courier New" pitchFamily="34" charset="-120"/>
              </a:rPr>
              <a:t>THEME 02 · SMART GUIDED TROUBLESHOOTING ENGINE</a:t>
            </a:r>
            <a:endParaRPr lang="en-US" sz="900" dirty="0"/>
          </a:p>
        </p:txBody>
      </p:sp>
      <p:sp>
        <p:nvSpPr>
          <p:cNvPr id="4" name="Text 2"/>
          <p:cNvSpPr txBox="1"/>
          <p:nvPr/>
        </p:nvSpPr>
        <p:spPr>
          <a:xfrm>
            <a:off x="457200" y="1005840"/>
            <a:ext cx="8229600" cy="914400"/>
          </a:xfrm>
          <a:prstGeom prst="rect">
            <a:avLst/>
          </a:prstGeom>
          <a:noFill/>
          <a:ln/>
        </p:spPr>
        <p:txBody>
          <a:bodyPr wrap="square" lIns="0" tIns="0" rIns="0" bIns="0" rtlCol="0" anchor="t"/>
          <a:lstStyle/>
          <a:p>
            <a:pPr indent="0" marL="0">
              <a:buNone/>
            </a:pPr>
            <a:r>
              <a:rPr lang="en-US" sz="5400" i="1" dirty="0">
                <a:solidFill>
                  <a:srgbClr val="F4F1EA"/>
                </a:solidFill>
                <a:latin typeface="Cambria" pitchFamily="34" charset="0"/>
                <a:ea typeface="Cambria" pitchFamily="34" charset="-122"/>
                <a:cs typeface="Cambria" pitchFamily="34" charset="-120"/>
              </a:rPr>
              <a:t>Thank you</a:t>
            </a:r>
            <a:endParaRPr lang="en-US" sz="5400" dirty="0"/>
          </a:p>
        </p:txBody>
      </p:sp>
      <p:sp>
        <p:nvSpPr>
          <p:cNvPr id="5" name="Text 3"/>
          <p:cNvSpPr txBox="1"/>
          <p:nvPr/>
        </p:nvSpPr>
        <p:spPr>
          <a:xfrm>
            <a:off x="457200" y="1920240"/>
            <a:ext cx="8229600" cy="411480"/>
          </a:xfrm>
          <a:prstGeom prst="rect">
            <a:avLst/>
          </a:prstGeom>
          <a:noFill/>
          <a:ln/>
        </p:spPr>
        <p:txBody>
          <a:bodyPr wrap="square" lIns="0" tIns="0" rIns="0" bIns="0" rtlCol="0" anchor="t"/>
          <a:lstStyle/>
          <a:p>
            <a:pPr indent="0" marL="0">
              <a:buNone/>
            </a:pPr>
            <a:r>
              <a:rPr lang="en-US" sz="1600" dirty="0">
                <a:solidFill>
                  <a:srgbClr val="C9C1B2"/>
                </a:solidFill>
                <a:latin typeface="Calibri" pitchFamily="34" charset="0"/>
                <a:ea typeface="Calibri" pitchFamily="34" charset="-122"/>
                <a:cs typeface="Calibri" pitchFamily="34" charset="-120"/>
              </a:rPr>
              <a:t>Describe it in your own words. Get a verified fix, one tap away.</a:t>
            </a:r>
            <a:endParaRPr lang="en-US" sz="1600" dirty="0"/>
          </a:p>
        </p:txBody>
      </p:sp>
      <p:sp>
        <p:nvSpPr>
          <p:cNvPr id="6" name="Text 4"/>
          <p:cNvSpPr txBox="1"/>
          <p:nvPr/>
        </p:nvSpPr>
        <p:spPr>
          <a:xfrm>
            <a:off x="457200" y="2697480"/>
            <a:ext cx="1600200" cy="457200"/>
          </a:xfrm>
          <a:prstGeom prst="rect">
            <a:avLst/>
          </a:prstGeom>
          <a:noFill/>
          <a:ln/>
        </p:spPr>
        <p:txBody>
          <a:bodyPr wrap="square" lIns="0" tIns="0" rIns="0" bIns="0" rtlCol="0" anchor="t"/>
          <a:lstStyle/>
          <a:p>
            <a:pPr indent="0" marL="0">
              <a:buNone/>
            </a:pPr>
            <a:r>
              <a:rPr lang="en-US" sz="2100" b="1" dirty="0">
                <a:solidFill>
                  <a:srgbClr val="FF5A1F"/>
                </a:solidFill>
                <a:latin typeface="Courier New" pitchFamily="34" charset="0"/>
                <a:ea typeface="Courier New" pitchFamily="34" charset="-122"/>
                <a:cs typeface="Courier New" pitchFamily="34" charset="-120"/>
              </a:rPr>
              <a:t>100%</a:t>
            </a:r>
            <a:endParaRPr lang="en-US" sz="2100" dirty="0"/>
          </a:p>
        </p:txBody>
      </p:sp>
      <p:sp>
        <p:nvSpPr>
          <p:cNvPr id="7" name="Text 5"/>
          <p:cNvSpPr txBox="1"/>
          <p:nvPr/>
        </p:nvSpPr>
        <p:spPr>
          <a:xfrm>
            <a:off x="457200" y="3154680"/>
            <a:ext cx="1554480" cy="365760"/>
          </a:xfrm>
          <a:prstGeom prst="rect">
            <a:avLst/>
          </a:prstGeom>
          <a:noFill/>
          <a:ln/>
        </p:spPr>
        <p:txBody>
          <a:bodyPr wrap="square" lIns="0" tIns="0" rIns="0" bIns="0" rtlCol="0" anchor="t"/>
          <a:lstStyle/>
          <a:p>
            <a:pPr indent="0" marL="0">
              <a:buNone/>
            </a:pPr>
            <a:r>
              <a:rPr lang="en-US" sz="950" dirty="0">
                <a:solidFill>
                  <a:srgbClr val="A8A091"/>
                </a:solidFill>
                <a:latin typeface="Calibri" pitchFamily="34" charset="0"/>
                <a:ea typeface="Calibri" pitchFamily="34" charset="-122"/>
                <a:cs typeface="Calibri" pitchFamily="34" charset="-120"/>
              </a:rPr>
              <a:t>contract compliance</a:t>
            </a:r>
            <a:endParaRPr lang="en-US" sz="950" dirty="0"/>
          </a:p>
        </p:txBody>
      </p:sp>
      <p:sp>
        <p:nvSpPr>
          <p:cNvPr id="8" name="Text 6"/>
          <p:cNvSpPr txBox="1"/>
          <p:nvPr/>
        </p:nvSpPr>
        <p:spPr>
          <a:xfrm>
            <a:off x="2121408" y="2697480"/>
            <a:ext cx="1600200" cy="457200"/>
          </a:xfrm>
          <a:prstGeom prst="rect">
            <a:avLst/>
          </a:prstGeom>
          <a:noFill/>
          <a:ln/>
        </p:spPr>
        <p:txBody>
          <a:bodyPr wrap="square" lIns="0" tIns="0" rIns="0" bIns="0" rtlCol="0" anchor="t"/>
          <a:lstStyle/>
          <a:p>
            <a:pPr indent="0" marL="0">
              <a:buNone/>
            </a:pPr>
            <a:r>
              <a:rPr lang="en-US" sz="2100" b="1" dirty="0">
                <a:solidFill>
                  <a:srgbClr val="FF5A1F"/>
                </a:solidFill>
                <a:latin typeface="Courier New" pitchFamily="34" charset="0"/>
                <a:ea typeface="Courier New" pitchFamily="34" charset="-122"/>
                <a:cs typeface="Courier New" pitchFamily="34" charset="-120"/>
              </a:rPr>
              <a:t>10.4 ms</a:t>
            </a:r>
            <a:endParaRPr lang="en-US" sz="2100" dirty="0"/>
          </a:p>
        </p:txBody>
      </p:sp>
      <p:sp>
        <p:nvSpPr>
          <p:cNvPr id="9" name="Text 7"/>
          <p:cNvSpPr txBox="1"/>
          <p:nvPr/>
        </p:nvSpPr>
        <p:spPr>
          <a:xfrm>
            <a:off x="2121408" y="3154680"/>
            <a:ext cx="1554480" cy="365760"/>
          </a:xfrm>
          <a:prstGeom prst="rect">
            <a:avLst/>
          </a:prstGeom>
          <a:noFill/>
          <a:ln/>
        </p:spPr>
        <p:txBody>
          <a:bodyPr wrap="square" lIns="0" tIns="0" rIns="0" bIns="0" rtlCol="0" anchor="t"/>
          <a:lstStyle/>
          <a:p>
            <a:pPr indent="0" marL="0">
              <a:buNone/>
            </a:pPr>
            <a:r>
              <a:rPr lang="en-US" sz="950" dirty="0">
                <a:solidFill>
                  <a:srgbClr val="A8A091"/>
                </a:solidFill>
                <a:latin typeface="Calibri" pitchFamily="34" charset="0"/>
                <a:ea typeface="Calibri" pitchFamily="34" charset="-122"/>
                <a:cs typeface="Calibri" pitchFamily="34" charset="-120"/>
              </a:rPr>
              <a:t>P95 on unseen rewordings</a:t>
            </a:r>
            <a:endParaRPr lang="en-US" sz="950" dirty="0"/>
          </a:p>
        </p:txBody>
      </p:sp>
      <p:sp>
        <p:nvSpPr>
          <p:cNvPr id="10" name="Text 8"/>
          <p:cNvSpPr txBox="1"/>
          <p:nvPr/>
        </p:nvSpPr>
        <p:spPr>
          <a:xfrm>
            <a:off x="3785616" y="2697480"/>
            <a:ext cx="1600200" cy="457200"/>
          </a:xfrm>
          <a:prstGeom prst="rect">
            <a:avLst/>
          </a:prstGeom>
          <a:noFill/>
          <a:ln/>
        </p:spPr>
        <p:txBody>
          <a:bodyPr wrap="square" lIns="0" tIns="0" rIns="0" bIns="0" rtlCol="0" anchor="t"/>
          <a:lstStyle/>
          <a:p>
            <a:pPr indent="0" marL="0">
              <a:buNone/>
            </a:pPr>
            <a:r>
              <a:rPr lang="en-US" sz="2100" b="1" dirty="0">
                <a:solidFill>
                  <a:srgbClr val="FF5A1F"/>
                </a:solidFill>
                <a:latin typeface="Courier New" pitchFamily="34" charset="0"/>
                <a:ea typeface="Courier New" pitchFamily="34" charset="-122"/>
                <a:cs typeface="Courier New" pitchFamily="34" charset="-120"/>
              </a:rPr>
              <a:t>3.2 s</a:t>
            </a:r>
            <a:endParaRPr lang="en-US" sz="2100" dirty="0"/>
          </a:p>
        </p:txBody>
      </p:sp>
      <p:sp>
        <p:nvSpPr>
          <p:cNvPr id="11" name="Text 9"/>
          <p:cNvSpPr txBox="1"/>
          <p:nvPr/>
        </p:nvSpPr>
        <p:spPr>
          <a:xfrm>
            <a:off x="3785616" y="3154680"/>
            <a:ext cx="1554480" cy="365760"/>
          </a:xfrm>
          <a:prstGeom prst="rect">
            <a:avLst/>
          </a:prstGeom>
          <a:noFill/>
          <a:ln/>
        </p:spPr>
        <p:txBody>
          <a:bodyPr wrap="square" lIns="0" tIns="0" rIns="0" bIns="0" rtlCol="0" anchor="t"/>
          <a:lstStyle/>
          <a:p>
            <a:pPr indent="0" marL="0">
              <a:buNone/>
            </a:pPr>
            <a:r>
              <a:rPr lang="en-US" sz="950" dirty="0">
                <a:solidFill>
                  <a:srgbClr val="A8A091"/>
                </a:solidFill>
                <a:latin typeface="Calibri" pitchFamily="34" charset="0"/>
                <a:ea typeface="Calibri" pitchFamily="34" charset="-122"/>
                <a:cs typeface="Calibri" pitchFamily="34" charset="-120"/>
              </a:rPr>
              <a:t>P95 cold pipeline</a:t>
            </a:r>
            <a:endParaRPr lang="en-US" sz="950" dirty="0"/>
          </a:p>
        </p:txBody>
      </p:sp>
      <p:sp>
        <p:nvSpPr>
          <p:cNvPr id="12" name="Text 10"/>
          <p:cNvSpPr txBox="1"/>
          <p:nvPr/>
        </p:nvSpPr>
        <p:spPr>
          <a:xfrm>
            <a:off x="5449824" y="2697480"/>
            <a:ext cx="1600200" cy="457200"/>
          </a:xfrm>
          <a:prstGeom prst="rect">
            <a:avLst/>
          </a:prstGeom>
          <a:noFill/>
          <a:ln/>
        </p:spPr>
        <p:txBody>
          <a:bodyPr wrap="square" lIns="0" tIns="0" rIns="0" bIns="0" rtlCol="0" anchor="t"/>
          <a:lstStyle/>
          <a:p>
            <a:pPr indent="0" marL="0">
              <a:buNone/>
            </a:pPr>
            <a:r>
              <a:rPr lang="en-US" sz="2100" b="1" dirty="0">
                <a:solidFill>
                  <a:srgbClr val="FF5A1F"/>
                </a:solidFill>
                <a:latin typeface="Courier New" pitchFamily="34" charset="0"/>
                <a:ea typeface="Courier New" pitchFamily="34" charset="-122"/>
                <a:cs typeface="Courier New" pitchFamily="34" charset="-120"/>
              </a:rPr>
              <a:t>95.8%</a:t>
            </a:r>
            <a:endParaRPr lang="en-US" sz="2100" dirty="0"/>
          </a:p>
        </p:txBody>
      </p:sp>
      <p:sp>
        <p:nvSpPr>
          <p:cNvPr id="13" name="Text 11"/>
          <p:cNvSpPr txBox="1"/>
          <p:nvPr/>
        </p:nvSpPr>
        <p:spPr>
          <a:xfrm>
            <a:off x="5449824" y="3154680"/>
            <a:ext cx="1554480" cy="365760"/>
          </a:xfrm>
          <a:prstGeom prst="rect">
            <a:avLst/>
          </a:prstGeom>
          <a:noFill/>
          <a:ln/>
        </p:spPr>
        <p:txBody>
          <a:bodyPr wrap="square" lIns="0" tIns="0" rIns="0" bIns="0" rtlCol="0" anchor="t"/>
          <a:lstStyle/>
          <a:p>
            <a:pPr indent="0" marL="0">
              <a:buNone/>
            </a:pPr>
            <a:r>
              <a:rPr lang="en-US" sz="950" dirty="0">
                <a:solidFill>
                  <a:srgbClr val="A8A091"/>
                </a:solidFill>
                <a:latin typeface="Calibri" pitchFamily="34" charset="0"/>
                <a:ea typeface="Calibri" pitchFamily="34" charset="-122"/>
                <a:cs typeface="Calibri" pitchFamily="34" charset="-120"/>
              </a:rPr>
              <a:t>exact deeplinks</a:t>
            </a:r>
            <a:endParaRPr lang="en-US" sz="950" dirty="0"/>
          </a:p>
        </p:txBody>
      </p:sp>
      <p:sp>
        <p:nvSpPr>
          <p:cNvPr id="14" name="Text 12"/>
          <p:cNvSpPr txBox="1"/>
          <p:nvPr/>
        </p:nvSpPr>
        <p:spPr>
          <a:xfrm>
            <a:off x="7114032" y="2697480"/>
            <a:ext cx="1600200" cy="457200"/>
          </a:xfrm>
          <a:prstGeom prst="rect">
            <a:avLst/>
          </a:prstGeom>
          <a:noFill/>
          <a:ln/>
        </p:spPr>
        <p:txBody>
          <a:bodyPr wrap="square" lIns="0" tIns="0" rIns="0" bIns="0" rtlCol="0" anchor="t"/>
          <a:lstStyle/>
          <a:p>
            <a:pPr indent="0" marL="0">
              <a:buNone/>
            </a:pPr>
            <a:r>
              <a:rPr lang="en-US" sz="2100" b="1" dirty="0">
                <a:solidFill>
                  <a:srgbClr val="FF5A1F"/>
                </a:solidFill>
                <a:latin typeface="Courier New" pitchFamily="34" charset="0"/>
                <a:ea typeface="Courier New" pitchFamily="34" charset="-122"/>
                <a:cs typeface="Courier New" pitchFamily="34" charset="-120"/>
              </a:rPr>
              <a:t>44→10%</a:t>
            </a:r>
            <a:endParaRPr lang="en-US" sz="2100" dirty="0"/>
          </a:p>
        </p:txBody>
      </p:sp>
      <p:sp>
        <p:nvSpPr>
          <p:cNvPr id="15" name="Text 13"/>
          <p:cNvSpPr txBox="1"/>
          <p:nvPr/>
        </p:nvSpPr>
        <p:spPr>
          <a:xfrm>
            <a:off x="7114032" y="3154680"/>
            <a:ext cx="1554480" cy="365760"/>
          </a:xfrm>
          <a:prstGeom prst="rect">
            <a:avLst/>
          </a:prstGeom>
          <a:noFill/>
          <a:ln/>
        </p:spPr>
        <p:txBody>
          <a:bodyPr wrap="square" lIns="0" tIns="0" rIns="0" bIns="0" rtlCol="0" anchor="t"/>
          <a:lstStyle/>
          <a:p>
            <a:pPr indent="0" marL="0">
              <a:buNone/>
            </a:pPr>
            <a:r>
              <a:rPr lang="en-US" sz="950" dirty="0">
                <a:solidFill>
                  <a:srgbClr val="A8A091"/>
                </a:solidFill>
                <a:latin typeface="Calibri" pitchFamily="34" charset="0"/>
                <a:ea typeface="Calibri" pitchFamily="34" charset="-122"/>
                <a:cs typeface="Calibri" pitchFamily="34" charset="-120"/>
              </a:rPr>
              <a:t>wrong cache answers</a:t>
            </a:r>
            <a:endParaRPr lang="en-US" sz="950" dirty="0"/>
          </a:p>
        </p:txBody>
      </p:sp>
      <p:sp>
        <p:nvSpPr>
          <p:cNvPr id="16" name="Text 14"/>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050" dirty="0">
                <a:solidFill>
                  <a:srgbClr val="FF5A1F"/>
                </a:solidFill>
                <a:latin typeface="Courier New" pitchFamily="34" charset="0"/>
                <a:ea typeface="Courier New" pitchFamily="34" charset="-122"/>
                <a:cs typeface="Courier New" pitchFamily="34" charset="-120"/>
              </a:rPr>
              <a:t>github.com/shouryez/onetap  (tag PRISM_GENAI_HACKATHON_Y2026)   ·   demo: youtu.be/oJ5d5VblRTA</a:t>
            </a:r>
            <a:endParaRPr lang="en-US" sz="1050" dirty="0"/>
          </a:p>
        </p:txBody>
      </p:sp>
      <p:sp>
        <p:nvSpPr>
          <p:cNvPr id="17" name="Text 15"/>
          <p:cNvSpPr txBox="1"/>
          <p:nvPr/>
        </p:nvSpPr>
        <p:spPr>
          <a:xfrm>
            <a:off x="457200" y="4315968"/>
            <a:ext cx="8229600" cy="256032"/>
          </a:xfrm>
          <a:prstGeom prst="rect">
            <a:avLst/>
          </a:prstGeom>
          <a:noFill/>
          <a:ln/>
        </p:spPr>
        <p:txBody>
          <a:bodyPr wrap="square" lIns="0" tIns="0" rIns="0" bIns="0" rtlCol="0" anchor="t"/>
          <a:lstStyle/>
          <a:p>
            <a:pPr indent="0" marL="0">
              <a:buNone/>
            </a:pPr>
            <a:r>
              <a:rPr lang="en-US" sz="1100" b="1" dirty="0">
                <a:solidFill>
                  <a:srgbClr val="F4F1EA"/>
                </a:solidFill>
                <a:latin typeface="Calibri" pitchFamily="34" charset="0"/>
                <a:ea typeface="Calibri" pitchFamily="34" charset="-122"/>
                <a:cs typeface="Calibri" pitchFamily="34" charset="-120"/>
              </a:rPr>
              <a:t>Shourya Chouhan  ·  Shreya Singh Chouhan  ·  Yash Mittal  ·  Vrunda Hatwar</a:t>
            </a:r>
            <a:endParaRPr lang="en-US" sz="1100" dirty="0"/>
          </a:p>
        </p:txBody>
      </p:sp>
      <p:sp>
        <p:nvSpPr>
          <p:cNvPr id="18" name="Text 16"/>
          <p:cNvSpPr txBox="1"/>
          <p:nvPr/>
        </p:nvSpPr>
        <p:spPr>
          <a:xfrm>
            <a:off x="457200" y="4590288"/>
            <a:ext cx="8229600" cy="256032"/>
          </a:xfrm>
          <a:prstGeom prst="rect">
            <a:avLst/>
          </a:prstGeom>
          <a:noFill/>
          <a:ln/>
        </p:spPr>
        <p:txBody>
          <a:bodyPr wrap="square" lIns="0" tIns="0" rIns="0" bIns="0" rtlCol="0" anchor="t"/>
          <a:lstStyle/>
          <a:p>
            <a:pPr indent="0" marL="0">
              <a:buNone/>
            </a:pPr>
            <a:r>
              <a:rPr lang="en-US" sz="900" dirty="0">
                <a:solidFill>
                  <a:srgbClr val="A8A091"/>
                </a:solidFill>
                <a:latin typeface="Courier New" pitchFamily="34" charset="0"/>
                <a:ea typeface="Courier New" pitchFamily="34" charset="-122"/>
                <a:cs typeface="Courier New" pitchFamily="34" charset="-120"/>
              </a:rPr>
              <a:t>Team Aloo Paratha  ·  M S Ramaiah Institute of Technology (MSRIT), Bengaluru</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OneTap - Smart Guided Troubleshooting Engine</dc:title>
  <dc:subject>PptxGenJS Presentation</dc:subject>
  <dc:creator>Team Aloo Paratha (MSRIT)</dc:creator>
  <cp:lastModifiedBy>Team Aloo Paratha (MSRIT)</cp:lastModifiedBy>
  <cp:revision>1</cp:revision>
  <dcterms:created xsi:type="dcterms:W3CDTF">2026-09-30T19:05:41Z</dcterms:created>
  <dcterms:modified xsi:type="dcterms:W3CDTF">2026-09-30T19:05:41Z</dcterms:modified>
</cp:coreProperties>
</file>